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Reachable accounts</c:v>
                </c:pt>
              </c:strCache>
            </c:strRef>
          </c:tx>
          <c:spPr>
            <a:solidFill>
              <a:schemeClr val="accent1"/>
            </a:solidFill>
            <a:ln w="9525" cap="flat">
              <a:solidFill>
                <a:srgbClr val="F9F9F9"/>
              </a:solidFill>
              <a:prstDash val="solid"/>
              <a:round/>
            </a:ln>
            <a:effectLst/>
          </c:spPr>
          <c:dPt>
            <c:idx val="0"/>
            <c:bubble3D val="0"/>
            <c:spPr>
              <a:solidFill>
                <a:srgbClr val="1E4DAA"/>
              </a:solidFill>
              <a:ln w="25400" cap="flat">
                <a:solidFill>
                  <a:srgbClr val="FFFFFF"/>
                </a:solidFill>
                <a:prstDash val="solid"/>
                <a:round/>
              </a:ln>
              <a:effectLst/>
            </c:spPr>
          </c:dPt>
          <c:dPt>
            <c:idx val="1"/>
            <c:bubble3D val="0"/>
            <c:spPr>
              <a:solidFill>
                <a:srgbClr val="0A1F47"/>
              </a:solidFill>
              <a:ln w="25400" cap="flat">
                <a:solidFill>
                  <a:srgbClr val="FFFFFF"/>
                </a:solidFill>
                <a:prstDash val="solid"/>
                <a:round/>
              </a:ln>
              <a:effectLst/>
            </c:spPr>
          </c:dPt>
          <c:dPt>
            <c:idx val="2"/>
            <c:bubble3D val="0"/>
            <c:spPr>
              <a:solidFill>
                <a:srgbClr val="6D4FB6"/>
              </a:solidFill>
              <a:ln w="25400" cap="flat">
                <a:solidFill>
                  <a:srgbClr val="FFFFFF"/>
                </a:solidFill>
                <a:prstDash val="solid"/>
                <a:round/>
              </a:ln>
              <a:effectLst/>
            </c:spPr>
          </c:dPt>
          <c:dPt>
            <c:idx val="3"/>
            <c:bubble3D val="0"/>
            <c:spPr>
              <a:solidFill>
                <a:srgbClr val="F37021"/>
              </a:solidFill>
              <a:ln w="25400" cap="flat">
                <a:solidFill>
                  <a:srgbClr val="FFFFFF"/>
                </a:solidFill>
                <a:prstDash val="solid"/>
                <a:round/>
              </a:ln>
              <a:effectLst/>
            </c:spPr>
          </c:dPt>
          <c:dPt>
            <c:idx val="4"/>
            <c:bubble3D val="0"/>
            <c:spPr>
              <a:solidFill>
                <a:srgbClr val="10B981"/>
              </a:solidFill>
              <a:ln w="25400" cap="flat">
                <a:solidFill>
                  <a:srgbClr val="FFFFFF"/>
                </a:solidFill>
                <a:prstDash val="solid"/>
                <a:round/>
              </a:ln>
              <a:effectLst/>
            </c:spPr>
          </c:dPt>
          <c:dPt>
            <c:idx val="5"/>
            <c:bubble3D val="0"/>
            <c:spPr>
              <a:solidFill>
                <a:srgbClr val="0A3327"/>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Mid-size
factories</c:v>
                </c:pt>
                <c:pt idx="1">
                  <c:v>Government</c:v>
                </c:pt>
                <c:pt idx="2">
                  <c:v>Non-garment</c:v>
                </c:pt>
                <c:pt idx="3">
                  <c:v>E-commerce</c:v>
                </c:pt>
                <c:pt idx="4">
                  <c:v>Small factories</c:v>
                </c:pt>
                <c:pt idx="5">
                  <c:v>Big-tech
partners</c:v>
                </c:pt>
              </c:strCache>
            </c:strRef>
          </c:cat>
          <c:val>
            <c:numRef>
              <c:f>Sheet1!$B$2:$B$7</c:f>
              <c:numCache>
                <c:ptCount val="6"/>
                <c:pt idx="0">
                  <c:v>800</c:v>
                </c:pt>
                <c:pt idx="1">
                  <c:v>120</c:v>
                </c:pt>
                <c:pt idx="2">
                  <c:v>1000</c:v>
                </c:pt>
                <c:pt idx="3">
                  <c:v>600</c:v>
                </c:pt>
                <c:pt idx="4">
                  <c:v>200</c:v>
                </c:pt>
                <c:pt idx="5">
                  <c:v>80</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slideLayout" Target="../slideLayouts/slideLayout1.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4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 y="777240"/>
            <a:ext cx="1737360" cy="1737360"/>
          </a:xfrm>
          <a:prstGeom prst="ellipse">
            <a:avLst/>
          </a:prstGeom>
        </p:spPr>
      </p:pic>
      <p:sp>
        <p:nvSpPr>
          <p:cNvPr id="3" name="Text 0"/>
          <p:cNvSpPr/>
          <p:nvPr/>
        </p:nvSpPr>
        <p:spPr>
          <a:xfrm>
            <a:off x="3108960" y="731520"/>
            <a:ext cx="5577840" cy="182880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Ai-Native Manufacturing</a:t>
            </a:r>
            <a:endParaRPr lang="en-US" sz="3800" dirty="0"/>
          </a:p>
          <a:p>
            <a:pPr indent="0" marL="0">
              <a:buNone/>
            </a:pPr>
            <a:r>
              <a:rPr lang="en-US" sz="3800" b="1" dirty="0">
                <a:solidFill>
                  <a:srgbClr val="FFFFFF"/>
                </a:solidFill>
                <a:latin typeface="Arial" pitchFamily="34" charset="0"/>
                <a:ea typeface="Arial" pitchFamily="34" charset="-122"/>
                <a:cs typeface="Arial" pitchFamily="34" charset="-120"/>
              </a:rPr>
              <a:t>Intelligence Platform.</a:t>
            </a:r>
            <a:endParaRPr lang="en-US" sz="3800" dirty="0"/>
          </a:p>
        </p:txBody>
      </p:sp>
      <p:pic>
        <p:nvPicPr>
          <p:cNvPr id="4" name="Image 1" descr="preencoded.png">    </p:cNvPr>
          <p:cNvPicPr>
            <a:picLocks noChangeAspect="1"/>
          </p:cNvPicPr>
          <p:nvPr/>
        </p:nvPicPr>
        <p:blipFill>
          <a:blip r:embed="rId2"/>
          <a:stretch>
            <a:fillRect/>
          </a:stretch>
        </p:blipFill>
        <p:spPr>
          <a:xfrm>
            <a:off x="9006840" y="1239012"/>
            <a:ext cx="617220" cy="411480"/>
          </a:xfrm>
          <a:prstGeom prst="rect">
            <a:avLst/>
          </a:prstGeom>
        </p:spPr>
      </p:pic>
      <p:pic>
        <p:nvPicPr>
          <p:cNvPr id="5" name="Image 2" descr="preencoded.png">    </p:cNvPr>
          <p:cNvPicPr>
            <a:picLocks noChangeAspect="1"/>
          </p:cNvPicPr>
          <p:nvPr/>
        </p:nvPicPr>
        <p:blipFill>
          <a:blip r:embed="rId3"/>
          <a:stretch>
            <a:fillRect/>
          </a:stretch>
        </p:blipFill>
        <p:spPr>
          <a:xfrm>
            <a:off x="9733788" y="1239012"/>
            <a:ext cx="617220" cy="411480"/>
          </a:xfrm>
          <a:prstGeom prst="rect">
            <a:avLst/>
          </a:prstGeom>
        </p:spPr>
      </p:pic>
      <p:pic>
        <p:nvPicPr>
          <p:cNvPr id="6" name="Image 3" descr="preencoded.png">    </p:cNvPr>
          <p:cNvPicPr>
            <a:picLocks noChangeAspect="1"/>
          </p:cNvPicPr>
          <p:nvPr/>
        </p:nvPicPr>
        <p:blipFill>
          <a:blip r:embed="rId4"/>
          <a:stretch>
            <a:fillRect/>
          </a:stretch>
        </p:blipFill>
        <p:spPr>
          <a:xfrm>
            <a:off x="10460736" y="1239012"/>
            <a:ext cx="617220" cy="411480"/>
          </a:xfrm>
          <a:prstGeom prst="rect">
            <a:avLst/>
          </a:prstGeom>
        </p:spPr>
      </p:pic>
      <p:pic>
        <p:nvPicPr>
          <p:cNvPr id="7" name="Image 4" descr="preencoded.png">    </p:cNvPr>
          <p:cNvPicPr>
            <a:picLocks noChangeAspect="1"/>
          </p:cNvPicPr>
          <p:nvPr/>
        </p:nvPicPr>
        <p:blipFill>
          <a:blip r:embed="rId5"/>
          <a:stretch>
            <a:fillRect/>
          </a:stretch>
        </p:blipFill>
        <p:spPr>
          <a:xfrm>
            <a:off x="11279124" y="1179576"/>
            <a:ext cx="530352" cy="530352"/>
          </a:xfrm>
          <a:prstGeom prst="rect">
            <a:avLst/>
          </a:prstGeom>
        </p:spPr>
      </p:pic>
      <p:sp>
        <p:nvSpPr>
          <p:cNvPr id="8" name="Text 1"/>
          <p:cNvSpPr/>
          <p:nvPr/>
        </p:nvSpPr>
        <p:spPr>
          <a:xfrm>
            <a:off x="9006840" y="1819656"/>
            <a:ext cx="2071116" cy="292608"/>
          </a:xfrm>
          <a:prstGeom prst="rect">
            <a:avLst/>
          </a:prstGeom>
          <a:noFill/>
          <a:ln/>
        </p:spPr>
        <p:txBody>
          <a:bodyPr wrap="none" lIns="0" tIns="0" rIns="0" bIns="0" rtlCol="0" anchor="ctr"/>
          <a:lstStyle/>
          <a:p>
            <a:pPr algn="ctr" indent="0" marL="0">
              <a:buNone/>
            </a:pPr>
            <a:r>
              <a:rPr lang="en-US" sz="1050" b="1" spc="200" kern="0" dirty="0">
                <a:solidFill>
                  <a:srgbClr val="FFD58A"/>
                </a:solidFill>
                <a:latin typeface="Arial" pitchFamily="34" charset="0"/>
                <a:ea typeface="Arial" pitchFamily="34" charset="-122"/>
                <a:cs typeface="Arial" pitchFamily="34" charset="-120"/>
              </a:rPr>
              <a:t>MADE IN CAMBODIA</a:t>
            </a:r>
            <a:endParaRPr lang="en-US" sz="1050" dirty="0"/>
          </a:p>
        </p:txBody>
      </p:sp>
      <p:sp>
        <p:nvSpPr>
          <p:cNvPr id="9" name="Text 2"/>
          <p:cNvSpPr/>
          <p:nvPr/>
        </p:nvSpPr>
        <p:spPr>
          <a:xfrm>
            <a:off x="11141964" y="1819656"/>
            <a:ext cx="804672" cy="292608"/>
          </a:xfrm>
          <a:prstGeom prst="rect">
            <a:avLst/>
          </a:prstGeom>
          <a:noFill/>
          <a:ln/>
        </p:spPr>
        <p:txBody>
          <a:bodyPr wrap="none" lIns="0" tIns="0" rIns="0" bIns="0" rtlCol="0" anchor="ctr"/>
          <a:lstStyle/>
          <a:p>
            <a:pPr algn="ctr" indent="0" marL="0">
              <a:buNone/>
            </a:pPr>
            <a:r>
              <a:rPr lang="en-US" sz="1050" b="1" spc="200" kern="0" dirty="0">
                <a:solidFill>
                  <a:srgbClr val="FFD58A"/>
                </a:solidFill>
                <a:latin typeface="Arial" pitchFamily="34" charset="0"/>
                <a:ea typeface="Arial" pitchFamily="34" charset="-122"/>
                <a:cs typeface="Arial" pitchFamily="34" charset="-120"/>
              </a:rPr>
              <a:t>ASEAN</a:t>
            </a:r>
            <a:endParaRPr lang="en-US" sz="1050" dirty="0"/>
          </a:p>
        </p:txBody>
      </p:sp>
      <p:sp>
        <p:nvSpPr>
          <p:cNvPr id="10" name="Text 3"/>
          <p:cNvSpPr/>
          <p:nvPr/>
        </p:nvSpPr>
        <p:spPr>
          <a:xfrm>
            <a:off x="822960" y="2697480"/>
            <a:ext cx="10515600" cy="365760"/>
          </a:xfrm>
          <a:prstGeom prst="rect">
            <a:avLst/>
          </a:prstGeom>
          <a:noFill/>
          <a:ln/>
        </p:spPr>
        <p:txBody>
          <a:bodyPr wrap="square" lIns="0" tIns="0" rIns="0" bIns="0" rtlCol="0" anchor="ctr"/>
          <a:lstStyle/>
          <a:p>
            <a:pPr algn="ctr" indent="0" marL="0">
              <a:buNone/>
            </a:pPr>
            <a:r>
              <a:rPr lang="en-US" sz="1700" b="1" spc="300" kern="0" dirty="0">
                <a:solidFill>
                  <a:srgbClr val="FFD58A"/>
                </a:solidFill>
                <a:latin typeface="Arial" pitchFamily="34" charset="0"/>
                <a:ea typeface="Arial" pitchFamily="34" charset="-122"/>
                <a:cs typeface="Arial" pitchFamily="34" charset="-120"/>
              </a:rPr>
              <a:t>SERVING CAMBODIA'S MANUFACTURING AND GLOBAL</a:t>
            </a:r>
            <a:endParaRPr lang="en-US" sz="1700" dirty="0"/>
          </a:p>
        </p:txBody>
      </p:sp>
      <p:pic>
        <p:nvPicPr>
          <p:cNvPr id="11" name="Image 5" descr="preencoded.png">    </p:cNvPr>
          <p:cNvPicPr>
            <a:picLocks noChangeAspect="1"/>
          </p:cNvPicPr>
          <p:nvPr/>
        </p:nvPicPr>
        <p:blipFill>
          <a:blip r:embed="rId6"/>
          <a:stretch>
            <a:fillRect/>
          </a:stretch>
        </p:blipFill>
        <p:spPr>
          <a:xfrm>
            <a:off x="745236" y="3154680"/>
            <a:ext cx="1097280" cy="1097280"/>
          </a:xfrm>
          <a:prstGeom prst="rect">
            <a:avLst/>
          </a:prstGeom>
        </p:spPr>
      </p:pic>
      <p:sp>
        <p:nvSpPr>
          <p:cNvPr id="12" name="Text 4"/>
          <p:cNvSpPr/>
          <p:nvPr/>
        </p:nvSpPr>
        <p:spPr>
          <a:xfrm>
            <a:off x="493776" y="434340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Garments</a:t>
            </a:r>
            <a:endParaRPr lang="en-US" sz="1800" dirty="0"/>
          </a:p>
        </p:txBody>
      </p:sp>
      <p:pic>
        <p:nvPicPr>
          <p:cNvPr id="13" name="Image 6" descr="preencoded.png">    </p:cNvPr>
          <p:cNvPicPr>
            <a:picLocks noChangeAspect="1"/>
          </p:cNvPicPr>
          <p:nvPr/>
        </p:nvPicPr>
        <p:blipFill>
          <a:blip r:embed="rId7"/>
          <a:stretch>
            <a:fillRect/>
          </a:stretch>
        </p:blipFill>
        <p:spPr>
          <a:xfrm>
            <a:off x="2345436" y="3154680"/>
            <a:ext cx="1097280" cy="1097280"/>
          </a:xfrm>
          <a:prstGeom prst="rect">
            <a:avLst/>
          </a:prstGeom>
        </p:spPr>
      </p:pic>
      <p:sp>
        <p:nvSpPr>
          <p:cNvPr id="14" name="Text 5"/>
          <p:cNvSpPr/>
          <p:nvPr/>
        </p:nvSpPr>
        <p:spPr>
          <a:xfrm>
            <a:off x="2093976" y="434340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Bags</a:t>
            </a:r>
            <a:endParaRPr lang="en-US" sz="1800" dirty="0"/>
          </a:p>
        </p:txBody>
      </p:sp>
      <p:pic>
        <p:nvPicPr>
          <p:cNvPr id="15" name="Image 7" descr="preencoded.png">    </p:cNvPr>
          <p:cNvPicPr>
            <a:picLocks noChangeAspect="1"/>
          </p:cNvPicPr>
          <p:nvPr/>
        </p:nvPicPr>
        <p:blipFill>
          <a:blip r:embed="rId8"/>
          <a:stretch>
            <a:fillRect/>
          </a:stretch>
        </p:blipFill>
        <p:spPr>
          <a:xfrm>
            <a:off x="3945636" y="3154680"/>
            <a:ext cx="1097280" cy="1097280"/>
          </a:xfrm>
          <a:prstGeom prst="rect">
            <a:avLst/>
          </a:prstGeom>
        </p:spPr>
      </p:pic>
      <p:sp>
        <p:nvSpPr>
          <p:cNvPr id="16" name="Text 6"/>
          <p:cNvSpPr/>
          <p:nvPr/>
        </p:nvSpPr>
        <p:spPr>
          <a:xfrm>
            <a:off x="3694176" y="434340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Footwear</a:t>
            </a:r>
            <a:endParaRPr lang="en-US" sz="1800" dirty="0"/>
          </a:p>
        </p:txBody>
      </p:sp>
      <p:pic>
        <p:nvPicPr>
          <p:cNvPr id="17" name="Image 8" descr="preencoded.png">    </p:cNvPr>
          <p:cNvPicPr>
            <a:picLocks noChangeAspect="1"/>
          </p:cNvPicPr>
          <p:nvPr/>
        </p:nvPicPr>
        <p:blipFill>
          <a:blip r:embed="rId9"/>
          <a:stretch>
            <a:fillRect/>
          </a:stretch>
        </p:blipFill>
        <p:spPr>
          <a:xfrm>
            <a:off x="5545836" y="3154680"/>
            <a:ext cx="1097280" cy="1097280"/>
          </a:xfrm>
          <a:prstGeom prst="rect">
            <a:avLst/>
          </a:prstGeom>
        </p:spPr>
      </p:pic>
      <p:sp>
        <p:nvSpPr>
          <p:cNvPr id="18" name="Text 7"/>
          <p:cNvSpPr/>
          <p:nvPr/>
        </p:nvSpPr>
        <p:spPr>
          <a:xfrm>
            <a:off x="5294376" y="434340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Toys</a:t>
            </a:r>
            <a:endParaRPr lang="en-US" sz="1800" dirty="0"/>
          </a:p>
        </p:txBody>
      </p:sp>
      <p:pic>
        <p:nvPicPr>
          <p:cNvPr id="19" name="Image 9" descr="preencoded.png">    </p:cNvPr>
          <p:cNvPicPr>
            <a:picLocks noChangeAspect="1"/>
          </p:cNvPicPr>
          <p:nvPr/>
        </p:nvPicPr>
        <p:blipFill>
          <a:blip r:embed="rId10"/>
          <a:stretch>
            <a:fillRect/>
          </a:stretch>
        </p:blipFill>
        <p:spPr>
          <a:xfrm>
            <a:off x="7146036" y="3154680"/>
            <a:ext cx="1097280" cy="1097280"/>
          </a:xfrm>
          <a:prstGeom prst="rect">
            <a:avLst/>
          </a:prstGeom>
        </p:spPr>
      </p:pic>
      <p:sp>
        <p:nvSpPr>
          <p:cNvPr id="20" name="Text 8"/>
          <p:cNvSpPr/>
          <p:nvPr/>
        </p:nvSpPr>
        <p:spPr>
          <a:xfrm>
            <a:off x="6894576" y="434340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Furniture</a:t>
            </a:r>
            <a:endParaRPr lang="en-US" sz="1800" dirty="0"/>
          </a:p>
        </p:txBody>
      </p:sp>
      <p:pic>
        <p:nvPicPr>
          <p:cNvPr id="21" name="Image 10" descr="preencoded.png">    </p:cNvPr>
          <p:cNvPicPr>
            <a:picLocks noChangeAspect="1"/>
          </p:cNvPicPr>
          <p:nvPr/>
        </p:nvPicPr>
        <p:blipFill>
          <a:blip r:embed="rId11"/>
          <a:stretch>
            <a:fillRect/>
          </a:stretch>
        </p:blipFill>
        <p:spPr>
          <a:xfrm>
            <a:off x="8746236" y="3154680"/>
            <a:ext cx="1097280" cy="1097280"/>
          </a:xfrm>
          <a:prstGeom prst="rect">
            <a:avLst/>
          </a:prstGeom>
        </p:spPr>
      </p:pic>
      <p:sp>
        <p:nvSpPr>
          <p:cNvPr id="22" name="Text 9"/>
          <p:cNvSpPr/>
          <p:nvPr/>
        </p:nvSpPr>
        <p:spPr>
          <a:xfrm>
            <a:off x="8494776" y="434340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Car seats</a:t>
            </a:r>
            <a:endParaRPr lang="en-US" sz="1800" dirty="0"/>
          </a:p>
        </p:txBody>
      </p:sp>
      <p:pic>
        <p:nvPicPr>
          <p:cNvPr id="23" name="Image 11" descr="preencoded.png">    </p:cNvPr>
          <p:cNvPicPr>
            <a:picLocks noChangeAspect="1"/>
          </p:cNvPicPr>
          <p:nvPr/>
        </p:nvPicPr>
        <p:blipFill>
          <a:blip r:embed="rId12"/>
          <a:stretch>
            <a:fillRect/>
          </a:stretch>
        </p:blipFill>
        <p:spPr>
          <a:xfrm>
            <a:off x="10346436" y="3154680"/>
            <a:ext cx="1097280" cy="1097280"/>
          </a:xfrm>
          <a:prstGeom prst="rect">
            <a:avLst/>
          </a:prstGeom>
        </p:spPr>
      </p:pic>
      <p:sp>
        <p:nvSpPr>
          <p:cNvPr id="24" name="Text 10"/>
          <p:cNvSpPr/>
          <p:nvPr/>
        </p:nvSpPr>
        <p:spPr>
          <a:xfrm>
            <a:off x="10094976" y="434340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Homeware</a:t>
            </a:r>
            <a:endParaRPr lang="en-US" sz="1800" dirty="0"/>
          </a:p>
        </p:txBody>
      </p:sp>
      <p:sp>
        <p:nvSpPr>
          <p:cNvPr id="25" name="Text 11"/>
          <p:cNvSpPr/>
          <p:nvPr/>
        </p:nvSpPr>
        <p:spPr>
          <a:xfrm>
            <a:off x="548640" y="4937760"/>
            <a:ext cx="11091672" cy="1051560"/>
          </a:xfrm>
          <a:prstGeom prst="rect">
            <a:avLst/>
          </a:prstGeom>
          <a:noFill/>
          <a:ln/>
        </p:spPr>
        <p:txBody>
          <a:bodyPr wrap="square" lIns="0" tIns="0" rIns="0" bIns="0" rtlCol="0" anchor="ctr">
            <a:normAutofit/>
          </a:bodyPr>
          <a:lstStyle/>
          <a:p>
            <a:pPr algn="ctr" indent="0" marL="0">
              <a:buNone/>
            </a:pPr>
            <a:r>
              <a:rPr lang="en-US" sz="7200" b="1" spc="800" kern="0" dirty="0">
                <a:solidFill>
                  <a:srgbClr val="FFD58A"/>
                </a:solidFill>
                <a:latin typeface="Arial" pitchFamily="34" charset="0"/>
                <a:ea typeface="Arial" pitchFamily="34" charset="-122"/>
                <a:cs typeface="Arial" pitchFamily="34" charset="-120"/>
              </a:rPr>
              <a:t>www.yaikh.com</a:t>
            </a:r>
            <a:endParaRPr lang="en-US" sz="7200" dirty="0"/>
          </a:p>
        </p:txBody>
      </p:sp>
      <p:sp>
        <p:nvSpPr>
          <p:cNvPr id="26" name="Text 12"/>
          <p:cNvSpPr/>
          <p:nvPr/>
        </p:nvSpPr>
        <p:spPr>
          <a:xfrm>
            <a:off x="822960" y="6446520"/>
            <a:ext cx="10515600" cy="274320"/>
          </a:xfrm>
          <a:prstGeom prst="rect">
            <a:avLst/>
          </a:prstGeom>
          <a:noFill/>
          <a:ln/>
        </p:spPr>
        <p:txBody>
          <a:bodyPr wrap="square" lIns="0" tIns="0" rIns="0" bIns="0" rtlCol="0" anchor="ctr"/>
          <a:lstStyle/>
          <a:p>
            <a:pPr indent="0" marL="0">
              <a:buNone/>
            </a:pPr>
            <a:r>
              <a:rPr lang="en-US" sz="1000" dirty="0">
                <a:solidFill>
                  <a:srgbClr val="8FA8D8"/>
                </a:solidFill>
                <a:latin typeface="Arial" pitchFamily="34" charset="0"/>
                <a:ea typeface="Arial" pitchFamily="34" charset="-122"/>
                <a:cs typeface="Arial" pitchFamily="34" charset="-120"/>
              </a:rPr>
              <a:t>Texlink Technologies Co., Ltd.   ·   31 August 2026   ·   Confidential   ·   www.yaikh.com</a:t>
            </a:r>
            <a:endParaRPr lang="en-US" sz="1000" dirty="0"/>
          </a:p>
        </p:txBody>
      </p:sp>
      <p:sp>
        <p:nvSpPr>
          <p:cNvPr id="27" name="Text 13"/>
          <p:cNvSpPr/>
          <p:nvPr/>
        </p:nvSpPr>
        <p:spPr>
          <a:xfrm>
            <a:off x="11548872" y="6473952"/>
            <a:ext cx="548640" cy="274320"/>
          </a:xfrm>
          <a:prstGeom prst="rect">
            <a:avLst/>
          </a:prstGeom>
          <a:noFill/>
          <a:ln/>
        </p:spPr>
        <p:txBody>
          <a:bodyPr wrap="square" lIns="0" tIns="0" rIns="0" bIns="0" rtlCol="0" anchor="ctr"/>
          <a:lstStyle/>
          <a:p>
            <a:pPr algn="r" indent="0" marL="0">
              <a:buNone/>
            </a:pPr>
            <a:r>
              <a:rPr lang="en-US" sz="1000" b="1" dirty="0">
                <a:solidFill>
                  <a:srgbClr val="FFD58A"/>
                </a:solidFill>
                <a:latin typeface="Arial" pitchFamily="34" charset="0"/>
                <a:ea typeface="Arial" pitchFamily="34" charset="-122"/>
                <a:cs typeface="Arial" pitchFamily="34" charset="-120"/>
              </a:rPr>
              <a:t>PD2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01 / EXECUTIVE SUMMARY</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0A1F47"/>
                </a:solidFill>
                <a:latin typeface="Arial" pitchFamily="34" charset="0"/>
                <a:ea typeface="Arial" pitchFamily="34" charset="-122"/>
                <a:cs typeface="Arial" pitchFamily="34" charset="-120"/>
              </a:rPr>
              <a:t>Factory-tested for 5 years. Now opening the gates.</a:t>
            </a:r>
            <a:endParaRPr lang="en-US" sz="3000" dirty="0"/>
          </a:p>
        </p:txBody>
      </p:sp>
      <p:sp>
        <p:nvSpPr>
          <p:cNvPr id="4" name="Text 2"/>
          <p:cNvSpPr/>
          <p:nvPr/>
        </p:nvSpPr>
        <p:spPr>
          <a:xfrm>
            <a:off x="548640" y="1463040"/>
            <a:ext cx="11064240" cy="1005840"/>
          </a:xfrm>
          <a:prstGeom prst="rect">
            <a:avLst/>
          </a:prstGeom>
          <a:noFill/>
          <a:ln/>
        </p:spPr>
        <p:txBody>
          <a:bodyPr wrap="square" lIns="0" tIns="0" rIns="0" bIns="0" rtlCol="0" anchor="ctr"/>
          <a:lstStyle/>
          <a:p>
            <a:pPr indent="0" marL="0">
              <a:buNone/>
            </a:pPr>
            <a:r>
              <a:rPr lang="en-US" sz="1500" b="1" dirty="0">
                <a:solidFill>
                  <a:srgbClr val="0A1F47"/>
                </a:solidFill>
                <a:latin typeface="Arial" pitchFamily="34" charset="0"/>
                <a:ea typeface="Arial" pitchFamily="34" charset="-122"/>
                <a:cs typeface="Arial" pitchFamily="34" charset="-120"/>
              </a:rPr>
              <a:t>Yai is Ai MIP — Agentic Manufacturing Intelligence. </a:t>
            </a:r>
            <a:pPr indent="0" marL="0">
              <a:buNone/>
            </a:pPr>
            <a:r>
              <a:rPr lang="en-US" sz="1500" dirty="0">
                <a:solidFill>
                  <a:srgbClr val="1E293B"/>
                </a:solidFill>
                <a:latin typeface="Arial" pitchFamily="34" charset="0"/>
                <a:ea typeface="Arial" pitchFamily="34" charset="-122"/>
                <a:cs typeface="Arial" pitchFamily="34" charset="-120"/>
              </a:rPr>
              <a:t>A three-layer platform that modernises a production unit from a whole-paper operation into executive Ai. It replaces the chaos most factories live in today — paper reports, ledger books, scattered chat apps, manual signatures, staff chasing approvals floor-to-floor.</a:t>
            </a:r>
            <a:endParaRPr lang="en-US" sz="1500" dirty="0"/>
          </a:p>
        </p:txBody>
      </p:sp>
      <p:sp>
        <p:nvSpPr>
          <p:cNvPr id="5" name="Shape 3"/>
          <p:cNvSpPr/>
          <p:nvPr/>
        </p:nvSpPr>
        <p:spPr>
          <a:xfrm>
            <a:off x="548640" y="2743200"/>
            <a:ext cx="2670048" cy="2286000"/>
          </a:xfrm>
          <a:prstGeom prst="roundRect">
            <a:avLst>
              <a:gd name="adj" fmla="val 3200"/>
            </a:avLst>
          </a:prstGeom>
          <a:solidFill>
            <a:srgbClr val="FFFFFF"/>
          </a:solidFill>
          <a:ln w="12700">
            <a:solidFill>
              <a:srgbClr val="E2E8F0"/>
            </a:solidFill>
            <a:prstDash val="solid"/>
          </a:ln>
        </p:spPr>
      </p:sp>
      <p:sp>
        <p:nvSpPr>
          <p:cNvPr id="6" name="Text 4"/>
          <p:cNvSpPr/>
          <p:nvPr/>
        </p:nvSpPr>
        <p:spPr>
          <a:xfrm>
            <a:off x="685800" y="2834640"/>
            <a:ext cx="2395728" cy="1645920"/>
          </a:xfrm>
          <a:prstGeom prst="rect">
            <a:avLst/>
          </a:prstGeom>
          <a:noFill/>
          <a:ln/>
        </p:spPr>
        <p:txBody>
          <a:bodyPr wrap="square" lIns="0" tIns="0" rIns="0" bIns="0" rtlCol="0" anchor="ctr">
            <a:normAutofit/>
          </a:bodyPr>
          <a:lstStyle/>
          <a:p>
            <a:pPr algn="ctr" indent="0" marL="0">
              <a:buNone/>
            </a:pPr>
            <a:r>
              <a:rPr lang="en-US" sz="9200" b="1" dirty="0">
                <a:solidFill>
                  <a:srgbClr val="10B981"/>
                </a:solidFill>
                <a:latin typeface="Arial" pitchFamily="34" charset="0"/>
                <a:ea typeface="Arial" pitchFamily="34" charset="-122"/>
                <a:cs typeface="Arial" pitchFamily="34" charset="-120"/>
              </a:rPr>
              <a:t>10</a:t>
            </a:r>
            <a:endParaRPr lang="en-US" sz="9200" dirty="0"/>
          </a:p>
        </p:txBody>
      </p:sp>
      <p:sp>
        <p:nvSpPr>
          <p:cNvPr id="7" name="Text 5"/>
          <p:cNvSpPr/>
          <p:nvPr/>
        </p:nvSpPr>
        <p:spPr>
          <a:xfrm>
            <a:off x="685800" y="4526280"/>
            <a:ext cx="2395728" cy="411480"/>
          </a:xfrm>
          <a:prstGeom prst="rect">
            <a:avLst/>
          </a:prstGeom>
          <a:noFill/>
          <a:ln/>
        </p:spPr>
        <p:txBody>
          <a:bodyPr wrap="square" lIns="0" tIns="0" rIns="0" bIns="0" rtlCol="0" anchor="t"/>
          <a:lstStyle/>
          <a:p>
            <a:pPr algn="ctr" indent="0" marL="0">
              <a:buNone/>
            </a:pPr>
            <a:r>
              <a:rPr lang="en-US" sz="1000" b="1" spc="150" kern="0" dirty="0">
                <a:solidFill>
                  <a:srgbClr val="64748B"/>
                </a:solidFill>
                <a:latin typeface="Arial" pitchFamily="34" charset="0"/>
                <a:ea typeface="Arial" pitchFamily="34" charset="-122"/>
                <a:cs typeface="Arial" pitchFamily="34" charset="-120"/>
              </a:rPr>
              <a:t>AI AGENTS STAND READY</a:t>
            </a:r>
            <a:endParaRPr lang="en-US" sz="1000" dirty="0"/>
          </a:p>
        </p:txBody>
      </p:sp>
      <p:sp>
        <p:nvSpPr>
          <p:cNvPr id="8" name="Shape 6"/>
          <p:cNvSpPr/>
          <p:nvPr/>
        </p:nvSpPr>
        <p:spPr>
          <a:xfrm>
            <a:off x="3346704" y="2743200"/>
            <a:ext cx="2670048" cy="2286000"/>
          </a:xfrm>
          <a:prstGeom prst="roundRect">
            <a:avLst>
              <a:gd name="adj" fmla="val 3200"/>
            </a:avLst>
          </a:prstGeom>
          <a:solidFill>
            <a:srgbClr val="FFFFFF"/>
          </a:solidFill>
          <a:ln w="12700">
            <a:solidFill>
              <a:srgbClr val="E2E8F0"/>
            </a:solidFill>
            <a:prstDash val="solid"/>
          </a:ln>
        </p:spPr>
      </p:sp>
      <p:sp>
        <p:nvSpPr>
          <p:cNvPr id="9" name="Text 7"/>
          <p:cNvSpPr/>
          <p:nvPr/>
        </p:nvSpPr>
        <p:spPr>
          <a:xfrm>
            <a:off x="3483864" y="2834640"/>
            <a:ext cx="2395728" cy="1645920"/>
          </a:xfrm>
          <a:prstGeom prst="rect">
            <a:avLst/>
          </a:prstGeom>
          <a:noFill/>
          <a:ln/>
        </p:spPr>
        <p:txBody>
          <a:bodyPr wrap="square" lIns="0" tIns="0" rIns="0" bIns="0" rtlCol="0" anchor="ctr">
            <a:normAutofit/>
          </a:bodyPr>
          <a:lstStyle/>
          <a:p>
            <a:pPr algn="ctr" indent="0" marL="0">
              <a:buNone/>
            </a:pPr>
            <a:r>
              <a:rPr lang="en-US" sz="9200" b="1" dirty="0">
                <a:solidFill>
                  <a:srgbClr val="1E4DAA"/>
                </a:solidFill>
                <a:latin typeface="Arial" pitchFamily="34" charset="0"/>
                <a:ea typeface="Arial" pitchFamily="34" charset="-122"/>
                <a:cs typeface="Arial" pitchFamily="34" charset="-120"/>
              </a:rPr>
              <a:t>20</a:t>
            </a:r>
            <a:endParaRPr lang="en-US" sz="9200" dirty="0"/>
          </a:p>
        </p:txBody>
      </p:sp>
      <p:sp>
        <p:nvSpPr>
          <p:cNvPr id="10" name="Text 8"/>
          <p:cNvSpPr/>
          <p:nvPr/>
        </p:nvSpPr>
        <p:spPr>
          <a:xfrm>
            <a:off x="3483864" y="4526280"/>
            <a:ext cx="2395728" cy="411480"/>
          </a:xfrm>
          <a:prstGeom prst="rect">
            <a:avLst/>
          </a:prstGeom>
          <a:noFill/>
          <a:ln/>
        </p:spPr>
        <p:txBody>
          <a:bodyPr wrap="square" lIns="0" tIns="0" rIns="0" bIns="0" rtlCol="0" anchor="t"/>
          <a:lstStyle/>
          <a:p>
            <a:pPr algn="ctr" indent="0" marL="0">
              <a:buNone/>
            </a:pPr>
            <a:r>
              <a:rPr lang="en-US" sz="1000" b="1" spc="150" kern="0" dirty="0">
                <a:solidFill>
                  <a:srgbClr val="64748B"/>
                </a:solidFill>
                <a:latin typeface="Arial" pitchFamily="34" charset="0"/>
                <a:ea typeface="Arial" pitchFamily="34" charset="-122"/>
                <a:cs typeface="Arial" pitchFamily="34" charset="-120"/>
              </a:rPr>
              <a:t>ENGINEERS FROM CAMBODIA</a:t>
            </a:r>
            <a:endParaRPr lang="en-US" sz="1000" dirty="0"/>
          </a:p>
        </p:txBody>
      </p:sp>
      <p:sp>
        <p:nvSpPr>
          <p:cNvPr id="11" name="Shape 9"/>
          <p:cNvSpPr/>
          <p:nvPr/>
        </p:nvSpPr>
        <p:spPr>
          <a:xfrm>
            <a:off x="6144768" y="2743200"/>
            <a:ext cx="2670048" cy="2286000"/>
          </a:xfrm>
          <a:prstGeom prst="roundRect">
            <a:avLst>
              <a:gd name="adj" fmla="val 3200"/>
            </a:avLst>
          </a:prstGeom>
          <a:solidFill>
            <a:srgbClr val="FFFFFF"/>
          </a:solidFill>
          <a:ln w="12700">
            <a:solidFill>
              <a:srgbClr val="E2E8F0"/>
            </a:solidFill>
            <a:prstDash val="solid"/>
          </a:ln>
        </p:spPr>
      </p:sp>
      <p:sp>
        <p:nvSpPr>
          <p:cNvPr id="12" name="Text 10"/>
          <p:cNvSpPr/>
          <p:nvPr/>
        </p:nvSpPr>
        <p:spPr>
          <a:xfrm>
            <a:off x="6281928" y="2834640"/>
            <a:ext cx="2395728" cy="1119226"/>
          </a:xfrm>
          <a:prstGeom prst="rect">
            <a:avLst/>
          </a:prstGeom>
          <a:noFill/>
          <a:ln/>
        </p:spPr>
        <p:txBody>
          <a:bodyPr wrap="square" lIns="0" tIns="0" rIns="0" bIns="0" rtlCol="0" anchor="b">
            <a:normAutofit/>
          </a:bodyPr>
          <a:lstStyle/>
          <a:p>
            <a:pPr algn="ctr" indent="0" marL="0">
              <a:buNone/>
            </a:pPr>
            <a:r>
              <a:rPr lang="en-US" sz="9200" b="1" dirty="0">
                <a:solidFill>
                  <a:srgbClr val="F37021"/>
                </a:solidFill>
                <a:latin typeface="Arial" pitchFamily="34" charset="0"/>
                <a:ea typeface="Arial" pitchFamily="34" charset="-122"/>
                <a:cs typeface="Arial" pitchFamily="34" charset="-120"/>
              </a:rPr>
              <a:t>36</a:t>
            </a:r>
            <a:endParaRPr lang="en-US" sz="9200" dirty="0"/>
          </a:p>
        </p:txBody>
      </p:sp>
      <p:sp>
        <p:nvSpPr>
          <p:cNvPr id="13" name="Text 11"/>
          <p:cNvSpPr/>
          <p:nvPr/>
        </p:nvSpPr>
        <p:spPr>
          <a:xfrm>
            <a:off x="6281928" y="3972154"/>
            <a:ext cx="2395728" cy="460858"/>
          </a:xfrm>
          <a:prstGeom prst="rect">
            <a:avLst/>
          </a:prstGeom>
          <a:noFill/>
          <a:ln/>
        </p:spPr>
        <p:txBody>
          <a:bodyPr wrap="square" lIns="0" tIns="0" rIns="0" bIns="0" rtlCol="0" anchor="t">
            <a:normAutofit/>
          </a:bodyPr>
          <a:lstStyle/>
          <a:p>
            <a:pPr algn="ctr" indent="0" marL="0">
              <a:buNone/>
            </a:pPr>
            <a:r>
              <a:rPr lang="en-US" sz="3000" b="1" spc="200" kern="0" dirty="0">
                <a:solidFill>
                  <a:srgbClr val="F37021"/>
                </a:solidFill>
                <a:latin typeface="Arial" pitchFamily="34" charset="0"/>
                <a:ea typeface="Arial" pitchFamily="34" charset="-122"/>
                <a:cs typeface="Arial" pitchFamily="34" charset="-120"/>
              </a:rPr>
              <a:t>MO</a:t>
            </a:r>
            <a:endParaRPr lang="en-US" sz="3000" dirty="0"/>
          </a:p>
        </p:txBody>
      </p:sp>
      <p:sp>
        <p:nvSpPr>
          <p:cNvPr id="14" name="Text 12"/>
          <p:cNvSpPr/>
          <p:nvPr/>
        </p:nvSpPr>
        <p:spPr>
          <a:xfrm>
            <a:off x="6281928" y="4526280"/>
            <a:ext cx="2395728" cy="411480"/>
          </a:xfrm>
          <a:prstGeom prst="rect">
            <a:avLst/>
          </a:prstGeom>
          <a:noFill/>
          <a:ln/>
        </p:spPr>
        <p:txBody>
          <a:bodyPr wrap="square" lIns="0" tIns="0" rIns="0" bIns="0" rtlCol="0" anchor="t"/>
          <a:lstStyle/>
          <a:p>
            <a:pPr algn="ctr" indent="0" marL="0">
              <a:buNone/>
            </a:pPr>
            <a:r>
              <a:rPr lang="en-US" sz="1000" b="1" spc="150" kern="0" dirty="0">
                <a:solidFill>
                  <a:srgbClr val="64748B"/>
                </a:solidFill>
                <a:latin typeface="Arial" pitchFamily="34" charset="0"/>
                <a:ea typeface="Arial" pitchFamily="34" charset="-122"/>
                <a:cs typeface="Arial" pitchFamily="34" charset="-120"/>
              </a:rPr>
              <a:t>IN DEVELOPMENT</a:t>
            </a:r>
            <a:endParaRPr lang="en-US" sz="1000" dirty="0"/>
          </a:p>
        </p:txBody>
      </p:sp>
      <p:sp>
        <p:nvSpPr>
          <p:cNvPr id="15" name="Shape 13"/>
          <p:cNvSpPr/>
          <p:nvPr/>
        </p:nvSpPr>
        <p:spPr>
          <a:xfrm>
            <a:off x="8942832" y="2743200"/>
            <a:ext cx="2670048" cy="2286000"/>
          </a:xfrm>
          <a:prstGeom prst="roundRect">
            <a:avLst>
              <a:gd name="adj" fmla="val 3200"/>
            </a:avLst>
          </a:prstGeom>
          <a:solidFill>
            <a:srgbClr val="FFFFFF"/>
          </a:solidFill>
          <a:ln w="12700">
            <a:solidFill>
              <a:srgbClr val="E2E8F0"/>
            </a:solidFill>
            <a:prstDash val="solid"/>
          </a:ln>
        </p:spPr>
      </p:sp>
      <p:sp>
        <p:nvSpPr>
          <p:cNvPr id="16" name="Text 14"/>
          <p:cNvSpPr/>
          <p:nvPr/>
        </p:nvSpPr>
        <p:spPr>
          <a:xfrm>
            <a:off x="9079992" y="2834640"/>
            <a:ext cx="2395728" cy="1119226"/>
          </a:xfrm>
          <a:prstGeom prst="rect">
            <a:avLst/>
          </a:prstGeom>
          <a:noFill/>
          <a:ln/>
        </p:spPr>
        <p:txBody>
          <a:bodyPr wrap="square" lIns="0" tIns="0" rIns="0" bIns="0" rtlCol="0" anchor="b">
            <a:normAutofit/>
          </a:bodyPr>
          <a:lstStyle/>
          <a:p>
            <a:pPr algn="ctr" indent="0" marL="0">
              <a:buNone/>
            </a:pPr>
            <a:r>
              <a:rPr lang="en-US" sz="9200" b="1" dirty="0">
                <a:solidFill>
                  <a:srgbClr val="0A1F47"/>
                </a:solidFill>
                <a:latin typeface="Arial" pitchFamily="34" charset="0"/>
                <a:ea typeface="Arial" pitchFamily="34" charset="-122"/>
                <a:cs typeface="Arial" pitchFamily="34" charset="-120"/>
              </a:rPr>
              <a:t>40</a:t>
            </a:r>
            <a:endParaRPr lang="en-US" sz="9200" dirty="0"/>
          </a:p>
        </p:txBody>
      </p:sp>
      <p:sp>
        <p:nvSpPr>
          <p:cNvPr id="17" name="Text 15"/>
          <p:cNvSpPr/>
          <p:nvPr/>
        </p:nvSpPr>
        <p:spPr>
          <a:xfrm>
            <a:off x="9079992" y="3972154"/>
            <a:ext cx="2395728" cy="460858"/>
          </a:xfrm>
          <a:prstGeom prst="rect">
            <a:avLst/>
          </a:prstGeom>
          <a:noFill/>
          <a:ln/>
        </p:spPr>
        <p:txBody>
          <a:bodyPr wrap="square" lIns="0" tIns="0" rIns="0" bIns="0" rtlCol="0" anchor="t">
            <a:normAutofit/>
          </a:bodyPr>
          <a:lstStyle/>
          <a:p>
            <a:pPr algn="ctr" indent="0" marL="0">
              <a:buNone/>
            </a:pPr>
            <a:r>
              <a:rPr lang="en-US" sz="3000" b="1" spc="200" kern="0" dirty="0">
                <a:solidFill>
                  <a:srgbClr val="0A1F47"/>
                </a:solidFill>
                <a:latin typeface="Arial" pitchFamily="34" charset="0"/>
                <a:ea typeface="Arial" pitchFamily="34" charset="-122"/>
                <a:cs typeface="Arial" pitchFamily="34" charset="-120"/>
              </a:rPr>
              <a:t>YRS</a:t>
            </a:r>
            <a:endParaRPr lang="en-US" sz="3000" dirty="0"/>
          </a:p>
        </p:txBody>
      </p:sp>
      <p:sp>
        <p:nvSpPr>
          <p:cNvPr id="18" name="Text 16"/>
          <p:cNvSpPr/>
          <p:nvPr/>
        </p:nvSpPr>
        <p:spPr>
          <a:xfrm>
            <a:off x="9079992" y="4526280"/>
            <a:ext cx="2395728" cy="411480"/>
          </a:xfrm>
          <a:prstGeom prst="rect">
            <a:avLst/>
          </a:prstGeom>
          <a:noFill/>
          <a:ln/>
        </p:spPr>
        <p:txBody>
          <a:bodyPr wrap="square" lIns="0" tIns="0" rIns="0" bIns="0" rtlCol="0" anchor="t"/>
          <a:lstStyle/>
          <a:p>
            <a:pPr algn="ctr" indent="0" marL="0">
              <a:buNone/>
            </a:pPr>
            <a:r>
              <a:rPr lang="en-US" sz="1000" b="1" spc="150" kern="0" dirty="0">
                <a:solidFill>
                  <a:srgbClr val="64748B"/>
                </a:solidFill>
                <a:latin typeface="Arial" pitchFamily="34" charset="0"/>
                <a:ea typeface="Arial" pitchFamily="34" charset="-122"/>
                <a:cs typeface="Arial" pitchFamily="34" charset="-120"/>
              </a:rPr>
              <a:t>INDUSTRY EXPERIENCE — TECHNICAL + MANAGEMENT</a:t>
            </a:r>
            <a:endParaRPr lang="en-US" sz="1000" dirty="0"/>
          </a:p>
        </p:txBody>
      </p:sp>
      <p:sp>
        <p:nvSpPr>
          <p:cNvPr id="19" name="Text 17"/>
          <p:cNvSpPr/>
          <p:nvPr/>
        </p:nvSpPr>
        <p:spPr>
          <a:xfrm>
            <a:off x="548640" y="5349240"/>
            <a:ext cx="11064240" cy="457200"/>
          </a:xfrm>
          <a:prstGeom prst="rect">
            <a:avLst/>
          </a:prstGeom>
          <a:noFill/>
          <a:ln/>
        </p:spPr>
        <p:txBody>
          <a:bodyPr wrap="square" lIns="0" tIns="0" rIns="0" bIns="0" rtlCol="0" anchor="ctr"/>
          <a:lstStyle/>
          <a:p>
            <a:pPr indent="0" marL="0">
              <a:buNone/>
            </a:pPr>
            <a:r>
              <a:rPr lang="en-US" sz="1400" i="1" dirty="0">
                <a:solidFill>
                  <a:srgbClr val="64748B"/>
                </a:solidFill>
                <a:latin typeface="Arial" pitchFamily="34" charset="0"/>
                <a:ea typeface="Arial" pitchFamily="34" charset="-122"/>
                <a:cs typeface="Arial" pitchFamily="34" charset="-120"/>
              </a:rPr>
              <a:t>5 years inside live production facilities — proven on real factory floors before a single sales call.</a:t>
            </a:r>
            <a:endParaRPr lang="en-US" sz="1400" dirty="0"/>
          </a:p>
        </p:txBody>
      </p:sp>
      <p:sp>
        <p:nvSpPr>
          <p:cNvPr id="20" name="Text 18"/>
          <p:cNvSpPr/>
          <p:nvPr/>
        </p:nvSpPr>
        <p:spPr>
          <a:xfrm>
            <a:off x="548640" y="6473952"/>
            <a:ext cx="1042416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2 / 12</a:t>
            </a:r>
            <a:endParaRPr lang="en-US" sz="850" dirty="0"/>
          </a:p>
        </p:txBody>
      </p:sp>
      <p:sp>
        <p:nvSpPr>
          <p:cNvPr id="21" name="Text 19"/>
          <p:cNvSpPr/>
          <p:nvPr/>
        </p:nvSpPr>
        <p:spPr>
          <a:xfrm>
            <a:off x="11548872" y="6473952"/>
            <a:ext cx="548640" cy="274320"/>
          </a:xfrm>
          <a:prstGeom prst="rect">
            <a:avLst/>
          </a:prstGeom>
          <a:noFill/>
          <a:ln/>
        </p:spPr>
        <p:txBody>
          <a:bodyPr wrap="square" lIns="0" tIns="0" rIns="0" bIns="0" rtlCol="0" anchor="ctr"/>
          <a:lstStyle/>
          <a:p>
            <a:pPr algn="r" indent="0" marL="0">
              <a:buNone/>
            </a:pPr>
            <a:r>
              <a:rPr lang="en-US" sz="1000" b="1" dirty="0">
                <a:solidFill>
                  <a:srgbClr val="F37021"/>
                </a:solidFill>
                <a:latin typeface="Arial" pitchFamily="34" charset="0"/>
                <a:ea typeface="Arial" pitchFamily="34" charset="-122"/>
                <a:cs typeface="Arial" pitchFamily="34" charset="-120"/>
              </a:rPr>
              <a:t>PD2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02 / THE PROBLEM</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0A1F47"/>
                </a:solidFill>
                <a:latin typeface="Arial" pitchFamily="34" charset="0"/>
                <a:ea typeface="Arial" pitchFamily="34" charset="-122"/>
                <a:cs typeface="Arial" pitchFamily="34" charset="-120"/>
              </a:rPr>
              <a:t>Squeezed from three sides — internal, brands, government.</a:t>
            </a:r>
            <a:endParaRPr lang="en-US" sz="3000" dirty="0"/>
          </a:p>
        </p:txBody>
      </p:sp>
      <p:sp>
        <p:nvSpPr>
          <p:cNvPr id="4" name="Shape 2"/>
          <p:cNvSpPr/>
          <p:nvPr/>
        </p:nvSpPr>
        <p:spPr>
          <a:xfrm>
            <a:off x="548640" y="1508760"/>
            <a:ext cx="3703320" cy="2331720"/>
          </a:xfrm>
          <a:prstGeom prst="roundRect">
            <a:avLst>
              <a:gd name="adj" fmla="val 3137"/>
            </a:avLst>
          </a:prstGeom>
          <a:solidFill>
            <a:srgbClr val="EFF6FF"/>
          </a:solidFill>
          <a:ln w="12700">
            <a:solidFill>
              <a:srgbClr val="BFDBFE"/>
            </a:solidFill>
            <a:prstDash val="solid"/>
          </a:ln>
        </p:spPr>
      </p:sp>
      <p:sp>
        <p:nvSpPr>
          <p:cNvPr id="5" name="Text 3"/>
          <p:cNvSpPr/>
          <p:nvPr/>
        </p:nvSpPr>
        <p:spPr>
          <a:xfrm>
            <a:off x="749808" y="1664208"/>
            <a:ext cx="3300984" cy="292608"/>
          </a:xfrm>
          <a:prstGeom prst="rect">
            <a:avLst/>
          </a:prstGeom>
          <a:noFill/>
          <a:ln/>
        </p:spPr>
        <p:txBody>
          <a:bodyPr wrap="square" lIns="0" tIns="0" rIns="0" bIns="0" rtlCol="0" anchor="ctr"/>
          <a:lstStyle/>
          <a:p>
            <a:pPr indent="0" marL="0">
              <a:buNone/>
            </a:pPr>
            <a:r>
              <a:rPr lang="en-US" sz="1100" b="1" spc="200" kern="0" dirty="0">
                <a:solidFill>
                  <a:srgbClr val="1E4DAA"/>
                </a:solidFill>
                <a:latin typeface="Arial" pitchFamily="34" charset="0"/>
                <a:ea typeface="Arial" pitchFamily="34" charset="-122"/>
                <a:cs typeface="Arial" pitchFamily="34" charset="-120"/>
              </a:rPr>
              <a:t>1 · INTERNAL WORKFLOW</a:t>
            </a:r>
            <a:endParaRPr lang="en-US" sz="1100" dirty="0"/>
          </a:p>
        </p:txBody>
      </p:sp>
      <p:sp>
        <p:nvSpPr>
          <p:cNvPr id="6" name="Text 4"/>
          <p:cNvSpPr/>
          <p:nvPr/>
        </p:nvSpPr>
        <p:spPr>
          <a:xfrm>
            <a:off x="749808" y="1993392"/>
            <a:ext cx="3300984" cy="411480"/>
          </a:xfrm>
          <a:prstGeom prst="rect">
            <a:avLst/>
          </a:prstGeom>
          <a:noFill/>
          <a:ln/>
        </p:spPr>
        <p:txBody>
          <a:bodyPr wrap="square" lIns="0" tIns="0" rIns="0" bIns="0" rtlCol="0" anchor="ctr"/>
          <a:lstStyle/>
          <a:p>
            <a:pPr indent="0" marL="0">
              <a:buNone/>
            </a:pPr>
            <a:r>
              <a:rPr lang="en-US" sz="1600" b="1" dirty="0">
                <a:solidFill>
                  <a:srgbClr val="0A1F47"/>
                </a:solidFill>
                <a:latin typeface="Arial" pitchFamily="34" charset="0"/>
                <a:ea typeface="Arial" pitchFamily="34" charset="-122"/>
                <a:cs typeface="Arial" pitchFamily="34" charset="-120"/>
              </a:rPr>
              <a:t>The team is demanding better</a:t>
            </a:r>
            <a:endParaRPr lang="en-US" sz="1600" dirty="0"/>
          </a:p>
        </p:txBody>
      </p:sp>
      <p:sp>
        <p:nvSpPr>
          <p:cNvPr id="7" name="Text 5"/>
          <p:cNvSpPr/>
          <p:nvPr/>
        </p:nvSpPr>
        <p:spPr>
          <a:xfrm>
            <a:off x="749808" y="2468880"/>
            <a:ext cx="3300984" cy="1280160"/>
          </a:xfrm>
          <a:prstGeom prst="rect">
            <a:avLst/>
          </a:prstGeom>
          <a:noFill/>
          <a:ln/>
        </p:spPr>
        <p:txBody>
          <a:bodyPr wrap="square" lIns="0" tIns="0" rIns="0" bIns="0" rtlCol="0" anchor="ctr"/>
          <a:lstStyle/>
          <a:p>
            <a:pPr indent="0" marL="0">
              <a:buNone/>
            </a:pPr>
            <a:r>
              <a:rPr lang="en-US" sz="1500" i="1" dirty="0">
                <a:solidFill>
                  <a:srgbClr val="1E293B"/>
                </a:solidFill>
                <a:latin typeface="Arial" pitchFamily="34" charset="0"/>
                <a:ea typeface="Arial" pitchFamily="34" charset="-122"/>
                <a:cs typeface="Arial" pitchFamily="34" charset="-120"/>
              </a:rPr>
              <a:t>“We can't keep chasing signatures floor-to-floor and living in ledger books. Give us one system.”</a:t>
            </a:r>
            <a:endParaRPr lang="en-US" sz="1500" dirty="0"/>
          </a:p>
        </p:txBody>
      </p:sp>
      <p:sp>
        <p:nvSpPr>
          <p:cNvPr id="8" name="Text 6"/>
          <p:cNvSpPr/>
          <p:nvPr/>
        </p:nvSpPr>
        <p:spPr>
          <a:xfrm>
            <a:off x="2217420" y="3886200"/>
            <a:ext cx="365760" cy="320040"/>
          </a:xfrm>
          <a:prstGeom prst="rect">
            <a:avLst/>
          </a:prstGeom>
          <a:noFill/>
          <a:ln/>
        </p:spPr>
        <p:txBody>
          <a:bodyPr wrap="square" lIns="0" tIns="0" rIns="0" bIns="0" rtlCol="0" anchor="ctr"/>
          <a:lstStyle/>
          <a:p>
            <a:pPr algn="ctr" indent="0" marL="0">
              <a:buNone/>
            </a:pPr>
            <a:r>
              <a:rPr lang="en-US" sz="2200" b="1" dirty="0">
                <a:solidFill>
                  <a:srgbClr val="F37021"/>
                </a:solidFill>
                <a:latin typeface="Arial" pitchFamily="34" charset="0"/>
                <a:ea typeface="Arial" pitchFamily="34" charset="-122"/>
                <a:cs typeface="Arial" pitchFamily="34" charset="-120"/>
              </a:rPr>
              <a:t>↓</a:t>
            </a:r>
            <a:endParaRPr lang="en-US" sz="2200" dirty="0"/>
          </a:p>
        </p:txBody>
      </p:sp>
      <p:sp>
        <p:nvSpPr>
          <p:cNvPr id="9" name="Shape 7"/>
          <p:cNvSpPr/>
          <p:nvPr/>
        </p:nvSpPr>
        <p:spPr>
          <a:xfrm>
            <a:off x="4379976" y="1508760"/>
            <a:ext cx="3703320" cy="2331720"/>
          </a:xfrm>
          <a:prstGeom prst="roundRect">
            <a:avLst>
              <a:gd name="adj" fmla="val 3137"/>
            </a:avLst>
          </a:prstGeom>
          <a:solidFill>
            <a:srgbClr val="ECFDF5"/>
          </a:solidFill>
          <a:ln w="12700">
            <a:solidFill>
              <a:srgbClr val="A7F3D0"/>
            </a:solidFill>
            <a:prstDash val="solid"/>
          </a:ln>
        </p:spPr>
      </p:sp>
      <p:sp>
        <p:nvSpPr>
          <p:cNvPr id="10" name="Text 8"/>
          <p:cNvSpPr/>
          <p:nvPr/>
        </p:nvSpPr>
        <p:spPr>
          <a:xfrm>
            <a:off x="4581144" y="1664208"/>
            <a:ext cx="3300984" cy="292608"/>
          </a:xfrm>
          <a:prstGeom prst="rect">
            <a:avLst/>
          </a:prstGeom>
          <a:noFill/>
          <a:ln/>
        </p:spPr>
        <p:txBody>
          <a:bodyPr wrap="square" lIns="0" tIns="0" rIns="0" bIns="0" rtlCol="0" anchor="ctr"/>
          <a:lstStyle/>
          <a:p>
            <a:pPr indent="0" marL="0">
              <a:buNone/>
            </a:pPr>
            <a:r>
              <a:rPr lang="en-US" sz="1100" b="1" spc="200" kern="0" dirty="0">
                <a:solidFill>
                  <a:srgbClr val="0A3327"/>
                </a:solidFill>
                <a:latin typeface="Arial" pitchFamily="34" charset="0"/>
                <a:ea typeface="Arial" pitchFamily="34" charset="-122"/>
                <a:cs typeface="Arial" pitchFamily="34" charset="-120"/>
              </a:rPr>
              <a:t>2 · BRANDS · THE CUSTOMERS</a:t>
            </a:r>
            <a:endParaRPr lang="en-US" sz="1100" dirty="0"/>
          </a:p>
        </p:txBody>
      </p:sp>
      <p:sp>
        <p:nvSpPr>
          <p:cNvPr id="11" name="Text 9"/>
          <p:cNvSpPr/>
          <p:nvPr/>
        </p:nvSpPr>
        <p:spPr>
          <a:xfrm>
            <a:off x="4581144" y="1993392"/>
            <a:ext cx="3300984" cy="411480"/>
          </a:xfrm>
          <a:prstGeom prst="rect">
            <a:avLst/>
          </a:prstGeom>
          <a:noFill/>
          <a:ln/>
        </p:spPr>
        <p:txBody>
          <a:bodyPr wrap="square" lIns="0" tIns="0" rIns="0" bIns="0" rtlCol="0" anchor="ctr"/>
          <a:lstStyle/>
          <a:p>
            <a:pPr indent="0" marL="0">
              <a:buNone/>
            </a:pPr>
            <a:r>
              <a:rPr lang="en-US" sz="1600" b="1" dirty="0">
                <a:solidFill>
                  <a:srgbClr val="0A1F47"/>
                </a:solidFill>
                <a:latin typeface="Arial" pitchFamily="34" charset="0"/>
                <a:ea typeface="Arial" pitchFamily="34" charset="-122"/>
                <a:cs typeface="Arial" pitchFamily="34" charset="-120"/>
              </a:rPr>
              <a:t>Ai everywhere, or lose the order</a:t>
            </a:r>
            <a:endParaRPr lang="en-US" sz="1600" dirty="0"/>
          </a:p>
        </p:txBody>
      </p:sp>
      <p:sp>
        <p:nvSpPr>
          <p:cNvPr id="12" name="Text 10"/>
          <p:cNvSpPr/>
          <p:nvPr/>
        </p:nvSpPr>
        <p:spPr>
          <a:xfrm>
            <a:off x="4581144" y="2468880"/>
            <a:ext cx="3300984" cy="1280160"/>
          </a:xfrm>
          <a:prstGeom prst="rect">
            <a:avLst/>
          </a:prstGeom>
          <a:noFill/>
          <a:ln/>
        </p:spPr>
        <p:txBody>
          <a:bodyPr wrap="square" lIns="0" tIns="0" rIns="0" bIns="0" rtlCol="0" anchor="ctr"/>
          <a:lstStyle/>
          <a:p>
            <a:pPr indent="0" marL="0">
              <a:buNone/>
            </a:pPr>
            <a:r>
              <a:rPr lang="en-US" sz="1500" i="1" dirty="0">
                <a:solidFill>
                  <a:srgbClr val="1E293B"/>
                </a:solidFill>
                <a:latin typeface="Arial" pitchFamily="34" charset="0"/>
                <a:ea typeface="Arial" pitchFamily="34" charset="-122"/>
                <a:cs typeface="Arial" pitchFamily="34" charset="-120"/>
              </a:rPr>
              <a:t>“Go agentic now — no more Excel, no more emails. The factories that integrate win the orders.”</a:t>
            </a:r>
            <a:endParaRPr lang="en-US" sz="1500" dirty="0"/>
          </a:p>
        </p:txBody>
      </p:sp>
      <p:sp>
        <p:nvSpPr>
          <p:cNvPr id="13" name="Text 11"/>
          <p:cNvSpPr/>
          <p:nvPr/>
        </p:nvSpPr>
        <p:spPr>
          <a:xfrm>
            <a:off x="6048756" y="3886200"/>
            <a:ext cx="365760" cy="320040"/>
          </a:xfrm>
          <a:prstGeom prst="rect">
            <a:avLst/>
          </a:prstGeom>
          <a:noFill/>
          <a:ln/>
        </p:spPr>
        <p:txBody>
          <a:bodyPr wrap="square" lIns="0" tIns="0" rIns="0" bIns="0" rtlCol="0" anchor="ctr"/>
          <a:lstStyle/>
          <a:p>
            <a:pPr algn="ctr" indent="0" marL="0">
              <a:buNone/>
            </a:pPr>
            <a:r>
              <a:rPr lang="en-US" sz="2200" b="1" dirty="0">
                <a:solidFill>
                  <a:srgbClr val="F37021"/>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8211312" y="1508760"/>
            <a:ext cx="3703320" cy="2331720"/>
          </a:xfrm>
          <a:prstGeom prst="roundRect">
            <a:avLst>
              <a:gd name="adj" fmla="val 3137"/>
            </a:avLst>
          </a:prstGeom>
          <a:solidFill>
            <a:srgbClr val="F1F5F9"/>
          </a:solidFill>
          <a:ln w="12700">
            <a:solidFill>
              <a:srgbClr val="CBD5E1"/>
            </a:solidFill>
            <a:prstDash val="solid"/>
          </a:ln>
        </p:spPr>
      </p:sp>
      <p:sp>
        <p:nvSpPr>
          <p:cNvPr id="15" name="Text 13"/>
          <p:cNvSpPr/>
          <p:nvPr/>
        </p:nvSpPr>
        <p:spPr>
          <a:xfrm>
            <a:off x="8412480" y="1664208"/>
            <a:ext cx="3300984" cy="292608"/>
          </a:xfrm>
          <a:prstGeom prst="rect">
            <a:avLst/>
          </a:prstGeom>
          <a:noFill/>
          <a:ln/>
        </p:spPr>
        <p:txBody>
          <a:bodyPr wrap="square" lIns="0" tIns="0" rIns="0" bIns="0" rtlCol="0" anchor="ctr"/>
          <a:lstStyle/>
          <a:p>
            <a:pPr indent="0" marL="0">
              <a:buNone/>
            </a:pPr>
            <a:r>
              <a:rPr lang="en-US" sz="1100" b="1" spc="200" kern="0" dirty="0">
                <a:solidFill>
                  <a:srgbClr val="0A1F47"/>
                </a:solidFill>
                <a:latin typeface="Arial" pitchFamily="34" charset="0"/>
                <a:ea typeface="Arial" pitchFamily="34" charset="-122"/>
                <a:cs typeface="Arial" pitchFamily="34" charset="-120"/>
              </a:rPr>
              <a:t>3 · GOVERNMENT + AUDITS</a:t>
            </a:r>
            <a:endParaRPr lang="en-US" sz="1100" dirty="0"/>
          </a:p>
        </p:txBody>
      </p:sp>
      <p:sp>
        <p:nvSpPr>
          <p:cNvPr id="16" name="Text 14"/>
          <p:cNvSpPr/>
          <p:nvPr/>
        </p:nvSpPr>
        <p:spPr>
          <a:xfrm>
            <a:off x="8412480" y="1993392"/>
            <a:ext cx="3300984" cy="411480"/>
          </a:xfrm>
          <a:prstGeom prst="rect">
            <a:avLst/>
          </a:prstGeom>
          <a:noFill/>
          <a:ln/>
        </p:spPr>
        <p:txBody>
          <a:bodyPr wrap="square" lIns="0" tIns="0" rIns="0" bIns="0" rtlCol="0" anchor="ctr"/>
          <a:lstStyle/>
          <a:p>
            <a:pPr indent="0" marL="0">
              <a:buNone/>
            </a:pPr>
            <a:r>
              <a:rPr lang="en-US" sz="1600" b="1" dirty="0">
                <a:solidFill>
                  <a:srgbClr val="0A1F47"/>
                </a:solidFill>
                <a:latin typeface="Arial" pitchFamily="34" charset="0"/>
                <a:ea typeface="Arial" pitchFamily="34" charset="-122"/>
                <a:cs typeface="Arial" pitchFamily="34" charset="-120"/>
              </a:rPr>
              <a:t>Better compliance, on time</a:t>
            </a:r>
            <a:endParaRPr lang="en-US" sz="1600" dirty="0"/>
          </a:p>
        </p:txBody>
      </p:sp>
      <p:sp>
        <p:nvSpPr>
          <p:cNvPr id="17" name="Text 15"/>
          <p:cNvSpPr/>
          <p:nvPr/>
        </p:nvSpPr>
        <p:spPr>
          <a:xfrm>
            <a:off x="8412480" y="2468880"/>
            <a:ext cx="3300984" cy="1280160"/>
          </a:xfrm>
          <a:prstGeom prst="rect">
            <a:avLst/>
          </a:prstGeom>
          <a:noFill/>
          <a:ln/>
        </p:spPr>
        <p:txBody>
          <a:bodyPr wrap="square" lIns="0" tIns="0" rIns="0" bIns="0" rtlCol="0" anchor="ctr"/>
          <a:lstStyle/>
          <a:p>
            <a:pPr indent="0" marL="0">
              <a:buNone/>
            </a:pPr>
            <a:r>
              <a:rPr lang="en-US" sz="1500" i="1" dirty="0">
                <a:solidFill>
                  <a:srgbClr val="1E293B"/>
                </a:solidFill>
                <a:latin typeface="Arial" pitchFamily="34" charset="0"/>
                <a:ea typeface="Arial" pitchFamily="34" charset="-122"/>
                <a:cs typeface="Arial" pitchFamily="34" charset="-120"/>
              </a:rPr>
              <a:t>“Worker data, EMR reports, tax filings — submitted digitally, on time. Late or missing means penalties.”</a:t>
            </a:r>
            <a:endParaRPr lang="en-US" sz="1500" dirty="0"/>
          </a:p>
        </p:txBody>
      </p:sp>
      <p:sp>
        <p:nvSpPr>
          <p:cNvPr id="18" name="Text 16"/>
          <p:cNvSpPr/>
          <p:nvPr/>
        </p:nvSpPr>
        <p:spPr>
          <a:xfrm>
            <a:off x="9880092" y="3886200"/>
            <a:ext cx="365760" cy="320040"/>
          </a:xfrm>
          <a:prstGeom prst="rect">
            <a:avLst/>
          </a:prstGeom>
          <a:noFill/>
          <a:ln/>
        </p:spPr>
        <p:txBody>
          <a:bodyPr wrap="square" lIns="0" tIns="0" rIns="0" bIns="0" rtlCol="0" anchor="ctr"/>
          <a:lstStyle/>
          <a:p>
            <a:pPr algn="ctr" indent="0" marL="0">
              <a:buNone/>
            </a:pPr>
            <a:r>
              <a:rPr lang="en-US" sz="2200" b="1" dirty="0">
                <a:solidFill>
                  <a:srgbClr val="F37021"/>
                </a:solidFill>
                <a:latin typeface="Arial" pitchFamily="34" charset="0"/>
                <a:ea typeface="Arial" pitchFamily="34" charset="-122"/>
                <a:cs typeface="Arial" pitchFamily="34" charset="-120"/>
              </a:rPr>
              <a:t>↓</a:t>
            </a:r>
            <a:endParaRPr lang="en-US" sz="2200" dirty="0"/>
          </a:p>
        </p:txBody>
      </p:sp>
      <p:sp>
        <p:nvSpPr>
          <p:cNvPr id="19" name="Shape 17"/>
          <p:cNvSpPr/>
          <p:nvPr/>
        </p:nvSpPr>
        <p:spPr>
          <a:xfrm>
            <a:off x="548640" y="3931920"/>
            <a:ext cx="11064240" cy="1417320"/>
          </a:xfrm>
          <a:prstGeom prst="roundRect">
            <a:avLst>
              <a:gd name="adj" fmla="val 5161"/>
            </a:avLst>
          </a:prstGeom>
          <a:solidFill>
            <a:srgbClr val="FFF7ED"/>
          </a:solidFill>
          <a:ln w="25400">
            <a:solidFill>
              <a:srgbClr val="F37021"/>
            </a:solidFill>
            <a:prstDash val="solid"/>
          </a:ln>
        </p:spPr>
      </p:sp>
      <p:sp>
        <p:nvSpPr>
          <p:cNvPr id="20" name="Text 18"/>
          <p:cNvSpPr/>
          <p:nvPr/>
        </p:nvSpPr>
        <p:spPr>
          <a:xfrm>
            <a:off x="777240" y="4096512"/>
            <a:ext cx="10607040" cy="292608"/>
          </a:xfrm>
          <a:prstGeom prst="rect">
            <a:avLst/>
          </a:prstGeom>
          <a:noFill/>
          <a:ln/>
        </p:spPr>
        <p:txBody>
          <a:bodyPr wrap="square" lIns="0" tIns="0" rIns="0" bIns="0" rtlCol="0" anchor="ctr"/>
          <a:lstStyle/>
          <a:p>
            <a:pPr indent="0" marL="0">
              <a:buNone/>
            </a:pPr>
            <a:r>
              <a:rPr lang="en-US" sz="1200" b="1" spc="200" kern="0" dirty="0">
                <a:solidFill>
                  <a:srgbClr val="F37021"/>
                </a:solidFill>
                <a:latin typeface="Arial" pitchFamily="34" charset="0"/>
                <a:ea typeface="Arial" pitchFamily="34" charset="-122"/>
                <a:cs typeface="Arial" pitchFamily="34" charset="-120"/>
              </a:rPr>
              <a:t>THE OWNER · SANDWICHED BETWEEN ALL THREE</a:t>
            </a:r>
            <a:endParaRPr lang="en-US" sz="1200" dirty="0"/>
          </a:p>
        </p:txBody>
      </p:sp>
      <p:sp>
        <p:nvSpPr>
          <p:cNvPr id="21" name="Text 19"/>
          <p:cNvSpPr/>
          <p:nvPr/>
        </p:nvSpPr>
        <p:spPr>
          <a:xfrm>
            <a:off x="777240" y="4407408"/>
            <a:ext cx="10607040" cy="86868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Stuck in the middle on paper — expected to satisfy internal teams, brand buyers, and government auditors, all with ledger books and chat apps.</a:t>
            </a:r>
            <a:endParaRPr lang="en-US" sz="1400" dirty="0"/>
          </a:p>
        </p:txBody>
      </p:sp>
      <p:sp>
        <p:nvSpPr>
          <p:cNvPr id="22" name="Text 20"/>
          <p:cNvSpPr/>
          <p:nvPr/>
        </p:nvSpPr>
        <p:spPr>
          <a:xfrm>
            <a:off x="548640" y="5532120"/>
            <a:ext cx="2926080" cy="274320"/>
          </a:xfrm>
          <a:prstGeom prst="rect">
            <a:avLst/>
          </a:prstGeom>
          <a:noFill/>
          <a:ln/>
        </p:spPr>
        <p:txBody>
          <a:bodyPr wrap="square" lIns="0" tIns="0" rIns="0" bIns="0" rtlCol="0" anchor="ctr"/>
          <a:lstStyle/>
          <a:p>
            <a:pPr indent="0" marL="0">
              <a:buNone/>
            </a:pPr>
            <a:r>
              <a:rPr lang="en-US" sz="1000" b="1" spc="150" kern="0" dirty="0">
                <a:solidFill>
                  <a:srgbClr val="64748B"/>
                </a:solidFill>
                <a:latin typeface="Arial" pitchFamily="34" charset="0"/>
                <a:ea typeface="Arial" pitchFamily="34" charset="-122"/>
                <a:cs typeface="Arial" pitchFamily="34" charset="-120"/>
              </a:rPr>
              <a:t>LIFE ON PAPER TODAY:</a:t>
            </a:r>
            <a:endParaRPr lang="en-US" sz="1000" dirty="0"/>
          </a:p>
        </p:txBody>
      </p:sp>
      <p:sp>
        <p:nvSpPr>
          <p:cNvPr id="23" name="Text 21"/>
          <p:cNvSpPr/>
          <p:nvPr/>
        </p:nvSpPr>
        <p:spPr>
          <a:xfrm>
            <a:off x="548640" y="5806440"/>
            <a:ext cx="11064240" cy="41148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Paper reports &amp; ledger books  ·  Scattered chat apps for approvals  ·  Manual signatures every step  ·  Staff chasing floor-to-floor  ·  No single source of truth</a:t>
            </a:r>
            <a:endParaRPr lang="en-US" sz="1150" dirty="0"/>
          </a:p>
        </p:txBody>
      </p:sp>
      <p:sp>
        <p:nvSpPr>
          <p:cNvPr id="24" name="Text 22"/>
          <p:cNvSpPr/>
          <p:nvPr/>
        </p:nvSpPr>
        <p:spPr>
          <a:xfrm>
            <a:off x="548640" y="6473952"/>
            <a:ext cx="1042416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3 / 12</a:t>
            </a:r>
            <a:endParaRPr lang="en-US" sz="850" dirty="0"/>
          </a:p>
        </p:txBody>
      </p:sp>
      <p:sp>
        <p:nvSpPr>
          <p:cNvPr id="25" name="Text 23"/>
          <p:cNvSpPr/>
          <p:nvPr/>
        </p:nvSpPr>
        <p:spPr>
          <a:xfrm>
            <a:off x="11548872" y="6473952"/>
            <a:ext cx="548640" cy="274320"/>
          </a:xfrm>
          <a:prstGeom prst="rect">
            <a:avLst/>
          </a:prstGeom>
          <a:noFill/>
          <a:ln/>
        </p:spPr>
        <p:txBody>
          <a:bodyPr wrap="square" lIns="0" tIns="0" rIns="0" bIns="0" rtlCol="0" anchor="ctr"/>
          <a:lstStyle/>
          <a:p>
            <a:pPr algn="r" indent="0" marL="0">
              <a:buNone/>
            </a:pPr>
            <a:r>
              <a:rPr lang="en-US" sz="1000" b="1" dirty="0">
                <a:solidFill>
                  <a:srgbClr val="F37021"/>
                </a:solidFill>
                <a:latin typeface="Arial" pitchFamily="34" charset="0"/>
                <a:ea typeface="Arial" pitchFamily="34" charset="-122"/>
                <a:cs typeface="Arial" pitchFamily="34" charset="-120"/>
              </a:rPr>
              <a:t>PD2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03 / THE SOLUTION</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0A1F47"/>
                </a:solidFill>
                <a:latin typeface="Arial" pitchFamily="34" charset="0"/>
                <a:ea typeface="Arial" pitchFamily="34" charset="-122"/>
                <a:cs typeface="Arial" pitchFamily="34" charset="-120"/>
              </a:rPr>
              <a:t>An Ai platform that saves jobs.</a:t>
            </a:r>
            <a:endParaRPr lang="en-US" sz="3000" dirty="0"/>
          </a:p>
        </p:txBody>
      </p:sp>
      <p:sp>
        <p:nvSpPr>
          <p:cNvPr id="4" name="Shape 2"/>
          <p:cNvSpPr/>
          <p:nvPr/>
        </p:nvSpPr>
        <p:spPr>
          <a:xfrm>
            <a:off x="548640" y="1600200"/>
            <a:ext cx="6858000" cy="1280160"/>
          </a:xfrm>
          <a:prstGeom prst="roundRect">
            <a:avLst>
              <a:gd name="adj" fmla="val 5714"/>
            </a:avLst>
          </a:prstGeom>
          <a:solidFill>
            <a:srgbClr val="FFFFFF"/>
          </a:solidFill>
          <a:ln w="12700">
            <a:solidFill>
              <a:srgbClr val="E2E8F0"/>
            </a:solidFill>
            <a:prstDash val="solid"/>
          </a:ln>
        </p:spPr>
      </p:sp>
      <p:sp>
        <p:nvSpPr>
          <p:cNvPr id="5" name="Shape 3"/>
          <p:cNvSpPr/>
          <p:nvPr/>
        </p:nvSpPr>
        <p:spPr>
          <a:xfrm>
            <a:off x="777240" y="2011680"/>
            <a:ext cx="384048" cy="384048"/>
          </a:xfrm>
          <a:prstGeom prst="ellipse">
            <a:avLst/>
          </a:prstGeom>
          <a:solidFill>
            <a:srgbClr val="F37021"/>
          </a:solidFill>
          <a:ln/>
        </p:spPr>
      </p:sp>
      <p:sp>
        <p:nvSpPr>
          <p:cNvPr id="6" name="Text 4"/>
          <p:cNvSpPr/>
          <p:nvPr/>
        </p:nvSpPr>
        <p:spPr>
          <a:xfrm>
            <a:off x="777240" y="200436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371600" y="1728216"/>
            <a:ext cx="5852160" cy="411480"/>
          </a:xfrm>
          <a:prstGeom prst="rect">
            <a:avLst/>
          </a:prstGeom>
          <a:noFill/>
          <a:ln/>
        </p:spPr>
        <p:txBody>
          <a:bodyPr wrap="square" lIns="0" tIns="0" rIns="0" bIns="0" rtlCol="0" anchor="ctr"/>
          <a:lstStyle/>
          <a:p>
            <a:pPr indent="0" marL="0">
              <a:buNone/>
            </a:pPr>
            <a:r>
              <a:rPr lang="en-US" sz="1600" b="1" dirty="0">
                <a:solidFill>
                  <a:srgbClr val="0A1F47"/>
                </a:solidFill>
                <a:latin typeface="Arial" pitchFamily="34" charset="0"/>
                <a:ea typeface="Arial" pitchFamily="34" charset="-122"/>
                <a:cs typeface="Arial" pitchFamily="34" charset="-120"/>
              </a:rPr>
              <a:t>Digitalization — centralised data</a:t>
            </a:r>
            <a:endParaRPr lang="en-US" sz="1600" dirty="0"/>
          </a:p>
        </p:txBody>
      </p:sp>
      <p:sp>
        <p:nvSpPr>
          <p:cNvPr id="8" name="Text 6"/>
          <p:cNvSpPr/>
          <p:nvPr/>
        </p:nvSpPr>
        <p:spPr>
          <a:xfrm>
            <a:off x="1371600" y="2148840"/>
            <a:ext cx="5852160" cy="713232"/>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Excel dashboards and digital records flow into one database. Mobile apps, tablets, AIoT &amp; scanners on the floor.</a:t>
            </a:r>
            <a:endParaRPr lang="en-US" sz="1400" dirty="0"/>
          </a:p>
        </p:txBody>
      </p:sp>
      <p:sp>
        <p:nvSpPr>
          <p:cNvPr id="9" name="Shape 7"/>
          <p:cNvSpPr/>
          <p:nvPr/>
        </p:nvSpPr>
        <p:spPr>
          <a:xfrm>
            <a:off x="548640" y="3017520"/>
            <a:ext cx="6858000" cy="1280160"/>
          </a:xfrm>
          <a:prstGeom prst="roundRect">
            <a:avLst>
              <a:gd name="adj" fmla="val 5714"/>
            </a:avLst>
          </a:prstGeom>
          <a:solidFill>
            <a:srgbClr val="FFFFFF"/>
          </a:solidFill>
          <a:ln w="12700">
            <a:solidFill>
              <a:srgbClr val="E2E8F0"/>
            </a:solidFill>
            <a:prstDash val="solid"/>
          </a:ln>
        </p:spPr>
      </p:sp>
      <p:sp>
        <p:nvSpPr>
          <p:cNvPr id="10" name="Shape 8"/>
          <p:cNvSpPr/>
          <p:nvPr/>
        </p:nvSpPr>
        <p:spPr>
          <a:xfrm>
            <a:off x="777240" y="3429000"/>
            <a:ext cx="384048" cy="384048"/>
          </a:xfrm>
          <a:prstGeom prst="ellipse">
            <a:avLst/>
          </a:prstGeom>
          <a:solidFill>
            <a:srgbClr val="1E4DAA"/>
          </a:solidFill>
          <a:ln/>
        </p:spPr>
      </p:sp>
      <p:sp>
        <p:nvSpPr>
          <p:cNvPr id="11" name="Text 9"/>
          <p:cNvSpPr/>
          <p:nvPr/>
        </p:nvSpPr>
        <p:spPr>
          <a:xfrm>
            <a:off x="777240" y="342168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1371600" y="3145536"/>
            <a:ext cx="5852160" cy="411480"/>
          </a:xfrm>
          <a:prstGeom prst="rect">
            <a:avLst/>
          </a:prstGeom>
          <a:noFill/>
          <a:ln/>
        </p:spPr>
        <p:txBody>
          <a:bodyPr wrap="square" lIns="0" tIns="0" rIns="0" bIns="0" rtlCol="0" anchor="ctr"/>
          <a:lstStyle/>
          <a:p>
            <a:pPr indent="0" marL="0">
              <a:buNone/>
            </a:pPr>
            <a:r>
              <a:rPr lang="en-US" sz="1600" b="1" dirty="0">
                <a:solidFill>
                  <a:srgbClr val="0A1F47"/>
                </a:solidFill>
                <a:latin typeface="Arial" pitchFamily="34" charset="0"/>
                <a:ea typeface="Arial" pitchFamily="34" charset="-122"/>
                <a:cs typeface="Arial" pitchFamily="34" charset="-120"/>
              </a:rPr>
              <a:t>Ai Agentic — agents do the chasing, following &amp; forecasting</a:t>
            </a:r>
            <a:endParaRPr lang="en-US" sz="1600" dirty="0"/>
          </a:p>
        </p:txBody>
      </p:sp>
      <p:sp>
        <p:nvSpPr>
          <p:cNvPr id="13" name="Text 11"/>
          <p:cNvSpPr/>
          <p:nvPr/>
        </p:nvSpPr>
        <p:spPr>
          <a:xfrm>
            <a:off x="1371600" y="3566160"/>
            <a:ext cx="5852160" cy="713232"/>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10 Ai agents handle approvals, reports, compliance filings, chase-ups, and forward-looking forecasts across every module.</a:t>
            </a:r>
            <a:endParaRPr lang="en-US" sz="1400" dirty="0"/>
          </a:p>
        </p:txBody>
      </p:sp>
      <p:sp>
        <p:nvSpPr>
          <p:cNvPr id="14" name="Shape 12"/>
          <p:cNvSpPr/>
          <p:nvPr/>
        </p:nvSpPr>
        <p:spPr>
          <a:xfrm>
            <a:off x="548640" y="4434840"/>
            <a:ext cx="6858000" cy="1280160"/>
          </a:xfrm>
          <a:prstGeom prst="roundRect">
            <a:avLst>
              <a:gd name="adj" fmla="val 5714"/>
            </a:avLst>
          </a:prstGeom>
          <a:solidFill>
            <a:srgbClr val="FFFFFF"/>
          </a:solidFill>
          <a:ln w="12700">
            <a:solidFill>
              <a:srgbClr val="E2E8F0"/>
            </a:solidFill>
            <a:prstDash val="solid"/>
          </a:ln>
        </p:spPr>
      </p:sp>
      <p:sp>
        <p:nvSpPr>
          <p:cNvPr id="15" name="Shape 13"/>
          <p:cNvSpPr/>
          <p:nvPr/>
        </p:nvSpPr>
        <p:spPr>
          <a:xfrm>
            <a:off x="777240" y="4846320"/>
            <a:ext cx="384048" cy="384048"/>
          </a:xfrm>
          <a:prstGeom prst="ellipse">
            <a:avLst/>
          </a:prstGeom>
          <a:solidFill>
            <a:srgbClr val="0A3327"/>
          </a:solidFill>
          <a:ln/>
        </p:spPr>
      </p:sp>
      <p:sp>
        <p:nvSpPr>
          <p:cNvPr id="16" name="Text 14"/>
          <p:cNvSpPr/>
          <p:nvPr/>
        </p:nvSpPr>
        <p:spPr>
          <a:xfrm>
            <a:off x="777240" y="483900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1371600" y="4562856"/>
            <a:ext cx="5852160" cy="411480"/>
          </a:xfrm>
          <a:prstGeom prst="rect">
            <a:avLst/>
          </a:prstGeom>
          <a:noFill/>
          <a:ln/>
        </p:spPr>
        <p:txBody>
          <a:bodyPr wrap="square" lIns="0" tIns="0" rIns="0" bIns="0" rtlCol="0" anchor="ctr"/>
          <a:lstStyle/>
          <a:p>
            <a:pPr indent="0" marL="0">
              <a:buNone/>
            </a:pPr>
            <a:r>
              <a:rPr lang="en-US" sz="1600" b="1" dirty="0">
                <a:solidFill>
                  <a:srgbClr val="0A1F47"/>
                </a:solidFill>
                <a:latin typeface="Arial" pitchFamily="34" charset="0"/>
                <a:ea typeface="Arial" pitchFamily="34" charset="-122"/>
                <a:cs typeface="Arial" pitchFamily="34" charset="-120"/>
              </a:rPr>
              <a:t>Full Ai — executive intelligence</a:t>
            </a:r>
            <a:endParaRPr lang="en-US" sz="1600" dirty="0"/>
          </a:p>
        </p:txBody>
      </p:sp>
      <p:sp>
        <p:nvSpPr>
          <p:cNvPr id="18" name="Text 16"/>
          <p:cNvSpPr/>
          <p:nvPr/>
        </p:nvSpPr>
        <p:spPr>
          <a:xfrm>
            <a:off x="1371600" y="4983480"/>
            <a:ext cx="5852160" cy="713232"/>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The Big Ai Brain: owner-level answers across 5 factories in 1 chat, in Khmer, Chinese or English.</a:t>
            </a:r>
            <a:endParaRPr lang="en-US" sz="1400" dirty="0"/>
          </a:p>
        </p:txBody>
      </p:sp>
      <p:sp>
        <p:nvSpPr>
          <p:cNvPr id="19" name="Shape 17"/>
          <p:cNvSpPr/>
          <p:nvPr/>
        </p:nvSpPr>
        <p:spPr>
          <a:xfrm>
            <a:off x="7680960" y="1600200"/>
            <a:ext cx="3931920" cy="4160520"/>
          </a:xfrm>
          <a:prstGeom prst="roundRect">
            <a:avLst>
              <a:gd name="adj" fmla="val 1860"/>
            </a:avLst>
          </a:prstGeom>
          <a:solidFill>
            <a:srgbClr val="ECFDF5"/>
          </a:solidFill>
          <a:ln w="12700">
            <a:solidFill>
              <a:srgbClr val="A7F3D0"/>
            </a:solidFill>
            <a:prstDash val="solid"/>
          </a:ln>
        </p:spPr>
      </p:sp>
      <p:sp>
        <p:nvSpPr>
          <p:cNvPr id="20" name="Text 18"/>
          <p:cNvSpPr/>
          <p:nvPr/>
        </p:nvSpPr>
        <p:spPr>
          <a:xfrm>
            <a:off x="7909560" y="1783080"/>
            <a:ext cx="3474720" cy="365760"/>
          </a:xfrm>
          <a:prstGeom prst="rect">
            <a:avLst/>
          </a:prstGeom>
          <a:noFill/>
          <a:ln/>
        </p:spPr>
        <p:txBody>
          <a:bodyPr wrap="square" lIns="0" tIns="0" rIns="0" bIns="0" rtlCol="0" anchor="ctr"/>
          <a:lstStyle/>
          <a:p>
            <a:pPr indent="0" marL="0">
              <a:buNone/>
            </a:pPr>
            <a:r>
              <a:rPr lang="en-US" sz="1300" b="1" spc="200" kern="0" dirty="0">
                <a:solidFill>
                  <a:srgbClr val="0A3327"/>
                </a:solidFill>
                <a:latin typeface="Arial" pitchFamily="34" charset="0"/>
                <a:ea typeface="Arial" pitchFamily="34" charset="-122"/>
                <a:cs typeface="Arial" pitchFamily="34" charset="-120"/>
              </a:rPr>
              <a:t>WHY “SAVES JOBS”</a:t>
            </a:r>
            <a:endParaRPr lang="en-US" sz="1300" dirty="0"/>
          </a:p>
        </p:txBody>
      </p:sp>
      <p:sp>
        <p:nvSpPr>
          <p:cNvPr id="21" name="Text 19"/>
          <p:cNvSpPr/>
          <p:nvPr/>
        </p:nvSpPr>
        <p:spPr>
          <a:xfrm>
            <a:off x="7909560" y="2286000"/>
            <a:ext cx="3474720" cy="3337560"/>
          </a:xfrm>
          <a:prstGeom prst="rect">
            <a:avLst/>
          </a:prstGeom>
          <a:noFill/>
          <a:ln/>
        </p:spPr>
        <p:txBody>
          <a:bodyPr wrap="square" lIns="0" tIns="0" rIns="0" bIns="0" rtlCol="0" anchor="ctr"/>
          <a:lstStyle/>
          <a:p>
            <a:pPr indent="0" marL="0">
              <a:spcAft>
                <a:spcPts val="400"/>
              </a:spcAft>
              <a:buNone/>
            </a:pPr>
            <a:r>
              <a:rPr lang="en-US" sz="1900" dirty="0">
                <a:solidFill>
                  <a:srgbClr val="1E293B"/>
                </a:solidFill>
                <a:latin typeface="Arial" pitchFamily="34" charset="0"/>
                <a:ea typeface="Arial" pitchFamily="34" charset="-122"/>
                <a:cs typeface="Arial" pitchFamily="34" charset="-120"/>
              </a:rPr>
              <a:t>Adopt one layer at a time — each builds on the one below, nothing gets ripped out. The same team steps up from paper to Digitalization to Agentic to Full Ai. The owner satisfies the brand and the ministry without replacing their people.</a:t>
            </a:r>
            <a:endParaRPr lang="en-US" sz="1900" dirty="0"/>
          </a:p>
        </p:txBody>
      </p:sp>
      <p:sp>
        <p:nvSpPr>
          <p:cNvPr id="22" name="Text 20"/>
          <p:cNvSpPr/>
          <p:nvPr/>
        </p:nvSpPr>
        <p:spPr>
          <a:xfrm>
            <a:off x="548640" y="5806440"/>
            <a:ext cx="11064240" cy="365760"/>
          </a:xfrm>
          <a:prstGeom prst="rect">
            <a:avLst/>
          </a:prstGeom>
          <a:noFill/>
          <a:ln/>
        </p:spPr>
        <p:txBody>
          <a:bodyPr wrap="square" lIns="0" tIns="0" rIns="0" bIns="0" rtlCol="0" anchor="ctr"/>
          <a:lstStyle/>
          <a:p>
            <a:pPr indent="0" marL="0">
              <a:buNone/>
            </a:pPr>
            <a:r>
              <a:rPr lang="en-US" sz="1200" i="1" dirty="0">
                <a:solidFill>
                  <a:srgbClr val="64748B"/>
                </a:solidFill>
                <a:latin typeface="Arial" pitchFamily="34" charset="0"/>
                <a:ea typeface="Arial" pitchFamily="34" charset="-122"/>
                <a:cs typeface="Arial" pitchFamily="34" charset="-120"/>
              </a:rPr>
              <a:t>Mindset-shift sales: convincing factory mid + top management to climb the ladder.</a:t>
            </a:r>
            <a:endParaRPr lang="en-US" sz="1200" dirty="0"/>
          </a:p>
        </p:txBody>
      </p:sp>
      <p:sp>
        <p:nvSpPr>
          <p:cNvPr id="23" name="Text 21"/>
          <p:cNvSpPr/>
          <p:nvPr/>
        </p:nvSpPr>
        <p:spPr>
          <a:xfrm>
            <a:off x="548640" y="6473952"/>
            <a:ext cx="1042416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4 / 12</a:t>
            </a:r>
            <a:endParaRPr lang="en-US" sz="850" dirty="0"/>
          </a:p>
        </p:txBody>
      </p:sp>
      <p:sp>
        <p:nvSpPr>
          <p:cNvPr id="24" name="Text 22"/>
          <p:cNvSpPr/>
          <p:nvPr/>
        </p:nvSpPr>
        <p:spPr>
          <a:xfrm>
            <a:off x="11548872" y="6473952"/>
            <a:ext cx="548640" cy="274320"/>
          </a:xfrm>
          <a:prstGeom prst="rect">
            <a:avLst/>
          </a:prstGeom>
          <a:noFill/>
          <a:ln/>
        </p:spPr>
        <p:txBody>
          <a:bodyPr wrap="square" lIns="0" tIns="0" rIns="0" bIns="0" rtlCol="0" anchor="ctr"/>
          <a:lstStyle/>
          <a:p>
            <a:pPr algn="r" indent="0" marL="0">
              <a:buNone/>
            </a:pPr>
            <a:r>
              <a:rPr lang="en-US" sz="1000" b="1" dirty="0">
                <a:solidFill>
                  <a:srgbClr val="F37021"/>
                </a:solidFill>
                <a:latin typeface="Arial" pitchFamily="34" charset="0"/>
                <a:ea typeface="Arial" pitchFamily="34" charset="-122"/>
                <a:cs typeface="Arial" pitchFamily="34" charset="-120"/>
              </a:rPr>
              <a:t>PD2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04 / PRODUCT ARCHITECTURE</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0A1F47"/>
                </a:solidFill>
                <a:latin typeface="Arial" pitchFamily="34" charset="0"/>
                <a:ea typeface="Arial" pitchFamily="34" charset="-122"/>
                <a:cs typeface="Arial" pitchFamily="34" charset="-120"/>
              </a:rPr>
              <a:t>From paper to Full Ai — three Yai layers.</a:t>
            </a:r>
            <a:endParaRPr lang="en-US" sz="3000" dirty="0"/>
          </a:p>
        </p:txBody>
      </p:sp>
      <p:sp>
        <p:nvSpPr>
          <p:cNvPr id="4" name="Shape 2"/>
          <p:cNvSpPr/>
          <p:nvPr/>
        </p:nvSpPr>
        <p:spPr>
          <a:xfrm>
            <a:off x="548640" y="1600200"/>
            <a:ext cx="2743200" cy="4572000"/>
          </a:xfrm>
          <a:prstGeom prst="roundRect">
            <a:avLst>
              <a:gd name="adj" fmla="val 2667"/>
            </a:avLst>
          </a:prstGeom>
          <a:solidFill>
            <a:srgbClr val="F1F5F9"/>
          </a:solidFill>
          <a:ln w="12700">
            <a:solidFill>
              <a:srgbClr val="CBD5E1"/>
            </a:solidFill>
            <a:prstDash val="solid"/>
          </a:ln>
        </p:spPr>
      </p:sp>
      <p:sp>
        <p:nvSpPr>
          <p:cNvPr id="5" name="Shape 3"/>
          <p:cNvSpPr/>
          <p:nvPr/>
        </p:nvSpPr>
        <p:spPr>
          <a:xfrm>
            <a:off x="731520" y="1737360"/>
            <a:ext cx="1051560" cy="310896"/>
          </a:xfrm>
          <a:prstGeom prst="roundRect">
            <a:avLst>
              <a:gd name="adj" fmla="val 17647"/>
            </a:avLst>
          </a:prstGeom>
          <a:solidFill>
            <a:srgbClr val="CBD5E1"/>
          </a:solidFill>
          <a:ln/>
        </p:spPr>
      </p:sp>
      <p:sp>
        <p:nvSpPr>
          <p:cNvPr id="6" name="Text 4"/>
          <p:cNvSpPr/>
          <p:nvPr/>
        </p:nvSpPr>
        <p:spPr>
          <a:xfrm>
            <a:off x="731520" y="1737360"/>
            <a:ext cx="1051560" cy="310896"/>
          </a:xfrm>
          <a:prstGeom prst="rect">
            <a:avLst/>
          </a:prstGeom>
          <a:noFill/>
          <a:ln/>
        </p:spPr>
        <p:txBody>
          <a:bodyPr wrap="square" lIns="0" tIns="0" rIns="0" bIns="0" rtlCol="0" anchor="ctr"/>
          <a:lstStyle/>
          <a:p>
            <a:pPr algn="ctr" indent="0" marL="0">
              <a:buNone/>
            </a:pPr>
            <a:r>
              <a:rPr lang="en-US" sz="1100" b="1" spc="200" kern="0" dirty="0">
                <a:solidFill>
                  <a:srgbClr val="334155"/>
                </a:solidFill>
                <a:latin typeface="Arial" pitchFamily="34" charset="0"/>
                <a:ea typeface="Arial" pitchFamily="34" charset="-122"/>
                <a:cs typeface="Arial" pitchFamily="34" charset="-120"/>
              </a:rPr>
              <a:t>TODAY</a:t>
            </a:r>
            <a:endParaRPr lang="en-US" sz="1100" dirty="0"/>
          </a:p>
        </p:txBody>
      </p:sp>
      <p:sp>
        <p:nvSpPr>
          <p:cNvPr id="7" name="Text 5"/>
          <p:cNvSpPr/>
          <p:nvPr/>
        </p:nvSpPr>
        <p:spPr>
          <a:xfrm>
            <a:off x="731520" y="2121408"/>
            <a:ext cx="2377440" cy="502920"/>
          </a:xfrm>
          <a:prstGeom prst="rect">
            <a:avLst/>
          </a:prstGeom>
          <a:noFill/>
          <a:ln/>
        </p:spPr>
        <p:txBody>
          <a:bodyPr wrap="square" lIns="0" tIns="0" rIns="0" bIns="0" rtlCol="0" anchor="ctr"/>
          <a:lstStyle/>
          <a:p>
            <a:pPr indent="0" marL="0">
              <a:buNone/>
            </a:pPr>
            <a:r>
              <a:rPr lang="en-US" sz="2000" b="1" dirty="0">
                <a:solidFill>
                  <a:srgbClr val="0A1F47"/>
                </a:solidFill>
                <a:latin typeface="Arial" pitchFamily="34" charset="0"/>
                <a:ea typeface="Arial" pitchFamily="34" charset="-122"/>
                <a:cs typeface="Arial" pitchFamily="34" charset="-120"/>
              </a:rPr>
              <a:t>Traditional Factory Work</a:t>
            </a:r>
            <a:endParaRPr lang="en-US" sz="2000" dirty="0"/>
          </a:p>
        </p:txBody>
      </p:sp>
      <p:sp>
        <p:nvSpPr>
          <p:cNvPr id="8" name="Text 6"/>
          <p:cNvSpPr/>
          <p:nvPr/>
        </p:nvSpPr>
        <p:spPr>
          <a:xfrm>
            <a:off x="731520" y="2670048"/>
            <a:ext cx="2377440" cy="50292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Disconnected &amp; manual — what Yai replaces</a:t>
            </a:r>
            <a:endParaRPr lang="en-US" sz="1300" dirty="0"/>
          </a:p>
        </p:txBody>
      </p:sp>
      <p:sp>
        <p:nvSpPr>
          <p:cNvPr id="9" name="Text 7"/>
          <p:cNvSpPr/>
          <p:nvPr/>
        </p:nvSpPr>
        <p:spPr>
          <a:xfrm>
            <a:off x="731520" y="3200400"/>
            <a:ext cx="2377440" cy="1600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The reality most garment factories are stuck in today. Yai doesn't deliver this layer; it replaces it.</a:t>
            </a:r>
            <a:endParaRPr lang="en-US" sz="1300" dirty="0"/>
          </a:p>
        </p:txBody>
      </p:sp>
      <p:pic>
        <p:nvPicPr>
          <p:cNvPr id="10" name="Image 0" descr="preencoded.png">    </p:cNvPr>
          <p:cNvPicPr>
            <a:picLocks noChangeAspect="1"/>
          </p:cNvPicPr>
          <p:nvPr/>
        </p:nvPicPr>
        <p:blipFill>
          <a:blip r:embed="rId1"/>
          <a:stretch>
            <a:fillRect/>
          </a:stretch>
        </p:blipFill>
        <p:spPr>
          <a:xfrm>
            <a:off x="731520" y="4892040"/>
            <a:ext cx="438912" cy="438912"/>
          </a:xfrm>
          <a:prstGeom prst="rect">
            <a:avLst/>
          </a:prstGeom>
        </p:spPr>
      </p:pic>
      <p:sp>
        <p:nvSpPr>
          <p:cNvPr id="11" name="Text 8"/>
          <p:cNvSpPr/>
          <p:nvPr/>
        </p:nvSpPr>
        <p:spPr>
          <a:xfrm>
            <a:off x="1243584"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Paper reports</a:t>
            </a:r>
            <a:endParaRPr lang="en-US" sz="1100" dirty="0"/>
          </a:p>
        </p:txBody>
      </p:sp>
      <p:pic>
        <p:nvPicPr>
          <p:cNvPr id="12" name="Image 1" descr="preencoded.png">    </p:cNvPr>
          <p:cNvPicPr>
            <a:picLocks noChangeAspect="1"/>
          </p:cNvPicPr>
          <p:nvPr/>
        </p:nvPicPr>
        <p:blipFill>
          <a:blip r:embed="rId2"/>
          <a:stretch>
            <a:fillRect/>
          </a:stretch>
        </p:blipFill>
        <p:spPr>
          <a:xfrm>
            <a:off x="1920240" y="4892040"/>
            <a:ext cx="438912" cy="438912"/>
          </a:xfrm>
          <a:prstGeom prst="rect">
            <a:avLst/>
          </a:prstGeom>
        </p:spPr>
      </p:pic>
      <p:sp>
        <p:nvSpPr>
          <p:cNvPr id="13" name="Text 9"/>
          <p:cNvSpPr/>
          <p:nvPr/>
        </p:nvSpPr>
        <p:spPr>
          <a:xfrm>
            <a:off x="2432304"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Ledger books</a:t>
            </a:r>
            <a:endParaRPr lang="en-US" sz="1100" dirty="0"/>
          </a:p>
        </p:txBody>
      </p:sp>
      <p:pic>
        <p:nvPicPr>
          <p:cNvPr id="14" name="Image 2" descr="preencoded.png">    </p:cNvPr>
          <p:cNvPicPr>
            <a:picLocks noChangeAspect="1"/>
          </p:cNvPicPr>
          <p:nvPr/>
        </p:nvPicPr>
        <p:blipFill>
          <a:blip r:embed="rId3"/>
          <a:stretch>
            <a:fillRect/>
          </a:stretch>
        </p:blipFill>
        <p:spPr>
          <a:xfrm>
            <a:off x="731520" y="5550408"/>
            <a:ext cx="438912" cy="438912"/>
          </a:xfrm>
          <a:prstGeom prst="rect">
            <a:avLst/>
          </a:prstGeom>
        </p:spPr>
      </p:pic>
      <p:sp>
        <p:nvSpPr>
          <p:cNvPr id="15" name="Text 10"/>
          <p:cNvSpPr/>
          <p:nvPr/>
        </p:nvSpPr>
        <p:spPr>
          <a:xfrm>
            <a:off x="1243584"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Scattered chat</a:t>
            </a:r>
            <a:endParaRPr lang="en-US" sz="1100" dirty="0"/>
          </a:p>
        </p:txBody>
      </p:sp>
      <p:pic>
        <p:nvPicPr>
          <p:cNvPr id="16" name="Image 3" descr="preencoded.png">    </p:cNvPr>
          <p:cNvPicPr>
            <a:picLocks noChangeAspect="1"/>
          </p:cNvPicPr>
          <p:nvPr/>
        </p:nvPicPr>
        <p:blipFill>
          <a:blip r:embed="rId4"/>
          <a:stretch>
            <a:fillRect/>
          </a:stretch>
        </p:blipFill>
        <p:spPr>
          <a:xfrm>
            <a:off x="1920240" y="5550408"/>
            <a:ext cx="438912" cy="438912"/>
          </a:xfrm>
          <a:prstGeom prst="rect">
            <a:avLst/>
          </a:prstGeom>
        </p:spPr>
      </p:pic>
      <p:sp>
        <p:nvSpPr>
          <p:cNvPr id="17" name="Text 11"/>
          <p:cNvSpPr/>
          <p:nvPr/>
        </p:nvSpPr>
        <p:spPr>
          <a:xfrm>
            <a:off x="2432304"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Manual signing</a:t>
            </a:r>
            <a:endParaRPr lang="en-US" sz="1100" dirty="0"/>
          </a:p>
        </p:txBody>
      </p:sp>
      <p:sp>
        <p:nvSpPr>
          <p:cNvPr id="18" name="Shape 12"/>
          <p:cNvSpPr/>
          <p:nvPr/>
        </p:nvSpPr>
        <p:spPr>
          <a:xfrm>
            <a:off x="3401568" y="1600200"/>
            <a:ext cx="2743200" cy="4572000"/>
          </a:xfrm>
          <a:prstGeom prst="roundRect">
            <a:avLst>
              <a:gd name="adj" fmla="val 2667"/>
            </a:avLst>
          </a:prstGeom>
          <a:solidFill>
            <a:srgbClr val="FFF1E0"/>
          </a:solidFill>
          <a:ln w="12700">
            <a:solidFill>
              <a:srgbClr val="FDBA74"/>
            </a:solidFill>
            <a:prstDash val="solid"/>
          </a:ln>
        </p:spPr>
      </p:sp>
      <p:sp>
        <p:nvSpPr>
          <p:cNvPr id="19" name="Shape 13"/>
          <p:cNvSpPr/>
          <p:nvPr/>
        </p:nvSpPr>
        <p:spPr>
          <a:xfrm>
            <a:off x="3584448" y="1737360"/>
            <a:ext cx="1051560" cy="310896"/>
          </a:xfrm>
          <a:prstGeom prst="roundRect">
            <a:avLst>
              <a:gd name="adj" fmla="val 17647"/>
            </a:avLst>
          </a:prstGeom>
          <a:solidFill>
            <a:srgbClr val="F37021"/>
          </a:solidFill>
          <a:ln/>
        </p:spPr>
      </p:sp>
      <p:sp>
        <p:nvSpPr>
          <p:cNvPr id="20" name="Text 14"/>
          <p:cNvSpPr/>
          <p:nvPr/>
        </p:nvSpPr>
        <p:spPr>
          <a:xfrm>
            <a:off x="3584448" y="1737360"/>
            <a:ext cx="10515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LAYER 1</a:t>
            </a:r>
            <a:endParaRPr lang="en-US" sz="1100" dirty="0"/>
          </a:p>
        </p:txBody>
      </p:sp>
      <p:sp>
        <p:nvSpPr>
          <p:cNvPr id="21" name="Text 15"/>
          <p:cNvSpPr/>
          <p:nvPr/>
        </p:nvSpPr>
        <p:spPr>
          <a:xfrm>
            <a:off x="3584448" y="2121408"/>
            <a:ext cx="2377440" cy="502920"/>
          </a:xfrm>
          <a:prstGeom prst="rect">
            <a:avLst/>
          </a:prstGeom>
          <a:noFill/>
          <a:ln/>
        </p:spPr>
        <p:txBody>
          <a:bodyPr wrap="square" lIns="0" tIns="0" rIns="0" bIns="0" rtlCol="0" anchor="ctr"/>
          <a:lstStyle/>
          <a:p>
            <a:pPr indent="0" marL="0">
              <a:buNone/>
            </a:pPr>
            <a:r>
              <a:rPr lang="en-US" sz="2000" b="1" dirty="0">
                <a:solidFill>
                  <a:srgbClr val="0A1F47"/>
                </a:solidFill>
                <a:latin typeface="Arial" pitchFamily="34" charset="0"/>
                <a:ea typeface="Arial" pitchFamily="34" charset="-122"/>
                <a:cs typeface="Arial" pitchFamily="34" charset="-120"/>
              </a:rPr>
              <a:t>Digitalization</a:t>
            </a:r>
            <a:endParaRPr lang="en-US" sz="2000" dirty="0"/>
          </a:p>
        </p:txBody>
      </p:sp>
      <p:sp>
        <p:nvSpPr>
          <p:cNvPr id="22" name="Text 16"/>
          <p:cNvSpPr/>
          <p:nvPr/>
        </p:nvSpPr>
        <p:spPr>
          <a:xfrm>
            <a:off x="3584448" y="2670048"/>
            <a:ext cx="2377440" cy="50292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Centralised data</a:t>
            </a:r>
            <a:endParaRPr lang="en-US" sz="1300" dirty="0"/>
          </a:p>
        </p:txBody>
      </p:sp>
      <p:sp>
        <p:nvSpPr>
          <p:cNvPr id="23" name="Text 17"/>
          <p:cNvSpPr/>
          <p:nvPr/>
        </p:nvSpPr>
        <p:spPr>
          <a:xfrm>
            <a:off x="3584448" y="3200400"/>
            <a:ext cx="2377440" cy="1600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Excel dashboards and digital records flow into one database. The foundation for everything above.</a:t>
            </a:r>
            <a:endParaRPr lang="en-US" sz="1300" dirty="0"/>
          </a:p>
        </p:txBody>
      </p:sp>
      <p:pic>
        <p:nvPicPr>
          <p:cNvPr id="24" name="Image 4" descr="preencoded.png">    </p:cNvPr>
          <p:cNvPicPr>
            <a:picLocks noChangeAspect="1"/>
          </p:cNvPicPr>
          <p:nvPr/>
        </p:nvPicPr>
        <p:blipFill>
          <a:blip r:embed="rId5"/>
          <a:stretch>
            <a:fillRect/>
          </a:stretch>
        </p:blipFill>
        <p:spPr>
          <a:xfrm>
            <a:off x="3584448" y="4892040"/>
            <a:ext cx="438912" cy="438912"/>
          </a:xfrm>
          <a:prstGeom prst="rect">
            <a:avLst/>
          </a:prstGeom>
        </p:spPr>
      </p:pic>
      <p:sp>
        <p:nvSpPr>
          <p:cNvPr id="25" name="Text 18"/>
          <p:cNvSpPr/>
          <p:nvPr/>
        </p:nvSpPr>
        <p:spPr>
          <a:xfrm>
            <a:off x="4096512"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One database</a:t>
            </a:r>
            <a:endParaRPr lang="en-US" sz="1100" dirty="0"/>
          </a:p>
        </p:txBody>
      </p:sp>
      <p:pic>
        <p:nvPicPr>
          <p:cNvPr id="26" name="Image 5" descr="preencoded.png">    </p:cNvPr>
          <p:cNvPicPr>
            <a:picLocks noChangeAspect="1"/>
          </p:cNvPicPr>
          <p:nvPr/>
        </p:nvPicPr>
        <p:blipFill>
          <a:blip r:embed="rId6"/>
          <a:stretch>
            <a:fillRect/>
          </a:stretch>
        </p:blipFill>
        <p:spPr>
          <a:xfrm>
            <a:off x="4773168" y="4892040"/>
            <a:ext cx="438912" cy="438912"/>
          </a:xfrm>
          <a:prstGeom prst="rect">
            <a:avLst/>
          </a:prstGeom>
        </p:spPr>
      </p:pic>
      <p:sp>
        <p:nvSpPr>
          <p:cNvPr id="27" name="Text 19"/>
          <p:cNvSpPr/>
          <p:nvPr/>
        </p:nvSpPr>
        <p:spPr>
          <a:xfrm>
            <a:off x="5285232"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Digital records</a:t>
            </a:r>
            <a:endParaRPr lang="en-US" sz="1100" dirty="0"/>
          </a:p>
        </p:txBody>
      </p:sp>
      <p:pic>
        <p:nvPicPr>
          <p:cNvPr id="28" name="Image 6" descr="preencoded.png">    </p:cNvPr>
          <p:cNvPicPr>
            <a:picLocks noChangeAspect="1"/>
          </p:cNvPicPr>
          <p:nvPr/>
        </p:nvPicPr>
        <p:blipFill>
          <a:blip r:embed="rId7"/>
          <a:stretch>
            <a:fillRect/>
          </a:stretch>
        </p:blipFill>
        <p:spPr>
          <a:xfrm>
            <a:off x="3584448" y="5550408"/>
            <a:ext cx="438912" cy="438912"/>
          </a:xfrm>
          <a:prstGeom prst="rect">
            <a:avLst/>
          </a:prstGeom>
        </p:spPr>
      </p:pic>
      <p:sp>
        <p:nvSpPr>
          <p:cNvPr id="29" name="Text 20"/>
          <p:cNvSpPr/>
          <p:nvPr/>
        </p:nvSpPr>
        <p:spPr>
          <a:xfrm>
            <a:off x="4096512"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Mobile apps</a:t>
            </a:r>
            <a:endParaRPr lang="en-US" sz="1100" dirty="0"/>
          </a:p>
        </p:txBody>
      </p:sp>
      <p:pic>
        <p:nvPicPr>
          <p:cNvPr id="30" name="Image 7" descr="preencoded.png">    </p:cNvPr>
          <p:cNvPicPr>
            <a:picLocks noChangeAspect="1"/>
          </p:cNvPicPr>
          <p:nvPr/>
        </p:nvPicPr>
        <p:blipFill>
          <a:blip r:embed="rId8"/>
          <a:stretch>
            <a:fillRect/>
          </a:stretch>
        </p:blipFill>
        <p:spPr>
          <a:xfrm>
            <a:off x="4773168" y="5550408"/>
            <a:ext cx="438912" cy="438912"/>
          </a:xfrm>
          <a:prstGeom prst="rect">
            <a:avLst/>
          </a:prstGeom>
        </p:spPr>
      </p:pic>
      <p:sp>
        <p:nvSpPr>
          <p:cNvPr id="31" name="Text 21"/>
          <p:cNvSpPr/>
          <p:nvPr/>
        </p:nvSpPr>
        <p:spPr>
          <a:xfrm>
            <a:off x="5285232"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AIoT &amp; scanners</a:t>
            </a:r>
            <a:endParaRPr lang="en-US" sz="1100" dirty="0"/>
          </a:p>
        </p:txBody>
      </p:sp>
      <p:sp>
        <p:nvSpPr>
          <p:cNvPr id="32" name="Shape 22"/>
          <p:cNvSpPr/>
          <p:nvPr/>
        </p:nvSpPr>
        <p:spPr>
          <a:xfrm>
            <a:off x="6254496" y="1600200"/>
            <a:ext cx="2743200" cy="4572000"/>
          </a:xfrm>
          <a:prstGeom prst="roundRect">
            <a:avLst>
              <a:gd name="adj" fmla="val 2667"/>
            </a:avLst>
          </a:prstGeom>
          <a:solidFill>
            <a:srgbClr val="EFF6FF"/>
          </a:solidFill>
          <a:ln w="12700">
            <a:solidFill>
              <a:srgbClr val="93C5FD"/>
            </a:solidFill>
            <a:prstDash val="solid"/>
          </a:ln>
        </p:spPr>
      </p:sp>
      <p:sp>
        <p:nvSpPr>
          <p:cNvPr id="33" name="Shape 23"/>
          <p:cNvSpPr/>
          <p:nvPr/>
        </p:nvSpPr>
        <p:spPr>
          <a:xfrm>
            <a:off x="6437376" y="1737360"/>
            <a:ext cx="1051560" cy="310896"/>
          </a:xfrm>
          <a:prstGeom prst="roundRect">
            <a:avLst>
              <a:gd name="adj" fmla="val 17647"/>
            </a:avLst>
          </a:prstGeom>
          <a:solidFill>
            <a:srgbClr val="1E4DAA"/>
          </a:solidFill>
          <a:ln/>
        </p:spPr>
      </p:sp>
      <p:sp>
        <p:nvSpPr>
          <p:cNvPr id="34" name="Text 24"/>
          <p:cNvSpPr/>
          <p:nvPr/>
        </p:nvSpPr>
        <p:spPr>
          <a:xfrm>
            <a:off x="6437376" y="1737360"/>
            <a:ext cx="10515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LAYER 2</a:t>
            </a:r>
            <a:endParaRPr lang="en-US" sz="1100" dirty="0"/>
          </a:p>
        </p:txBody>
      </p:sp>
      <p:sp>
        <p:nvSpPr>
          <p:cNvPr id="35" name="Text 25"/>
          <p:cNvSpPr/>
          <p:nvPr/>
        </p:nvSpPr>
        <p:spPr>
          <a:xfrm>
            <a:off x="6437376" y="2121408"/>
            <a:ext cx="2377440" cy="502920"/>
          </a:xfrm>
          <a:prstGeom prst="rect">
            <a:avLst/>
          </a:prstGeom>
          <a:noFill/>
          <a:ln/>
        </p:spPr>
        <p:txBody>
          <a:bodyPr wrap="square" lIns="0" tIns="0" rIns="0" bIns="0" rtlCol="0" anchor="ctr"/>
          <a:lstStyle/>
          <a:p>
            <a:pPr indent="0" marL="0">
              <a:buNone/>
            </a:pPr>
            <a:r>
              <a:rPr lang="en-US" sz="2000" b="1" dirty="0">
                <a:solidFill>
                  <a:srgbClr val="0A1F47"/>
                </a:solidFill>
                <a:latin typeface="Arial" pitchFamily="34" charset="0"/>
                <a:ea typeface="Arial" pitchFamily="34" charset="-122"/>
                <a:cs typeface="Arial" pitchFamily="34" charset="-120"/>
              </a:rPr>
              <a:t>Agentic</a:t>
            </a:r>
            <a:endParaRPr lang="en-US" sz="2000" dirty="0"/>
          </a:p>
        </p:txBody>
      </p:sp>
      <p:sp>
        <p:nvSpPr>
          <p:cNvPr id="36" name="Text 26"/>
          <p:cNvSpPr/>
          <p:nvPr/>
        </p:nvSpPr>
        <p:spPr>
          <a:xfrm>
            <a:off x="6437376" y="2670048"/>
            <a:ext cx="2377440" cy="50292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LLM-powered intelligent agents</a:t>
            </a:r>
            <a:endParaRPr lang="en-US" sz="1300" dirty="0"/>
          </a:p>
        </p:txBody>
      </p:sp>
      <p:sp>
        <p:nvSpPr>
          <p:cNvPr id="37" name="Text 27"/>
          <p:cNvSpPr/>
          <p:nvPr/>
        </p:nvSpPr>
        <p:spPr>
          <a:xfrm>
            <a:off x="6437376" y="3200400"/>
            <a:ext cx="2377440" cy="1600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Ai agents refine workflows. Voice, text, dashboards and digital-twin visualisation on every device.</a:t>
            </a:r>
            <a:endParaRPr lang="en-US" sz="1300" dirty="0"/>
          </a:p>
        </p:txBody>
      </p:sp>
      <p:pic>
        <p:nvPicPr>
          <p:cNvPr id="38" name="Image 8" descr="preencoded.png">    </p:cNvPr>
          <p:cNvPicPr>
            <a:picLocks noChangeAspect="1"/>
          </p:cNvPicPr>
          <p:nvPr/>
        </p:nvPicPr>
        <p:blipFill>
          <a:blip r:embed="rId9"/>
          <a:stretch>
            <a:fillRect/>
          </a:stretch>
        </p:blipFill>
        <p:spPr>
          <a:xfrm>
            <a:off x="6437376" y="4892040"/>
            <a:ext cx="438912" cy="438912"/>
          </a:xfrm>
          <a:prstGeom prst="rect">
            <a:avLst/>
          </a:prstGeom>
        </p:spPr>
      </p:pic>
      <p:sp>
        <p:nvSpPr>
          <p:cNvPr id="39" name="Text 28"/>
          <p:cNvSpPr/>
          <p:nvPr/>
        </p:nvSpPr>
        <p:spPr>
          <a:xfrm>
            <a:off x="6949440"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Voice-to-workflow</a:t>
            </a:r>
            <a:endParaRPr lang="en-US" sz="1100" dirty="0"/>
          </a:p>
        </p:txBody>
      </p:sp>
      <p:pic>
        <p:nvPicPr>
          <p:cNvPr id="40" name="Image 9" descr="preencoded.png">    </p:cNvPr>
          <p:cNvPicPr>
            <a:picLocks noChangeAspect="1"/>
          </p:cNvPicPr>
          <p:nvPr/>
        </p:nvPicPr>
        <p:blipFill>
          <a:blip r:embed="rId10"/>
          <a:stretch>
            <a:fillRect/>
          </a:stretch>
        </p:blipFill>
        <p:spPr>
          <a:xfrm>
            <a:off x="7626096" y="4892040"/>
            <a:ext cx="438912" cy="438912"/>
          </a:xfrm>
          <a:prstGeom prst="rect">
            <a:avLst/>
          </a:prstGeom>
        </p:spPr>
      </p:pic>
      <p:sp>
        <p:nvSpPr>
          <p:cNvPr id="41" name="Text 29"/>
          <p:cNvSpPr/>
          <p:nvPr/>
        </p:nvSpPr>
        <p:spPr>
          <a:xfrm>
            <a:off x="8138160"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LLM agents</a:t>
            </a:r>
            <a:endParaRPr lang="en-US" sz="1100" dirty="0"/>
          </a:p>
        </p:txBody>
      </p:sp>
      <p:pic>
        <p:nvPicPr>
          <p:cNvPr id="42" name="Image 10" descr="preencoded.png">    </p:cNvPr>
          <p:cNvPicPr>
            <a:picLocks noChangeAspect="1"/>
          </p:cNvPicPr>
          <p:nvPr/>
        </p:nvPicPr>
        <p:blipFill>
          <a:blip r:embed="rId11"/>
          <a:stretch>
            <a:fillRect/>
          </a:stretch>
        </p:blipFill>
        <p:spPr>
          <a:xfrm>
            <a:off x="6437376" y="5550408"/>
            <a:ext cx="438912" cy="438912"/>
          </a:xfrm>
          <a:prstGeom prst="rect">
            <a:avLst/>
          </a:prstGeom>
        </p:spPr>
      </p:pic>
      <p:sp>
        <p:nvSpPr>
          <p:cNvPr id="43" name="Text 30"/>
          <p:cNvSpPr/>
          <p:nvPr/>
        </p:nvSpPr>
        <p:spPr>
          <a:xfrm>
            <a:off x="6949440"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Dashboards &amp; DTV</a:t>
            </a:r>
            <a:endParaRPr lang="en-US" sz="1100" dirty="0"/>
          </a:p>
        </p:txBody>
      </p:sp>
      <p:pic>
        <p:nvPicPr>
          <p:cNvPr id="44" name="Image 11" descr="preencoded.png">    </p:cNvPr>
          <p:cNvPicPr>
            <a:picLocks noChangeAspect="1"/>
          </p:cNvPicPr>
          <p:nvPr/>
        </p:nvPicPr>
        <p:blipFill>
          <a:blip r:embed="rId12"/>
          <a:stretch>
            <a:fillRect/>
          </a:stretch>
        </p:blipFill>
        <p:spPr>
          <a:xfrm>
            <a:off x="7626096" y="5550408"/>
            <a:ext cx="438912" cy="438912"/>
          </a:xfrm>
          <a:prstGeom prst="rect">
            <a:avLst/>
          </a:prstGeom>
        </p:spPr>
      </p:pic>
      <p:sp>
        <p:nvSpPr>
          <p:cNvPr id="45" name="Text 31"/>
          <p:cNvSpPr/>
          <p:nvPr/>
        </p:nvSpPr>
        <p:spPr>
          <a:xfrm>
            <a:off x="8138160"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Real-time guidance</a:t>
            </a:r>
            <a:endParaRPr lang="en-US" sz="1100" dirty="0"/>
          </a:p>
        </p:txBody>
      </p:sp>
      <p:sp>
        <p:nvSpPr>
          <p:cNvPr id="46" name="Shape 32"/>
          <p:cNvSpPr/>
          <p:nvPr/>
        </p:nvSpPr>
        <p:spPr>
          <a:xfrm>
            <a:off x="9107424" y="1600200"/>
            <a:ext cx="2743200" cy="4572000"/>
          </a:xfrm>
          <a:prstGeom prst="roundRect">
            <a:avLst>
              <a:gd name="adj" fmla="val 2667"/>
            </a:avLst>
          </a:prstGeom>
          <a:solidFill>
            <a:srgbClr val="ECFDF5"/>
          </a:solidFill>
          <a:ln w="12700">
            <a:solidFill>
              <a:srgbClr val="6EE7B7"/>
            </a:solidFill>
            <a:prstDash val="solid"/>
          </a:ln>
        </p:spPr>
      </p:sp>
      <p:sp>
        <p:nvSpPr>
          <p:cNvPr id="47" name="Shape 33"/>
          <p:cNvSpPr/>
          <p:nvPr/>
        </p:nvSpPr>
        <p:spPr>
          <a:xfrm>
            <a:off x="9290304" y="1737360"/>
            <a:ext cx="1051560" cy="310896"/>
          </a:xfrm>
          <a:prstGeom prst="roundRect">
            <a:avLst>
              <a:gd name="adj" fmla="val 17647"/>
            </a:avLst>
          </a:prstGeom>
          <a:solidFill>
            <a:srgbClr val="0A3327"/>
          </a:solidFill>
          <a:ln/>
        </p:spPr>
      </p:sp>
      <p:sp>
        <p:nvSpPr>
          <p:cNvPr id="48" name="Text 34"/>
          <p:cNvSpPr/>
          <p:nvPr/>
        </p:nvSpPr>
        <p:spPr>
          <a:xfrm>
            <a:off x="9290304" y="1737360"/>
            <a:ext cx="1051560" cy="310896"/>
          </a:xfrm>
          <a:prstGeom prst="rect">
            <a:avLst/>
          </a:prstGeom>
          <a:noFill/>
          <a:ln/>
        </p:spPr>
        <p:txBody>
          <a:bodyPr wrap="square" lIns="0" tIns="0" rIns="0" bIns="0" rtlCol="0" anchor="ctr"/>
          <a:lstStyle/>
          <a:p>
            <a:pPr algn="ctr" indent="0" marL="0">
              <a:buNone/>
            </a:pPr>
            <a:r>
              <a:rPr lang="en-US" sz="1100" b="1" spc="200" kern="0" dirty="0">
                <a:solidFill>
                  <a:srgbClr val="FBBF24"/>
                </a:solidFill>
                <a:latin typeface="Arial" pitchFamily="34" charset="0"/>
                <a:ea typeface="Arial" pitchFamily="34" charset="-122"/>
                <a:cs typeface="Arial" pitchFamily="34" charset="-120"/>
              </a:rPr>
              <a:t>LAYER 3</a:t>
            </a:r>
            <a:endParaRPr lang="en-US" sz="1100" dirty="0"/>
          </a:p>
        </p:txBody>
      </p:sp>
      <p:sp>
        <p:nvSpPr>
          <p:cNvPr id="49" name="Text 35"/>
          <p:cNvSpPr/>
          <p:nvPr/>
        </p:nvSpPr>
        <p:spPr>
          <a:xfrm>
            <a:off x="9290304" y="2121408"/>
            <a:ext cx="2377440" cy="502920"/>
          </a:xfrm>
          <a:prstGeom prst="rect">
            <a:avLst/>
          </a:prstGeom>
          <a:noFill/>
          <a:ln/>
        </p:spPr>
        <p:txBody>
          <a:bodyPr wrap="square" lIns="0" tIns="0" rIns="0" bIns="0" rtlCol="0" anchor="ctr"/>
          <a:lstStyle/>
          <a:p>
            <a:pPr indent="0" marL="0">
              <a:buNone/>
            </a:pPr>
            <a:r>
              <a:rPr lang="en-US" sz="2000" b="1" dirty="0">
                <a:solidFill>
                  <a:srgbClr val="0A1F47"/>
                </a:solidFill>
                <a:latin typeface="Arial" pitchFamily="34" charset="0"/>
                <a:ea typeface="Arial" pitchFamily="34" charset="-122"/>
                <a:cs typeface="Arial" pitchFamily="34" charset="-120"/>
              </a:rPr>
              <a:t>Full Ai</a:t>
            </a:r>
            <a:endParaRPr lang="en-US" sz="2000" dirty="0"/>
          </a:p>
        </p:txBody>
      </p:sp>
      <p:sp>
        <p:nvSpPr>
          <p:cNvPr id="50" name="Text 36"/>
          <p:cNvSpPr/>
          <p:nvPr/>
        </p:nvSpPr>
        <p:spPr>
          <a:xfrm>
            <a:off x="9290304" y="2670048"/>
            <a:ext cx="2377440" cy="50292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Strategic management &amp; growth</a:t>
            </a:r>
            <a:endParaRPr lang="en-US" sz="1300" dirty="0"/>
          </a:p>
        </p:txBody>
      </p:sp>
      <p:sp>
        <p:nvSpPr>
          <p:cNvPr id="51" name="Text 37"/>
          <p:cNvSpPr/>
          <p:nvPr/>
        </p:nvSpPr>
        <p:spPr>
          <a:xfrm>
            <a:off x="9290304" y="3200400"/>
            <a:ext cx="2377440" cy="1600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Executive layer — senior management decisions, multi-factory control, expansion to new countries. Companies run their own Ai compute on solar-powered mini data centres.</a:t>
            </a:r>
            <a:endParaRPr lang="en-US" sz="1300" dirty="0"/>
          </a:p>
        </p:txBody>
      </p:sp>
      <p:pic>
        <p:nvPicPr>
          <p:cNvPr id="52" name="Image 12" descr="preencoded.png">    </p:cNvPr>
          <p:cNvPicPr>
            <a:picLocks noChangeAspect="1"/>
          </p:cNvPicPr>
          <p:nvPr/>
        </p:nvPicPr>
        <p:blipFill>
          <a:blip r:embed="rId13"/>
          <a:stretch>
            <a:fillRect/>
          </a:stretch>
        </p:blipFill>
        <p:spPr>
          <a:xfrm>
            <a:off x="9290304" y="4892040"/>
            <a:ext cx="438912" cy="438912"/>
          </a:xfrm>
          <a:prstGeom prst="rect">
            <a:avLst/>
          </a:prstGeom>
        </p:spPr>
      </p:pic>
      <p:sp>
        <p:nvSpPr>
          <p:cNvPr id="53" name="Text 38"/>
          <p:cNvSpPr/>
          <p:nvPr/>
        </p:nvSpPr>
        <p:spPr>
          <a:xfrm>
            <a:off x="9802368"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Multi-country</a:t>
            </a:r>
            <a:endParaRPr lang="en-US" sz="1100" dirty="0"/>
          </a:p>
        </p:txBody>
      </p:sp>
      <p:pic>
        <p:nvPicPr>
          <p:cNvPr id="54" name="Image 13" descr="preencoded.png">    </p:cNvPr>
          <p:cNvPicPr>
            <a:picLocks noChangeAspect="1"/>
          </p:cNvPicPr>
          <p:nvPr/>
        </p:nvPicPr>
        <p:blipFill>
          <a:blip r:embed="rId14"/>
          <a:stretch>
            <a:fillRect/>
          </a:stretch>
        </p:blipFill>
        <p:spPr>
          <a:xfrm>
            <a:off x="10479024" y="4892040"/>
            <a:ext cx="438912" cy="438912"/>
          </a:xfrm>
          <a:prstGeom prst="rect">
            <a:avLst/>
          </a:prstGeom>
        </p:spPr>
      </p:pic>
      <p:sp>
        <p:nvSpPr>
          <p:cNvPr id="55" name="Text 39"/>
          <p:cNvSpPr/>
          <p:nvPr/>
        </p:nvSpPr>
        <p:spPr>
          <a:xfrm>
            <a:off x="10991088"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Predictive growth</a:t>
            </a:r>
            <a:endParaRPr lang="en-US" sz="1100" dirty="0"/>
          </a:p>
        </p:txBody>
      </p:sp>
      <p:pic>
        <p:nvPicPr>
          <p:cNvPr id="56" name="Image 14" descr="preencoded.png">    </p:cNvPr>
          <p:cNvPicPr>
            <a:picLocks noChangeAspect="1"/>
          </p:cNvPicPr>
          <p:nvPr/>
        </p:nvPicPr>
        <p:blipFill>
          <a:blip r:embed="rId15"/>
          <a:stretch>
            <a:fillRect/>
          </a:stretch>
        </p:blipFill>
        <p:spPr>
          <a:xfrm>
            <a:off x="9290304" y="5550408"/>
            <a:ext cx="438912" cy="438912"/>
          </a:xfrm>
          <a:prstGeom prst="rect">
            <a:avLst/>
          </a:prstGeom>
        </p:spPr>
      </p:pic>
      <p:sp>
        <p:nvSpPr>
          <p:cNvPr id="57" name="Text 40"/>
          <p:cNvSpPr/>
          <p:nvPr/>
        </p:nvSpPr>
        <p:spPr>
          <a:xfrm>
            <a:off x="9802368"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Executive decisions</a:t>
            </a:r>
            <a:endParaRPr lang="en-US" sz="1100" dirty="0"/>
          </a:p>
        </p:txBody>
      </p:sp>
      <p:pic>
        <p:nvPicPr>
          <p:cNvPr id="58" name="Image 15" descr="preencoded.png">    </p:cNvPr>
          <p:cNvPicPr>
            <a:picLocks noChangeAspect="1"/>
          </p:cNvPicPr>
          <p:nvPr/>
        </p:nvPicPr>
        <p:blipFill>
          <a:blip r:embed="rId16"/>
          <a:stretch>
            <a:fillRect/>
          </a:stretch>
        </p:blipFill>
        <p:spPr>
          <a:xfrm>
            <a:off x="10479024" y="5550408"/>
            <a:ext cx="438912" cy="438912"/>
          </a:xfrm>
          <a:prstGeom prst="rect">
            <a:avLst/>
          </a:prstGeom>
        </p:spPr>
      </p:pic>
      <p:sp>
        <p:nvSpPr>
          <p:cNvPr id="59" name="Text 41"/>
          <p:cNvSpPr/>
          <p:nvPr/>
        </p:nvSpPr>
        <p:spPr>
          <a:xfrm>
            <a:off x="10991088"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Own Ai computing</a:t>
            </a:r>
            <a:endParaRPr lang="en-US" sz="1100" dirty="0"/>
          </a:p>
        </p:txBody>
      </p:sp>
      <p:sp>
        <p:nvSpPr>
          <p:cNvPr id="60" name="Text 42"/>
          <p:cNvSpPr/>
          <p:nvPr/>
        </p:nvSpPr>
        <p:spPr>
          <a:xfrm>
            <a:off x="548640" y="6309360"/>
            <a:ext cx="11064240" cy="320040"/>
          </a:xfrm>
          <a:prstGeom prst="rect">
            <a:avLst/>
          </a:prstGeom>
          <a:noFill/>
          <a:ln/>
        </p:spPr>
        <p:txBody>
          <a:bodyPr wrap="square" lIns="0" tIns="0" rIns="0" bIns="0" rtlCol="0" anchor="ctr"/>
          <a:lstStyle/>
          <a:p>
            <a:pPr algn="ctr" indent="0" marL="0">
              <a:buNone/>
            </a:pPr>
            <a:r>
              <a:rPr lang="en-US" sz="1250" b="1" dirty="0">
                <a:solidFill>
                  <a:srgbClr val="1E4DAA"/>
                </a:solidFill>
                <a:latin typeface="Arial" pitchFamily="34" charset="0"/>
                <a:ea typeface="Arial" pitchFamily="34" charset="-122"/>
                <a:cs typeface="Arial" pitchFamily="34" charset="-120"/>
              </a:rPr>
              <a:t>Adopt one layer at a time — each builds on the one below, nothing gets ripped out.</a:t>
            </a:r>
            <a:endParaRPr lang="en-US" sz="1250" dirty="0"/>
          </a:p>
        </p:txBody>
      </p:sp>
      <p:sp>
        <p:nvSpPr>
          <p:cNvPr id="61" name="Text 43"/>
          <p:cNvSpPr/>
          <p:nvPr/>
        </p:nvSpPr>
        <p:spPr>
          <a:xfrm>
            <a:off x="548640" y="6473952"/>
            <a:ext cx="1042416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5 / 12</a:t>
            </a:r>
            <a:endParaRPr lang="en-US" sz="850" dirty="0"/>
          </a:p>
        </p:txBody>
      </p:sp>
      <p:sp>
        <p:nvSpPr>
          <p:cNvPr id="62" name="Text 44"/>
          <p:cNvSpPr/>
          <p:nvPr/>
        </p:nvSpPr>
        <p:spPr>
          <a:xfrm>
            <a:off x="11548872" y="6473952"/>
            <a:ext cx="548640" cy="274320"/>
          </a:xfrm>
          <a:prstGeom prst="rect">
            <a:avLst/>
          </a:prstGeom>
          <a:noFill/>
          <a:ln/>
        </p:spPr>
        <p:txBody>
          <a:bodyPr wrap="square" lIns="0" tIns="0" rIns="0" bIns="0" rtlCol="0" anchor="ctr"/>
          <a:lstStyle/>
          <a:p>
            <a:pPr algn="r" indent="0" marL="0">
              <a:buNone/>
            </a:pPr>
            <a:r>
              <a:rPr lang="en-US" sz="1000" b="1" dirty="0">
                <a:solidFill>
                  <a:srgbClr val="F37021"/>
                </a:solidFill>
                <a:latin typeface="Arial" pitchFamily="34" charset="0"/>
                <a:ea typeface="Arial" pitchFamily="34" charset="-122"/>
                <a:cs typeface="Arial" pitchFamily="34" charset="-120"/>
              </a:rPr>
              <a:t>PD2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20040" y="137160"/>
            <a:ext cx="731520" cy="731520"/>
          </a:xfrm>
          <a:prstGeom prst="ellipse">
            <a:avLst/>
          </a:prstGeom>
        </p:spPr>
      </p:pic>
      <p:sp>
        <p:nvSpPr>
          <p:cNvPr id="3" name="Text 0"/>
          <p:cNvSpPr/>
          <p:nvPr/>
        </p:nvSpPr>
        <p:spPr>
          <a:xfrm>
            <a:off x="1143000" y="182880"/>
            <a:ext cx="3200400" cy="6400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Yai Agents</a:t>
            </a:r>
            <a:endParaRPr lang="en-US" sz="2600" dirty="0"/>
          </a:p>
        </p:txBody>
      </p:sp>
      <p:sp>
        <p:nvSpPr>
          <p:cNvPr id="4" name="Text 1"/>
          <p:cNvSpPr/>
          <p:nvPr/>
        </p:nvSpPr>
        <p:spPr>
          <a:xfrm>
            <a:off x="9171432" y="320040"/>
            <a:ext cx="2834640" cy="365760"/>
          </a:xfrm>
          <a:prstGeom prst="rect">
            <a:avLst/>
          </a:prstGeom>
          <a:noFill/>
          <a:ln/>
        </p:spPr>
        <p:txBody>
          <a:bodyPr wrap="square" lIns="0" tIns="0" rIns="0" bIns="0" rtlCol="0" anchor="ctr"/>
          <a:lstStyle/>
          <a:p>
            <a:pPr algn="r" indent="0" marL="0">
              <a:buNone/>
            </a:pPr>
            <a:r>
              <a:rPr lang="en-US" sz="1200" b="1" spc="300" kern="0" dirty="0">
                <a:solidFill>
                  <a:srgbClr val="F37021"/>
                </a:solidFill>
                <a:latin typeface="Arial" pitchFamily="34" charset="0"/>
                <a:ea typeface="Arial" pitchFamily="34" charset="-122"/>
                <a:cs typeface="Arial" pitchFamily="34" charset="-120"/>
              </a:rPr>
              <a:t>05 / OUR AGENTS</a:t>
            </a:r>
            <a:endParaRPr lang="en-US" sz="1200" dirty="0"/>
          </a:p>
        </p:txBody>
      </p:sp>
      <p:sp>
        <p:nvSpPr>
          <p:cNvPr id="5" name="Shape 2"/>
          <p:cNvSpPr/>
          <p:nvPr/>
        </p:nvSpPr>
        <p:spPr>
          <a:xfrm>
            <a:off x="256032" y="1051560"/>
            <a:ext cx="5833872" cy="320040"/>
          </a:xfrm>
          <a:prstGeom prst="rect">
            <a:avLst/>
          </a:prstGeom>
          <a:solidFill>
            <a:srgbClr val="1E4DAA"/>
          </a:solidFill>
          <a:ln/>
        </p:spPr>
      </p:sp>
      <p:sp>
        <p:nvSpPr>
          <p:cNvPr id="6" name="Text 3"/>
          <p:cNvSpPr/>
          <p:nvPr/>
        </p:nvSpPr>
        <p:spPr>
          <a:xfrm>
            <a:off x="256032" y="1051560"/>
            <a:ext cx="5833872" cy="320040"/>
          </a:xfrm>
          <a:prstGeom prst="rect">
            <a:avLst/>
          </a:prstGeom>
          <a:noFill/>
          <a:ln/>
        </p:spPr>
        <p:txBody>
          <a:bodyPr wrap="square" lIns="0" tIns="0" rIns="0" bIns="0" rtlCol="0" anchor="ctr">
            <a:normAutofit/>
          </a:bodyPr>
          <a:lstStyle/>
          <a:p>
            <a:pPr algn="ctr" indent="0" marL="0">
              <a:buNone/>
            </a:pPr>
            <a:r>
              <a:rPr lang="en-US" sz="1300" b="1" spc="200" kern="0" dirty="0">
                <a:solidFill>
                  <a:srgbClr val="FFFFFF"/>
                </a:solidFill>
                <a:latin typeface="Arial" pitchFamily="34" charset="0"/>
                <a:ea typeface="Arial" pitchFamily="34" charset="-122"/>
                <a:cs typeface="Arial" pitchFamily="34" charset="-120"/>
              </a:rPr>
              <a:t>Administration</a:t>
            </a:r>
            <a:endParaRPr lang="en-US" sz="1300" dirty="0"/>
          </a:p>
        </p:txBody>
      </p:sp>
      <p:sp>
        <p:nvSpPr>
          <p:cNvPr id="7" name="Shape 4"/>
          <p:cNvSpPr/>
          <p:nvPr/>
        </p:nvSpPr>
        <p:spPr>
          <a:xfrm>
            <a:off x="256032" y="1463040"/>
            <a:ext cx="786384" cy="274320"/>
          </a:xfrm>
          <a:prstGeom prst="roundRect">
            <a:avLst>
              <a:gd name="adj" fmla="val 16667"/>
            </a:avLst>
          </a:prstGeom>
          <a:solidFill>
            <a:srgbClr val="1E3A8A"/>
          </a:solidFill>
          <a:ln/>
        </p:spPr>
      </p:sp>
      <p:sp>
        <p:nvSpPr>
          <p:cNvPr id="8" name="Text 5"/>
          <p:cNvSpPr/>
          <p:nvPr/>
        </p:nvSpPr>
        <p:spPr>
          <a:xfrm>
            <a:off x="256032"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Accountant</a:t>
            </a:r>
            <a:endParaRPr lang="en-US" sz="900" dirty="0"/>
          </a:p>
        </p:txBody>
      </p:sp>
      <p:sp>
        <p:nvSpPr>
          <p:cNvPr id="9" name="Shape 6"/>
          <p:cNvSpPr/>
          <p:nvPr/>
        </p:nvSpPr>
        <p:spPr>
          <a:xfrm>
            <a:off x="256032" y="1828800"/>
            <a:ext cx="786384" cy="502920"/>
          </a:xfrm>
          <a:prstGeom prst="roundRect">
            <a:avLst>
              <a:gd name="adj" fmla="val 10909"/>
            </a:avLst>
          </a:prstGeom>
          <a:ln w="12700">
            <a:solidFill>
              <a:srgbClr val="2A3555"/>
            </a:solidFill>
            <a:prstDash val="solid"/>
          </a:ln>
        </p:spPr>
      </p:sp>
      <p:sp>
        <p:nvSpPr>
          <p:cNvPr id="10" name="Text 7"/>
          <p:cNvSpPr/>
          <p:nvPr/>
        </p:nvSpPr>
        <p:spPr>
          <a:xfrm>
            <a:off x="283464"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Accountant</a:t>
            </a:r>
            <a:endParaRPr lang="en-US" sz="1300" dirty="0"/>
          </a:p>
        </p:txBody>
      </p:sp>
      <p:sp>
        <p:nvSpPr>
          <p:cNvPr id="11" name="Shape 8"/>
          <p:cNvSpPr/>
          <p:nvPr/>
        </p:nvSpPr>
        <p:spPr>
          <a:xfrm>
            <a:off x="256032" y="2386584"/>
            <a:ext cx="786384" cy="502920"/>
          </a:xfrm>
          <a:prstGeom prst="roundRect">
            <a:avLst>
              <a:gd name="adj" fmla="val 10909"/>
            </a:avLst>
          </a:prstGeom>
          <a:ln w="12700">
            <a:solidFill>
              <a:srgbClr val="2A3555"/>
            </a:solidFill>
            <a:prstDash val="solid"/>
          </a:ln>
        </p:spPr>
      </p:sp>
      <p:sp>
        <p:nvSpPr>
          <p:cNvPr id="12" name="Text 9"/>
          <p:cNvSpPr/>
          <p:nvPr/>
        </p:nvSpPr>
        <p:spPr>
          <a:xfrm>
            <a:off x="283464" y="2386584"/>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IEWS</a:t>
            </a:r>
            <a:endParaRPr lang="en-US" sz="1300" dirty="0"/>
          </a:p>
        </p:txBody>
      </p:sp>
      <p:sp>
        <p:nvSpPr>
          <p:cNvPr id="13" name="Shape 10"/>
          <p:cNvSpPr/>
          <p:nvPr/>
        </p:nvSpPr>
        <p:spPr>
          <a:xfrm>
            <a:off x="1097280" y="1463040"/>
            <a:ext cx="786384" cy="274320"/>
          </a:xfrm>
          <a:prstGeom prst="roundRect">
            <a:avLst>
              <a:gd name="adj" fmla="val 16667"/>
            </a:avLst>
          </a:prstGeom>
          <a:solidFill>
            <a:srgbClr val="1E3A8A"/>
          </a:solidFill>
          <a:ln/>
        </p:spPr>
      </p:sp>
      <p:sp>
        <p:nvSpPr>
          <p:cNvPr id="14" name="Text 11"/>
          <p:cNvSpPr/>
          <p:nvPr/>
        </p:nvSpPr>
        <p:spPr>
          <a:xfrm>
            <a:off x="1097280"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Billing</a:t>
            </a:r>
            <a:endParaRPr lang="en-US" sz="900" dirty="0"/>
          </a:p>
        </p:txBody>
      </p:sp>
      <p:sp>
        <p:nvSpPr>
          <p:cNvPr id="15" name="Shape 12"/>
          <p:cNvSpPr/>
          <p:nvPr/>
        </p:nvSpPr>
        <p:spPr>
          <a:xfrm>
            <a:off x="1097280" y="1828800"/>
            <a:ext cx="786384" cy="502920"/>
          </a:xfrm>
          <a:prstGeom prst="roundRect">
            <a:avLst>
              <a:gd name="adj" fmla="val 10909"/>
            </a:avLst>
          </a:prstGeom>
          <a:ln w="12700">
            <a:solidFill>
              <a:srgbClr val="2A3555"/>
            </a:solidFill>
            <a:prstDash val="solid"/>
          </a:ln>
        </p:spPr>
      </p:sp>
      <p:sp>
        <p:nvSpPr>
          <p:cNvPr id="16" name="Text 13"/>
          <p:cNvSpPr/>
          <p:nvPr/>
        </p:nvSpPr>
        <p:spPr>
          <a:xfrm>
            <a:off x="1124712"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Purchase Req.</a:t>
            </a:r>
            <a:endParaRPr lang="en-US" sz="1300" dirty="0"/>
          </a:p>
        </p:txBody>
      </p:sp>
      <p:sp>
        <p:nvSpPr>
          <p:cNvPr id="17" name="Shape 14"/>
          <p:cNvSpPr/>
          <p:nvPr/>
        </p:nvSpPr>
        <p:spPr>
          <a:xfrm>
            <a:off x="1097280" y="2386584"/>
            <a:ext cx="786384" cy="502920"/>
          </a:xfrm>
          <a:prstGeom prst="roundRect">
            <a:avLst>
              <a:gd name="adj" fmla="val 10909"/>
            </a:avLst>
          </a:prstGeom>
          <a:ln w="12700">
            <a:solidFill>
              <a:srgbClr val="2A3555"/>
            </a:solidFill>
            <a:prstDash val="solid"/>
          </a:ln>
        </p:spPr>
      </p:sp>
      <p:sp>
        <p:nvSpPr>
          <p:cNvPr id="18" name="Text 15"/>
          <p:cNvSpPr/>
          <p:nvPr/>
        </p:nvSpPr>
        <p:spPr>
          <a:xfrm>
            <a:off x="1124712" y="2386584"/>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Bill Claim</a:t>
            </a:r>
            <a:endParaRPr lang="en-US" sz="1300" dirty="0"/>
          </a:p>
        </p:txBody>
      </p:sp>
      <p:sp>
        <p:nvSpPr>
          <p:cNvPr id="19" name="Shape 16"/>
          <p:cNvSpPr/>
          <p:nvPr/>
        </p:nvSpPr>
        <p:spPr>
          <a:xfrm>
            <a:off x="1097280" y="2944368"/>
            <a:ext cx="786384" cy="502920"/>
          </a:xfrm>
          <a:prstGeom prst="roundRect">
            <a:avLst>
              <a:gd name="adj" fmla="val 10909"/>
            </a:avLst>
          </a:prstGeom>
          <a:ln w="12700">
            <a:solidFill>
              <a:srgbClr val="2A3555"/>
            </a:solidFill>
            <a:prstDash val="solid"/>
          </a:ln>
        </p:spPr>
      </p:sp>
      <p:sp>
        <p:nvSpPr>
          <p:cNvPr id="20" name="Text 17"/>
          <p:cNvSpPr/>
          <p:nvPr/>
        </p:nvSpPr>
        <p:spPr>
          <a:xfrm>
            <a:off x="1124712" y="2944368"/>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Salary Bill</a:t>
            </a:r>
            <a:endParaRPr lang="en-US" sz="1300" dirty="0"/>
          </a:p>
        </p:txBody>
      </p:sp>
      <p:sp>
        <p:nvSpPr>
          <p:cNvPr id="21" name="Shape 18"/>
          <p:cNvSpPr/>
          <p:nvPr/>
        </p:nvSpPr>
        <p:spPr>
          <a:xfrm>
            <a:off x="1097280" y="3502152"/>
            <a:ext cx="786384" cy="502920"/>
          </a:xfrm>
          <a:prstGeom prst="roundRect">
            <a:avLst>
              <a:gd name="adj" fmla="val 10909"/>
            </a:avLst>
          </a:prstGeom>
          <a:ln w="12700">
            <a:solidFill>
              <a:srgbClr val="2A3555"/>
            </a:solidFill>
            <a:prstDash val="solid"/>
          </a:ln>
        </p:spPr>
      </p:sp>
      <p:sp>
        <p:nvSpPr>
          <p:cNvPr id="22" name="Text 19"/>
          <p:cNvSpPr/>
          <p:nvPr/>
        </p:nvSpPr>
        <p:spPr>
          <a:xfrm>
            <a:off x="1124712" y="3502152"/>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Shipping Bill</a:t>
            </a:r>
            <a:endParaRPr lang="en-US" sz="1300" dirty="0"/>
          </a:p>
        </p:txBody>
      </p:sp>
      <p:sp>
        <p:nvSpPr>
          <p:cNvPr id="23" name="Shape 20"/>
          <p:cNvSpPr/>
          <p:nvPr/>
        </p:nvSpPr>
        <p:spPr>
          <a:xfrm>
            <a:off x="1938528" y="1463040"/>
            <a:ext cx="786384" cy="274320"/>
          </a:xfrm>
          <a:prstGeom prst="roundRect">
            <a:avLst>
              <a:gd name="adj" fmla="val 16667"/>
            </a:avLst>
          </a:prstGeom>
          <a:solidFill>
            <a:srgbClr val="1E3A8A"/>
          </a:solidFill>
          <a:ln/>
        </p:spPr>
      </p:sp>
      <p:sp>
        <p:nvSpPr>
          <p:cNvPr id="24" name="Text 21"/>
          <p:cNvSpPr/>
          <p:nvPr/>
        </p:nvSpPr>
        <p:spPr>
          <a:xfrm>
            <a:off x="1938528"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HR</a:t>
            </a:r>
            <a:endParaRPr lang="en-US" sz="900" dirty="0"/>
          </a:p>
        </p:txBody>
      </p:sp>
      <p:sp>
        <p:nvSpPr>
          <p:cNvPr id="25" name="Shape 22"/>
          <p:cNvSpPr/>
          <p:nvPr/>
        </p:nvSpPr>
        <p:spPr>
          <a:xfrm>
            <a:off x="1938528" y="1828800"/>
            <a:ext cx="786384" cy="502920"/>
          </a:xfrm>
          <a:prstGeom prst="roundRect">
            <a:avLst>
              <a:gd name="adj" fmla="val 10909"/>
            </a:avLst>
          </a:prstGeom>
          <a:ln w="12700">
            <a:solidFill>
              <a:srgbClr val="2A3555"/>
            </a:solidFill>
            <a:prstDash val="solid"/>
          </a:ln>
        </p:spPr>
      </p:sp>
      <p:sp>
        <p:nvSpPr>
          <p:cNvPr id="26" name="Text 23"/>
          <p:cNvSpPr/>
          <p:nvPr/>
        </p:nvSpPr>
        <p:spPr>
          <a:xfrm>
            <a:off x="1965960"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YHR</a:t>
            </a:r>
            <a:endParaRPr lang="en-US" sz="1300" dirty="0"/>
          </a:p>
        </p:txBody>
      </p:sp>
      <p:sp>
        <p:nvSpPr>
          <p:cNvPr id="27" name="Shape 24"/>
          <p:cNvSpPr/>
          <p:nvPr/>
        </p:nvSpPr>
        <p:spPr>
          <a:xfrm>
            <a:off x="1938528" y="2386584"/>
            <a:ext cx="786384" cy="502920"/>
          </a:xfrm>
          <a:prstGeom prst="roundRect">
            <a:avLst>
              <a:gd name="adj" fmla="val 10909"/>
            </a:avLst>
          </a:prstGeom>
          <a:ln w="12700">
            <a:solidFill>
              <a:srgbClr val="2A3555"/>
            </a:solidFill>
            <a:prstDash val="solid"/>
          </a:ln>
        </p:spPr>
      </p:sp>
      <p:sp>
        <p:nvSpPr>
          <p:cNvPr id="28" name="Text 25"/>
          <p:cNvSpPr/>
          <p:nvPr/>
        </p:nvSpPr>
        <p:spPr>
          <a:xfrm>
            <a:off x="1965960" y="2386584"/>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Org Chart</a:t>
            </a:r>
            <a:endParaRPr lang="en-US" sz="1300" dirty="0"/>
          </a:p>
        </p:txBody>
      </p:sp>
      <p:sp>
        <p:nvSpPr>
          <p:cNvPr id="29" name="Shape 26"/>
          <p:cNvSpPr/>
          <p:nvPr/>
        </p:nvSpPr>
        <p:spPr>
          <a:xfrm>
            <a:off x="1938528" y="2944368"/>
            <a:ext cx="786384" cy="502920"/>
          </a:xfrm>
          <a:prstGeom prst="roundRect">
            <a:avLst>
              <a:gd name="adj" fmla="val 10909"/>
            </a:avLst>
          </a:prstGeom>
          <a:ln w="12700">
            <a:solidFill>
              <a:srgbClr val="2A3555"/>
            </a:solidFill>
            <a:prstDash val="solid"/>
          </a:ln>
        </p:spPr>
      </p:sp>
      <p:sp>
        <p:nvSpPr>
          <p:cNvPr id="30" name="Text 27"/>
          <p:cNvSpPr/>
          <p:nvPr/>
        </p:nvSpPr>
        <p:spPr>
          <a:xfrm>
            <a:off x="1965960" y="2944368"/>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Training</a:t>
            </a:r>
            <a:endParaRPr lang="en-US" sz="1300" dirty="0"/>
          </a:p>
        </p:txBody>
      </p:sp>
      <p:sp>
        <p:nvSpPr>
          <p:cNvPr id="31" name="Shape 28"/>
          <p:cNvSpPr/>
          <p:nvPr/>
        </p:nvSpPr>
        <p:spPr>
          <a:xfrm>
            <a:off x="1938528" y="3502152"/>
            <a:ext cx="786384" cy="502920"/>
          </a:xfrm>
          <a:prstGeom prst="roundRect">
            <a:avLst>
              <a:gd name="adj" fmla="val 10909"/>
            </a:avLst>
          </a:prstGeom>
          <a:ln w="12700">
            <a:solidFill>
              <a:srgbClr val="2A3555"/>
            </a:solidFill>
            <a:prstDash val="solid"/>
          </a:ln>
        </p:spPr>
      </p:sp>
      <p:sp>
        <p:nvSpPr>
          <p:cNvPr id="32" name="Text 29"/>
          <p:cNvSpPr/>
          <p:nvPr/>
        </p:nvSpPr>
        <p:spPr>
          <a:xfrm>
            <a:off x="1965960" y="3502152"/>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Temp. Worker</a:t>
            </a:r>
            <a:endParaRPr lang="en-US" sz="1300" dirty="0"/>
          </a:p>
        </p:txBody>
      </p:sp>
      <p:sp>
        <p:nvSpPr>
          <p:cNvPr id="33" name="Shape 30"/>
          <p:cNvSpPr/>
          <p:nvPr/>
        </p:nvSpPr>
        <p:spPr>
          <a:xfrm>
            <a:off x="1938528" y="4059936"/>
            <a:ext cx="786384" cy="502920"/>
          </a:xfrm>
          <a:prstGeom prst="roundRect">
            <a:avLst>
              <a:gd name="adj" fmla="val 10909"/>
            </a:avLst>
          </a:prstGeom>
          <a:ln w="12700">
            <a:solidFill>
              <a:srgbClr val="2A3555"/>
            </a:solidFill>
            <a:prstDash val="solid"/>
          </a:ln>
        </p:spPr>
      </p:sp>
      <p:sp>
        <p:nvSpPr>
          <p:cNvPr id="34" name="Text 31"/>
          <p:cNvSpPr/>
          <p:nvPr/>
        </p:nvSpPr>
        <p:spPr>
          <a:xfrm>
            <a:off x="1965960" y="4059936"/>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Speak Up</a:t>
            </a:r>
            <a:endParaRPr lang="en-US" sz="1300" dirty="0"/>
          </a:p>
        </p:txBody>
      </p:sp>
      <p:sp>
        <p:nvSpPr>
          <p:cNvPr id="35" name="Shape 32"/>
          <p:cNvSpPr/>
          <p:nvPr/>
        </p:nvSpPr>
        <p:spPr>
          <a:xfrm>
            <a:off x="2779776" y="1463040"/>
            <a:ext cx="786384" cy="274320"/>
          </a:xfrm>
          <a:prstGeom prst="roundRect">
            <a:avLst>
              <a:gd name="adj" fmla="val 16667"/>
            </a:avLst>
          </a:prstGeom>
          <a:solidFill>
            <a:srgbClr val="1E3A8A"/>
          </a:solidFill>
          <a:ln/>
        </p:spPr>
      </p:sp>
      <p:sp>
        <p:nvSpPr>
          <p:cNvPr id="36" name="Text 33"/>
          <p:cNvSpPr/>
          <p:nvPr/>
        </p:nvSpPr>
        <p:spPr>
          <a:xfrm>
            <a:off x="2779776"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Admin</a:t>
            </a:r>
            <a:endParaRPr lang="en-US" sz="900" dirty="0"/>
          </a:p>
        </p:txBody>
      </p:sp>
      <p:sp>
        <p:nvSpPr>
          <p:cNvPr id="37" name="Shape 34"/>
          <p:cNvSpPr/>
          <p:nvPr/>
        </p:nvSpPr>
        <p:spPr>
          <a:xfrm>
            <a:off x="2779776" y="1828800"/>
            <a:ext cx="786384" cy="502920"/>
          </a:xfrm>
          <a:prstGeom prst="roundRect">
            <a:avLst>
              <a:gd name="adj" fmla="val 10909"/>
            </a:avLst>
          </a:prstGeom>
          <a:ln w="12700">
            <a:solidFill>
              <a:srgbClr val="2A3555"/>
            </a:solidFill>
            <a:prstDash val="solid"/>
          </a:ln>
        </p:spPr>
      </p:sp>
      <p:sp>
        <p:nvSpPr>
          <p:cNvPr id="38" name="Text 35"/>
          <p:cNvSpPr/>
          <p:nvPr/>
        </p:nvSpPr>
        <p:spPr>
          <a:xfrm>
            <a:off x="2807208"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Support Ticket</a:t>
            </a:r>
            <a:endParaRPr lang="en-US" sz="1300" dirty="0"/>
          </a:p>
        </p:txBody>
      </p:sp>
      <p:sp>
        <p:nvSpPr>
          <p:cNvPr id="39" name="Shape 36"/>
          <p:cNvSpPr/>
          <p:nvPr/>
        </p:nvSpPr>
        <p:spPr>
          <a:xfrm>
            <a:off x="2779776" y="2386584"/>
            <a:ext cx="786384" cy="502920"/>
          </a:xfrm>
          <a:prstGeom prst="roundRect">
            <a:avLst>
              <a:gd name="adj" fmla="val 10909"/>
            </a:avLst>
          </a:prstGeom>
          <a:ln w="12700">
            <a:solidFill>
              <a:srgbClr val="2A3555"/>
            </a:solidFill>
            <a:prstDash val="solid"/>
          </a:ln>
        </p:spPr>
      </p:sp>
      <p:sp>
        <p:nvSpPr>
          <p:cNvPr id="40" name="Text 37"/>
          <p:cNvSpPr/>
          <p:nvPr/>
        </p:nvSpPr>
        <p:spPr>
          <a:xfrm>
            <a:off x="2807208" y="2386584"/>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Y Shop</a:t>
            </a:r>
            <a:endParaRPr lang="en-US" sz="1300" dirty="0"/>
          </a:p>
        </p:txBody>
      </p:sp>
      <p:sp>
        <p:nvSpPr>
          <p:cNvPr id="41" name="Shape 38"/>
          <p:cNvSpPr/>
          <p:nvPr/>
        </p:nvSpPr>
        <p:spPr>
          <a:xfrm>
            <a:off x="2779776" y="2944368"/>
            <a:ext cx="786384" cy="502920"/>
          </a:xfrm>
          <a:prstGeom prst="roundRect">
            <a:avLst>
              <a:gd name="adj" fmla="val 10909"/>
            </a:avLst>
          </a:prstGeom>
          <a:ln w="12700">
            <a:solidFill>
              <a:srgbClr val="2A3555"/>
            </a:solidFill>
            <a:prstDash val="solid"/>
          </a:ln>
        </p:spPr>
      </p:sp>
      <p:sp>
        <p:nvSpPr>
          <p:cNvPr id="42" name="Text 39"/>
          <p:cNvSpPr/>
          <p:nvPr/>
        </p:nvSpPr>
        <p:spPr>
          <a:xfrm>
            <a:off x="2807208" y="2944368"/>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Gate Pass</a:t>
            </a:r>
            <a:endParaRPr lang="en-US" sz="1300" dirty="0"/>
          </a:p>
        </p:txBody>
      </p:sp>
      <p:sp>
        <p:nvSpPr>
          <p:cNvPr id="43" name="Shape 40"/>
          <p:cNvSpPr/>
          <p:nvPr/>
        </p:nvSpPr>
        <p:spPr>
          <a:xfrm>
            <a:off x="2779776" y="3502152"/>
            <a:ext cx="786384" cy="502920"/>
          </a:xfrm>
          <a:prstGeom prst="roundRect">
            <a:avLst>
              <a:gd name="adj" fmla="val 10909"/>
            </a:avLst>
          </a:prstGeom>
          <a:ln w="12700">
            <a:solidFill>
              <a:srgbClr val="2A3555"/>
            </a:solidFill>
            <a:prstDash val="solid"/>
          </a:ln>
        </p:spPr>
      </p:sp>
      <p:sp>
        <p:nvSpPr>
          <p:cNvPr id="44" name="Text 41"/>
          <p:cNvSpPr/>
          <p:nvPr/>
        </p:nvSpPr>
        <p:spPr>
          <a:xfrm>
            <a:off x="2807208" y="3502152"/>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Meeting Room</a:t>
            </a:r>
            <a:endParaRPr lang="en-US" sz="1300" dirty="0"/>
          </a:p>
        </p:txBody>
      </p:sp>
      <p:sp>
        <p:nvSpPr>
          <p:cNvPr id="45" name="Shape 42"/>
          <p:cNvSpPr/>
          <p:nvPr/>
        </p:nvSpPr>
        <p:spPr>
          <a:xfrm>
            <a:off x="2779776" y="4059936"/>
            <a:ext cx="786384" cy="502920"/>
          </a:xfrm>
          <a:prstGeom prst="roundRect">
            <a:avLst>
              <a:gd name="adj" fmla="val 10909"/>
            </a:avLst>
          </a:prstGeom>
          <a:ln w="12700">
            <a:solidFill>
              <a:srgbClr val="2A3555"/>
            </a:solidFill>
            <a:prstDash val="solid"/>
          </a:ln>
        </p:spPr>
      </p:sp>
      <p:sp>
        <p:nvSpPr>
          <p:cNvPr id="46" name="Text 43"/>
          <p:cNvSpPr/>
          <p:nvPr/>
        </p:nvSpPr>
        <p:spPr>
          <a:xfrm>
            <a:off x="2807208" y="4059936"/>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Car Booking</a:t>
            </a:r>
            <a:endParaRPr lang="en-US" sz="1300" dirty="0"/>
          </a:p>
        </p:txBody>
      </p:sp>
      <p:sp>
        <p:nvSpPr>
          <p:cNvPr id="47" name="Shape 44"/>
          <p:cNvSpPr/>
          <p:nvPr/>
        </p:nvSpPr>
        <p:spPr>
          <a:xfrm>
            <a:off x="2779776" y="4617720"/>
            <a:ext cx="786384" cy="502920"/>
          </a:xfrm>
          <a:prstGeom prst="roundRect">
            <a:avLst>
              <a:gd name="adj" fmla="val 10909"/>
            </a:avLst>
          </a:prstGeom>
          <a:ln w="12700">
            <a:solidFill>
              <a:srgbClr val="2A3555"/>
            </a:solidFill>
            <a:prstDash val="solid"/>
          </a:ln>
        </p:spPr>
      </p:sp>
      <p:sp>
        <p:nvSpPr>
          <p:cNvPr id="48" name="Text 45"/>
          <p:cNvSpPr/>
          <p:nvPr/>
        </p:nvSpPr>
        <p:spPr>
          <a:xfrm>
            <a:off x="2807208" y="461772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Fire Alarm</a:t>
            </a:r>
            <a:endParaRPr lang="en-US" sz="1300" dirty="0"/>
          </a:p>
        </p:txBody>
      </p:sp>
      <p:sp>
        <p:nvSpPr>
          <p:cNvPr id="49" name="Shape 46"/>
          <p:cNvSpPr/>
          <p:nvPr/>
        </p:nvSpPr>
        <p:spPr>
          <a:xfrm>
            <a:off x="2779776" y="5175504"/>
            <a:ext cx="786384" cy="502920"/>
          </a:xfrm>
          <a:prstGeom prst="roundRect">
            <a:avLst>
              <a:gd name="adj" fmla="val 10909"/>
            </a:avLst>
          </a:prstGeom>
          <a:ln w="12700">
            <a:solidFill>
              <a:srgbClr val="2A3555"/>
            </a:solidFill>
            <a:prstDash val="solid"/>
          </a:ln>
        </p:spPr>
      </p:sp>
      <p:sp>
        <p:nvSpPr>
          <p:cNvPr id="50" name="Text 47"/>
          <p:cNvSpPr/>
          <p:nvPr/>
        </p:nvSpPr>
        <p:spPr>
          <a:xfrm>
            <a:off x="2807208" y="5175504"/>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CCTV</a:t>
            </a:r>
            <a:endParaRPr lang="en-US" sz="1300" dirty="0"/>
          </a:p>
        </p:txBody>
      </p:sp>
      <p:sp>
        <p:nvSpPr>
          <p:cNvPr id="51" name="Shape 48"/>
          <p:cNvSpPr/>
          <p:nvPr/>
        </p:nvSpPr>
        <p:spPr>
          <a:xfrm>
            <a:off x="3621024" y="1463040"/>
            <a:ext cx="786384" cy="274320"/>
          </a:xfrm>
          <a:prstGeom prst="roundRect">
            <a:avLst>
              <a:gd name="adj" fmla="val 16667"/>
            </a:avLst>
          </a:prstGeom>
          <a:solidFill>
            <a:srgbClr val="1E3A8A"/>
          </a:solidFill>
          <a:ln/>
        </p:spPr>
      </p:sp>
      <p:sp>
        <p:nvSpPr>
          <p:cNvPr id="52" name="Text 49"/>
          <p:cNvSpPr/>
          <p:nvPr/>
        </p:nvSpPr>
        <p:spPr>
          <a:xfrm>
            <a:off x="3621024"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CSR</a:t>
            </a:r>
            <a:endParaRPr lang="en-US" sz="900" dirty="0"/>
          </a:p>
        </p:txBody>
      </p:sp>
      <p:sp>
        <p:nvSpPr>
          <p:cNvPr id="53" name="Shape 50"/>
          <p:cNvSpPr/>
          <p:nvPr/>
        </p:nvSpPr>
        <p:spPr>
          <a:xfrm>
            <a:off x="3621024" y="1828800"/>
            <a:ext cx="786384" cy="502920"/>
          </a:xfrm>
          <a:prstGeom prst="roundRect">
            <a:avLst>
              <a:gd name="adj" fmla="val 10909"/>
            </a:avLst>
          </a:prstGeom>
          <a:ln w="12700">
            <a:solidFill>
              <a:srgbClr val="2A3555"/>
            </a:solidFill>
            <a:prstDash val="solid"/>
          </a:ln>
        </p:spPr>
      </p:sp>
      <p:sp>
        <p:nvSpPr>
          <p:cNvPr id="54" name="Text 51"/>
          <p:cNvSpPr/>
          <p:nvPr/>
        </p:nvSpPr>
        <p:spPr>
          <a:xfrm>
            <a:off x="3648456"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Digital Audit</a:t>
            </a:r>
            <a:endParaRPr lang="en-US" sz="1300" dirty="0"/>
          </a:p>
        </p:txBody>
      </p:sp>
      <p:sp>
        <p:nvSpPr>
          <p:cNvPr id="55" name="Shape 52"/>
          <p:cNvSpPr/>
          <p:nvPr/>
        </p:nvSpPr>
        <p:spPr>
          <a:xfrm>
            <a:off x="3621024" y="2386584"/>
            <a:ext cx="786384" cy="502920"/>
          </a:xfrm>
          <a:prstGeom prst="roundRect">
            <a:avLst>
              <a:gd name="adj" fmla="val 10909"/>
            </a:avLst>
          </a:prstGeom>
          <a:ln w="12700">
            <a:solidFill>
              <a:srgbClr val="2A3555"/>
            </a:solidFill>
            <a:prstDash val="solid"/>
          </a:ln>
        </p:spPr>
      </p:sp>
      <p:sp>
        <p:nvSpPr>
          <p:cNvPr id="56" name="Text 53"/>
          <p:cNvSpPr/>
          <p:nvPr/>
        </p:nvSpPr>
        <p:spPr>
          <a:xfrm>
            <a:off x="3648456" y="2386584"/>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Energy</a:t>
            </a:r>
            <a:endParaRPr lang="en-US" sz="1300" dirty="0"/>
          </a:p>
        </p:txBody>
      </p:sp>
      <p:sp>
        <p:nvSpPr>
          <p:cNvPr id="57" name="Shape 54"/>
          <p:cNvSpPr/>
          <p:nvPr/>
        </p:nvSpPr>
        <p:spPr>
          <a:xfrm>
            <a:off x="3621024" y="2944368"/>
            <a:ext cx="786384" cy="502920"/>
          </a:xfrm>
          <a:prstGeom prst="roundRect">
            <a:avLst>
              <a:gd name="adj" fmla="val 10909"/>
            </a:avLst>
          </a:prstGeom>
          <a:ln w="12700">
            <a:solidFill>
              <a:srgbClr val="2A3555"/>
            </a:solidFill>
            <a:prstDash val="solid"/>
          </a:ln>
        </p:spPr>
      </p:sp>
      <p:sp>
        <p:nvSpPr>
          <p:cNvPr id="58" name="Text 55"/>
          <p:cNvSpPr/>
          <p:nvPr/>
        </p:nvSpPr>
        <p:spPr>
          <a:xfrm>
            <a:off x="3648456" y="2944368"/>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Air</a:t>
            </a:r>
            <a:endParaRPr lang="en-US" sz="1300" dirty="0"/>
          </a:p>
        </p:txBody>
      </p:sp>
      <p:sp>
        <p:nvSpPr>
          <p:cNvPr id="59" name="Shape 56"/>
          <p:cNvSpPr/>
          <p:nvPr/>
        </p:nvSpPr>
        <p:spPr>
          <a:xfrm>
            <a:off x="3621024" y="3502152"/>
            <a:ext cx="786384" cy="502920"/>
          </a:xfrm>
          <a:prstGeom prst="roundRect">
            <a:avLst>
              <a:gd name="adj" fmla="val 10909"/>
            </a:avLst>
          </a:prstGeom>
          <a:ln w="12700">
            <a:solidFill>
              <a:srgbClr val="2A3555"/>
            </a:solidFill>
            <a:prstDash val="solid"/>
          </a:ln>
        </p:spPr>
      </p:sp>
      <p:sp>
        <p:nvSpPr>
          <p:cNvPr id="60" name="Text 57"/>
          <p:cNvSpPr/>
          <p:nvPr/>
        </p:nvSpPr>
        <p:spPr>
          <a:xfrm>
            <a:off x="3648456" y="3502152"/>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Water</a:t>
            </a:r>
            <a:endParaRPr lang="en-US" sz="1300" dirty="0"/>
          </a:p>
        </p:txBody>
      </p:sp>
      <p:sp>
        <p:nvSpPr>
          <p:cNvPr id="61" name="Shape 58"/>
          <p:cNvSpPr/>
          <p:nvPr/>
        </p:nvSpPr>
        <p:spPr>
          <a:xfrm>
            <a:off x="3621024" y="4059936"/>
            <a:ext cx="786384" cy="502920"/>
          </a:xfrm>
          <a:prstGeom prst="roundRect">
            <a:avLst>
              <a:gd name="adj" fmla="val 10909"/>
            </a:avLst>
          </a:prstGeom>
          <a:ln w="12700">
            <a:solidFill>
              <a:srgbClr val="2A3555"/>
            </a:solidFill>
            <a:prstDash val="solid"/>
          </a:ln>
        </p:spPr>
      </p:sp>
      <p:sp>
        <p:nvSpPr>
          <p:cNvPr id="62" name="Text 59"/>
          <p:cNvSpPr/>
          <p:nvPr/>
        </p:nvSpPr>
        <p:spPr>
          <a:xfrm>
            <a:off x="3648456" y="4059936"/>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Waste</a:t>
            </a:r>
            <a:endParaRPr lang="en-US" sz="1300" dirty="0"/>
          </a:p>
        </p:txBody>
      </p:sp>
      <p:sp>
        <p:nvSpPr>
          <p:cNvPr id="63" name="Shape 60"/>
          <p:cNvSpPr/>
          <p:nvPr/>
        </p:nvSpPr>
        <p:spPr>
          <a:xfrm>
            <a:off x="3621024" y="4617720"/>
            <a:ext cx="786384" cy="502920"/>
          </a:xfrm>
          <a:prstGeom prst="roundRect">
            <a:avLst>
              <a:gd name="adj" fmla="val 10909"/>
            </a:avLst>
          </a:prstGeom>
          <a:ln w="12700">
            <a:solidFill>
              <a:srgbClr val="2A3555"/>
            </a:solidFill>
            <a:prstDash val="solid"/>
          </a:ln>
        </p:spPr>
      </p:sp>
      <p:sp>
        <p:nvSpPr>
          <p:cNvPr id="64" name="Text 61"/>
          <p:cNvSpPr/>
          <p:nvPr/>
        </p:nvSpPr>
        <p:spPr>
          <a:xfrm>
            <a:off x="3648456" y="461772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Chemical</a:t>
            </a:r>
            <a:endParaRPr lang="en-US" sz="1300" dirty="0"/>
          </a:p>
        </p:txBody>
      </p:sp>
      <p:sp>
        <p:nvSpPr>
          <p:cNvPr id="65" name="Shape 62"/>
          <p:cNvSpPr/>
          <p:nvPr/>
        </p:nvSpPr>
        <p:spPr>
          <a:xfrm>
            <a:off x="4462272" y="1463040"/>
            <a:ext cx="786384" cy="274320"/>
          </a:xfrm>
          <a:prstGeom prst="roundRect">
            <a:avLst>
              <a:gd name="adj" fmla="val 16667"/>
            </a:avLst>
          </a:prstGeom>
          <a:solidFill>
            <a:srgbClr val="1E3A8A"/>
          </a:solidFill>
          <a:ln/>
        </p:spPr>
      </p:sp>
      <p:sp>
        <p:nvSpPr>
          <p:cNvPr id="66" name="Text 63"/>
          <p:cNvSpPr/>
          <p:nvPr/>
        </p:nvSpPr>
        <p:spPr>
          <a:xfrm>
            <a:off x="4462272"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Shipping</a:t>
            </a:r>
            <a:endParaRPr lang="en-US" sz="900" dirty="0"/>
          </a:p>
        </p:txBody>
      </p:sp>
      <p:sp>
        <p:nvSpPr>
          <p:cNvPr id="67" name="Shape 64"/>
          <p:cNvSpPr/>
          <p:nvPr/>
        </p:nvSpPr>
        <p:spPr>
          <a:xfrm>
            <a:off x="4462272" y="1828800"/>
            <a:ext cx="786384" cy="502920"/>
          </a:xfrm>
          <a:prstGeom prst="roundRect">
            <a:avLst>
              <a:gd name="adj" fmla="val 10909"/>
            </a:avLst>
          </a:prstGeom>
          <a:ln w="12700">
            <a:solidFill>
              <a:srgbClr val="2A3555"/>
            </a:solidFill>
            <a:prstDash val="solid"/>
          </a:ln>
        </p:spPr>
      </p:sp>
      <p:sp>
        <p:nvSpPr>
          <p:cNvPr id="68" name="Text 65"/>
          <p:cNvSpPr/>
          <p:nvPr/>
        </p:nvSpPr>
        <p:spPr>
          <a:xfrm>
            <a:off x="4489704"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Shipping</a:t>
            </a:r>
            <a:endParaRPr lang="en-US" sz="1300" dirty="0"/>
          </a:p>
        </p:txBody>
      </p:sp>
      <p:sp>
        <p:nvSpPr>
          <p:cNvPr id="69" name="Shape 66"/>
          <p:cNvSpPr/>
          <p:nvPr/>
        </p:nvSpPr>
        <p:spPr>
          <a:xfrm>
            <a:off x="5303520" y="1463040"/>
            <a:ext cx="786384" cy="274320"/>
          </a:xfrm>
          <a:prstGeom prst="roundRect">
            <a:avLst>
              <a:gd name="adj" fmla="val 16667"/>
            </a:avLst>
          </a:prstGeom>
          <a:solidFill>
            <a:srgbClr val="1E3A8A"/>
          </a:solidFill>
          <a:ln/>
        </p:spPr>
      </p:sp>
      <p:sp>
        <p:nvSpPr>
          <p:cNvPr id="70" name="Text 67"/>
          <p:cNvSpPr/>
          <p:nvPr/>
        </p:nvSpPr>
        <p:spPr>
          <a:xfrm>
            <a:off x="5303520"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E-GOV</a:t>
            </a:r>
            <a:endParaRPr lang="en-US" sz="900" dirty="0"/>
          </a:p>
        </p:txBody>
      </p:sp>
      <p:sp>
        <p:nvSpPr>
          <p:cNvPr id="71" name="Shape 68"/>
          <p:cNvSpPr/>
          <p:nvPr/>
        </p:nvSpPr>
        <p:spPr>
          <a:xfrm>
            <a:off x="5303520" y="1828800"/>
            <a:ext cx="786384" cy="502920"/>
          </a:xfrm>
          <a:prstGeom prst="roundRect">
            <a:avLst>
              <a:gd name="adj" fmla="val 10909"/>
            </a:avLst>
          </a:prstGeom>
          <a:ln w="12700">
            <a:solidFill>
              <a:srgbClr val="2A3555"/>
            </a:solidFill>
            <a:prstDash val="solid"/>
          </a:ln>
        </p:spPr>
      </p:sp>
      <p:sp>
        <p:nvSpPr>
          <p:cNvPr id="72" name="Text 69"/>
          <p:cNvSpPr/>
          <p:nvPr/>
        </p:nvSpPr>
        <p:spPr>
          <a:xfrm>
            <a:off x="5330952"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E-Government</a:t>
            </a:r>
            <a:endParaRPr lang="en-US" sz="1300" dirty="0"/>
          </a:p>
        </p:txBody>
      </p:sp>
      <p:sp>
        <p:nvSpPr>
          <p:cNvPr id="73" name="Shape 70"/>
          <p:cNvSpPr/>
          <p:nvPr/>
        </p:nvSpPr>
        <p:spPr>
          <a:xfrm>
            <a:off x="6254496" y="1051560"/>
            <a:ext cx="1627632" cy="320040"/>
          </a:xfrm>
          <a:prstGeom prst="rect">
            <a:avLst/>
          </a:prstGeom>
          <a:solidFill>
            <a:srgbClr val="0A3327"/>
          </a:solidFill>
          <a:ln/>
        </p:spPr>
      </p:sp>
      <p:sp>
        <p:nvSpPr>
          <p:cNvPr id="74" name="Text 71"/>
          <p:cNvSpPr/>
          <p:nvPr/>
        </p:nvSpPr>
        <p:spPr>
          <a:xfrm>
            <a:off x="6254496" y="1051560"/>
            <a:ext cx="1627632" cy="320040"/>
          </a:xfrm>
          <a:prstGeom prst="rect">
            <a:avLst/>
          </a:prstGeom>
          <a:noFill/>
          <a:ln/>
        </p:spPr>
        <p:txBody>
          <a:bodyPr wrap="square" lIns="0" tIns="0" rIns="0" bIns="0" rtlCol="0" anchor="ctr">
            <a:normAutofit/>
          </a:bodyPr>
          <a:lstStyle/>
          <a:p>
            <a:pPr algn="ctr" indent="0" marL="0">
              <a:buNone/>
            </a:pPr>
            <a:r>
              <a:rPr lang="en-US" sz="1300" b="1" spc="200" kern="0" dirty="0">
                <a:solidFill>
                  <a:srgbClr val="FFFFFF"/>
                </a:solidFill>
                <a:latin typeface="Arial" pitchFamily="34" charset="0"/>
                <a:ea typeface="Arial" pitchFamily="34" charset="-122"/>
                <a:cs typeface="Arial" pitchFamily="34" charset="-120"/>
              </a:rPr>
              <a:t>Management Ai</a:t>
            </a:r>
            <a:endParaRPr lang="en-US" sz="1300" dirty="0"/>
          </a:p>
        </p:txBody>
      </p:sp>
      <p:sp>
        <p:nvSpPr>
          <p:cNvPr id="75" name="Shape 72"/>
          <p:cNvSpPr/>
          <p:nvPr/>
        </p:nvSpPr>
        <p:spPr>
          <a:xfrm>
            <a:off x="6254496" y="1463040"/>
            <a:ext cx="786384" cy="274320"/>
          </a:xfrm>
          <a:prstGeom prst="roundRect">
            <a:avLst>
              <a:gd name="adj" fmla="val 16667"/>
            </a:avLst>
          </a:prstGeom>
          <a:solidFill>
            <a:srgbClr val="0F3C2A"/>
          </a:solidFill>
          <a:ln/>
        </p:spPr>
      </p:sp>
      <p:sp>
        <p:nvSpPr>
          <p:cNvPr id="76" name="Text 73"/>
          <p:cNvSpPr/>
          <p:nvPr/>
        </p:nvSpPr>
        <p:spPr>
          <a:xfrm>
            <a:off x="6254496"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Dashboard</a:t>
            </a:r>
            <a:endParaRPr lang="en-US" sz="900" dirty="0"/>
          </a:p>
        </p:txBody>
      </p:sp>
      <p:sp>
        <p:nvSpPr>
          <p:cNvPr id="77" name="Shape 74"/>
          <p:cNvSpPr/>
          <p:nvPr/>
        </p:nvSpPr>
        <p:spPr>
          <a:xfrm>
            <a:off x="6254496" y="1828800"/>
            <a:ext cx="786384" cy="502920"/>
          </a:xfrm>
          <a:prstGeom prst="roundRect">
            <a:avLst>
              <a:gd name="adj" fmla="val 10909"/>
            </a:avLst>
          </a:prstGeom>
          <a:ln w="12700">
            <a:solidFill>
              <a:srgbClr val="2A3555"/>
            </a:solidFill>
            <a:prstDash val="solid"/>
          </a:ln>
        </p:spPr>
      </p:sp>
      <p:sp>
        <p:nvSpPr>
          <p:cNvPr id="78" name="Text 75"/>
          <p:cNvSpPr/>
          <p:nvPr/>
        </p:nvSpPr>
        <p:spPr>
          <a:xfrm>
            <a:off x="6281928"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Mgmt Dashboard</a:t>
            </a:r>
            <a:endParaRPr lang="en-US" sz="1300" dirty="0"/>
          </a:p>
        </p:txBody>
      </p:sp>
      <p:sp>
        <p:nvSpPr>
          <p:cNvPr id="79" name="Shape 76"/>
          <p:cNvSpPr/>
          <p:nvPr/>
        </p:nvSpPr>
        <p:spPr>
          <a:xfrm>
            <a:off x="6254496" y="2386584"/>
            <a:ext cx="786384" cy="502920"/>
          </a:xfrm>
          <a:prstGeom prst="roundRect">
            <a:avLst>
              <a:gd name="adj" fmla="val 10909"/>
            </a:avLst>
          </a:prstGeom>
          <a:ln w="12700">
            <a:solidFill>
              <a:srgbClr val="2A3555"/>
            </a:solidFill>
            <a:prstDash val="solid"/>
          </a:ln>
        </p:spPr>
      </p:sp>
      <p:sp>
        <p:nvSpPr>
          <p:cNvPr id="80" name="Text 77"/>
          <p:cNvSpPr/>
          <p:nvPr/>
        </p:nvSpPr>
        <p:spPr>
          <a:xfrm>
            <a:off x="6281928" y="2386584"/>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SOP</a:t>
            </a:r>
            <a:endParaRPr lang="en-US" sz="1300" dirty="0"/>
          </a:p>
        </p:txBody>
      </p:sp>
      <p:sp>
        <p:nvSpPr>
          <p:cNvPr id="81" name="Shape 78"/>
          <p:cNvSpPr/>
          <p:nvPr/>
        </p:nvSpPr>
        <p:spPr>
          <a:xfrm>
            <a:off x="7095744" y="1463040"/>
            <a:ext cx="786384" cy="274320"/>
          </a:xfrm>
          <a:prstGeom prst="roundRect">
            <a:avLst>
              <a:gd name="adj" fmla="val 16667"/>
            </a:avLst>
          </a:prstGeom>
          <a:solidFill>
            <a:srgbClr val="0F3C2A"/>
          </a:solidFill>
          <a:ln/>
        </p:spPr>
      </p:sp>
      <p:sp>
        <p:nvSpPr>
          <p:cNvPr id="82" name="Text 79"/>
          <p:cNvSpPr/>
          <p:nvPr/>
        </p:nvSpPr>
        <p:spPr>
          <a:xfrm>
            <a:off x="7095744"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Data Scientist</a:t>
            </a:r>
            <a:endParaRPr lang="en-US" sz="900" dirty="0"/>
          </a:p>
        </p:txBody>
      </p:sp>
      <p:sp>
        <p:nvSpPr>
          <p:cNvPr id="83" name="Shape 80"/>
          <p:cNvSpPr/>
          <p:nvPr/>
        </p:nvSpPr>
        <p:spPr>
          <a:xfrm>
            <a:off x="7095744" y="1828800"/>
            <a:ext cx="786384" cy="502920"/>
          </a:xfrm>
          <a:prstGeom prst="roundRect">
            <a:avLst>
              <a:gd name="adj" fmla="val 10909"/>
            </a:avLst>
          </a:prstGeom>
          <a:ln w="12700">
            <a:solidFill>
              <a:srgbClr val="2A3555"/>
            </a:solidFill>
            <a:prstDash val="solid"/>
          </a:ln>
        </p:spPr>
      </p:sp>
      <p:sp>
        <p:nvSpPr>
          <p:cNvPr id="84" name="Text 81"/>
          <p:cNvSpPr/>
          <p:nvPr/>
        </p:nvSpPr>
        <p:spPr>
          <a:xfrm>
            <a:off x="7123176"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System Analysis</a:t>
            </a:r>
            <a:endParaRPr lang="en-US" sz="1300" dirty="0"/>
          </a:p>
        </p:txBody>
      </p:sp>
      <p:sp>
        <p:nvSpPr>
          <p:cNvPr id="85" name="Shape 82"/>
          <p:cNvSpPr/>
          <p:nvPr/>
        </p:nvSpPr>
        <p:spPr>
          <a:xfrm>
            <a:off x="8046720" y="1051560"/>
            <a:ext cx="4151376" cy="320040"/>
          </a:xfrm>
          <a:prstGeom prst="rect">
            <a:avLst/>
          </a:prstGeom>
          <a:solidFill>
            <a:srgbClr val="10B981"/>
          </a:solidFill>
          <a:ln/>
        </p:spPr>
      </p:sp>
      <p:sp>
        <p:nvSpPr>
          <p:cNvPr id="86" name="Text 83"/>
          <p:cNvSpPr/>
          <p:nvPr/>
        </p:nvSpPr>
        <p:spPr>
          <a:xfrm>
            <a:off x="8046720" y="1051560"/>
            <a:ext cx="4151376" cy="320040"/>
          </a:xfrm>
          <a:prstGeom prst="rect">
            <a:avLst/>
          </a:prstGeom>
          <a:noFill/>
          <a:ln/>
        </p:spPr>
        <p:txBody>
          <a:bodyPr wrap="square" lIns="0" tIns="0" rIns="0" bIns="0" rtlCol="0" anchor="ctr">
            <a:normAutofit/>
          </a:bodyPr>
          <a:lstStyle/>
          <a:p>
            <a:pPr algn="ctr" indent="0" marL="0">
              <a:buNone/>
            </a:pPr>
            <a:r>
              <a:rPr lang="en-US" sz="1300" b="1" spc="200" kern="0" dirty="0">
                <a:solidFill>
                  <a:srgbClr val="FFFFFF"/>
                </a:solidFill>
                <a:latin typeface="Arial" pitchFamily="34" charset="0"/>
                <a:ea typeface="Arial" pitchFamily="34" charset="-122"/>
                <a:cs typeface="Arial" pitchFamily="34" charset="-120"/>
              </a:rPr>
              <a:t>Operations</a:t>
            </a:r>
            <a:endParaRPr lang="en-US" sz="1300" dirty="0"/>
          </a:p>
        </p:txBody>
      </p:sp>
      <p:sp>
        <p:nvSpPr>
          <p:cNvPr id="87" name="Shape 84"/>
          <p:cNvSpPr/>
          <p:nvPr/>
        </p:nvSpPr>
        <p:spPr>
          <a:xfrm>
            <a:off x="8046720" y="1463040"/>
            <a:ext cx="786384" cy="274320"/>
          </a:xfrm>
          <a:prstGeom prst="roundRect">
            <a:avLst>
              <a:gd name="adj" fmla="val 16667"/>
            </a:avLst>
          </a:prstGeom>
          <a:solidFill>
            <a:srgbClr val="064E3B"/>
          </a:solidFill>
          <a:ln/>
        </p:spPr>
      </p:sp>
      <p:sp>
        <p:nvSpPr>
          <p:cNvPr id="88" name="Text 85"/>
          <p:cNvSpPr/>
          <p:nvPr/>
        </p:nvSpPr>
        <p:spPr>
          <a:xfrm>
            <a:off x="8046720"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QA</a:t>
            </a:r>
            <a:endParaRPr lang="en-US" sz="900" dirty="0"/>
          </a:p>
        </p:txBody>
      </p:sp>
      <p:sp>
        <p:nvSpPr>
          <p:cNvPr id="89" name="Shape 86"/>
          <p:cNvSpPr/>
          <p:nvPr/>
        </p:nvSpPr>
        <p:spPr>
          <a:xfrm>
            <a:off x="8046720" y="1828800"/>
            <a:ext cx="786384" cy="502920"/>
          </a:xfrm>
          <a:prstGeom prst="roundRect">
            <a:avLst>
              <a:gd name="adj" fmla="val 10909"/>
            </a:avLst>
          </a:prstGeom>
          <a:ln w="12700">
            <a:solidFill>
              <a:srgbClr val="2A3555"/>
            </a:solidFill>
            <a:prstDash val="solid"/>
          </a:ln>
        </p:spPr>
      </p:sp>
      <p:sp>
        <p:nvSpPr>
          <p:cNvPr id="90" name="Text 87"/>
          <p:cNvSpPr/>
          <p:nvPr/>
        </p:nvSpPr>
        <p:spPr>
          <a:xfrm>
            <a:off x="8074152"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YQMS</a:t>
            </a:r>
            <a:endParaRPr lang="en-US" sz="1300" dirty="0"/>
          </a:p>
        </p:txBody>
      </p:sp>
      <p:sp>
        <p:nvSpPr>
          <p:cNvPr id="91" name="Shape 88"/>
          <p:cNvSpPr/>
          <p:nvPr/>
        </p:nvSpPr>
        <p:spPr>
          <a:xfrm>
            <a:off x="8046720" y="2386584"/>
            <a:ext cx="786384" cy="502920"/>
          </a:xfrm>
          <a:prstGeom prst="roundRect">
            <a:avLst>
              <a:gd name="adj" fmla="val 10909"/>
            </a:avLst>
          </a:prstGeom>
          <a:ln w="12700">
            <a:solidFill>
              <a:srgbClr val="2A3555"/>
            </a:solidFill>
            <a:prstDash val="solid"/>
          </a:ln>
        </p:spPr>
      </p:sp>
      <p:sp>
        <p:nvSpPr>
          <p:cNvPr id="92" name="Text 89"/>
          <p:cNvSpPr/>
          <p:nvPr/>
        </p:nvSpPr>
        <p:spPr>
          <a:xfrm>
            <a:off x="8074152" y="2386584"/>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Call Out</a:t>
            </a:r>
            <a:endParaRPr lang="en-US" sz="1300" dirty="0"/>
          </a:p>
        </p:txBody>
      </p:sp>
      <p:sp>
        <p:nvSpPr>
          <p:cNvPr id="93" name="Shape 90"/>
          <p:cNvSpPr/>
          <p:nvPr/>
        </p:nvSpPr>
        <p:spPr>
          <a:xfrm>
            <a:off x="8887968" y="1463040"/>
            <a:ext cx="786384" cy="274320"/>
          </a:xfrm>
          <a:prstGeom prst="roundRect">
            <a:avLst>
              <a:gd name="adj" fmla="val 16667"/>
            </a:avLst>
          </a:prstGeom>
          <a:solidFill>
            <a:srgbClr val="064E3B"/>
          </a:solidFill>
          <a:ln/>
        </p:spPr>
      </p:sp>
      <p:sp>
        <p:nvSpPr>
          <p:cNvPr id="94" name="Text 91"/>
          <p:cNvSpPr/>
          <p:nvPr/>
        </p:nvSpPr>
        <p:spPr>
          <a:xfrm>
            <a:off x="8887968"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Production</a:t>
            </a:r>
            <a:endParaRPr lang="en-US" sz="900" dirty="0"/>
          </a:p>
        </p:txBody>
      </p:sp>
      <p:sp>
        <p:nvSpPr>
          <p:cNvPr id="95" name="Shape 92"/>
          <p:cNvSpPr/>
          <p:nvPr/>
        </p:nvSpPr>
        <p:spPr>
          <a:xfrm>
            <a:off x="8887968" y="1828800"/>
            <a:ext cx="786384" cy="502920"/>
          </a:xfrm>
          <a:prstGeom prst="roundRect">
            <a:avLst>
              <a:gd name="adj" fmla="val 10909"/>
            </a:avLst>
          </a:prstGeom>
          <a:ln w="12700">
            <a:solidFill>
              <a:srgbClr val="2A3555"/>
            </a:solidFill>
            <a:prstDash val="solid"/>
          </a:ln>
        </p:spPr>
      </p:sp>
      <p:sp>
        <p:nvSpPr>
          <p:cNvPr id="96" name="Text 93"/>
          <p:cNvSpPr/>
          <p:nvPr/>
        </p:nvSpPr>
        <p:spPr>
          <a:xfrm>
            <a:off x="8915400"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FC</a:t>
            </a:r>
            <a:endParaRPr lang="en-US" sz="1300" dirty="0"/>
          </a:p>
        </p:txBody>
      </p:sp>
      <p:sp>
        <p:nvSpPr>
          <p:cNvPr id="97" name="Shape 94"/>
          <p:cNvSpPr/>
          <p:nvPr/>
        </p:nvSpPr>
        <p:spPr>
          <a:xfrm>
            <a:off x="8887968" y="2386584"/>
            <a:ext cx="786384" cy="502920"/>
          </a:xfrm>
          <a:prstGeom prst="roundRect">
            <a:avLst>
              <a:gd name="adj" fmla="val 10909"/>
            </a:avLst>
          </a:prstGeom>
          <a:ln w="12700">
            <a:solidFill>
              <a:srgbClr val="2A3555"/>
            </a:solidFill>
            <a:prstDash val="solid"/>
          </a:ln>
        </p:spPr>
      </p:sp>
      <p:sp>
        <p:nvSpPr>
          <p:cNvPr id="98" name="Text 95"/>
          <p:cNvSpPr/>
          <p:nvPr/>
        </p:nvSpPr>
        <p:spPr>
          <a:xfrm>
            <a:off x="8915400" y="2386584"/>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YWIP</a:t>
            </a:r>
            <a:endParaRPr lang="en-US" sz="1300" dirty="0"/>
          </a:p>
        </p:txBody>
      </p:sp>
      <p:sp>
        <p:nvSpPr>
          <p:cNvPr id="99" name="Shape 96"/>
          <p:cNvSpPr/>
          <p:nvPr/>
        </p:nvSpPr>
        <p:spPr>
          <a:xfrm>
            <a:off x="8887968" y="2944368"/>
            <a:ext cx="786384" cy="502920"/>
          </a:xfrm>
          <a:prstGeom prst="roundRect">
            <a:avLst>
              <a:gd name="adj" fmla="val 10909"/>
            </a:avLst>
          </a:prstGeom>
          <a:ln w="12700">
            <a:solidFill>
              <a:srgbClr val="2A3555"/>
            </a:solidFill>
            <a:prstDash val="solid"/>
          </a:ln>
        </p:spPr>
      </p:sp>
      <p:sp>
        <p:nvSpPr>
          <p:cNvPr id="100" name="Text 97"/>
          <p:cNvSpPr/>
          <p:nvPr/>
        </p:nvSpPr>
        <p:spPr>
          <a:xfrm>
            <a:off x="8915400" y="2944368"/>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CE</a:t>
            </a:r>
            <a:endParaRPr lang="en-US" sz="1300" dirty="0"/>
          </a:p>
        </p:txBody>
      </p:sp>
      <p:sp>
        <p:nvSpPr>
          <p:cNvPr id="101" name="Shape 98"/>
          <p:cNvSpPr/>
          <p:nvPr/>
        </p:nvSpPr>
        <p:spPr>
          <a:xfrm>
            <a:off x="8887968" y="3502152"/>
            <a:ext cx="786384" cy="502920"/>
          </a:xfrm>
          <a:prstGeom prst="roundRect">
            <a:avLst>
              <a:gd name="adj" fmla="val 10909"/>
            </a:avLst>
          </a:prstGeom>
          <a:ln w="12700">
            <a:solidFill>
              <a:srgbClr val="2A3555"/>
            </a:solidFill>
            <a:prstDash val="solid"/>
          </a:ln>
        </p:spPr>
      </p:sp>
      <p:sp>
        <p:nvSpPr>
          <p:cNvPr id="102" name="Text 99"/>
          <p:cNvSpPr/>
          <p:nvPr/>
        </p:nvSpPr>
        <p:spPr>
          <a:xfrm>
            <a:off x="8915400" y="3502152"/>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YTM</a:t>
            </a:r>
            <a:endParaRPr lang="en-US" sz="1300" dirty="0"/>
          </a:p>
        </p:txBody>
      </p:sp>
      <p:sp>
        <p:nvSpPr>
          <p:cNvPr id="103" name="Shape 100"/>
          <p:cNvSpPr/>
          <p:nvPr/>
        </p:nvSpPr>
        <p:spPr>
          <a:xfrm>
            <a:off x="8887968" y="4059936"/>
            <a:ext cx="786384" cy="502920"/>
          </a:xfrm>
          <a:prstGeom prst="roundRect">
            <a:avLst>
              <a:gd name="adj" fmla="val 10909"/>
            </a:avLst>
          </a:prstGeom>
          <a:ln w="12700">
            <a:solidFill>
              <a:srgbClr val="2A3555"/>
            </a:solidFill>
            <a:prstDash val="solid"/>
          </a:ln>
        </p:spPr>
      </p:sp>
      <p:sp>
        <p:nvSpPr>
          <p:cNvPr id="104" name="Text 101"/>
          <p:cNvSpPr/>
          <p:nvPr/>
        </p:nvSpPr>
        <p:spPr>
          <a:xfrm>
            <a:off x="8915400" y="4059936"/>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YTM Shop</a:t>
            </a:r>
            <a:endParaRPr lang="en-US" sz="1300" dirty="0"/>
          </a:p>
        </p:txBody>
      </p:sp>
      <p:sp>
        <p:nvSpPr>
          <p:cNvPr id="105" name="Shape 102"/>
          <p:cNvSpPr/>
          <p:nvPr/>
        </p:nvSpPr>
        <p:spPr>
          <a:xfrm>
            <a:off x="9729216" y="1463040"/>
            <a:ext cx="786384" cy="274320"/>
          </a:xfrm>
          <a:prstGeom prst="roundRect">
            <a:avLst>
              <a:gd name="adj" fmla="val 16667"/>
            </a:avLst>
          </a:prstGeom>
          <a:solidFill>
            <a:srgbClr val="064E3B"/>
          </a:solidFill>
          <a:ln/>
        </p:spPr>
      </p:sp>
      <p:sp>
        <p:nvSpPr>
          <p:cNvPr id="106" name="Text 103"/>
          <p:cNvSpPr/>
          <p:nvPr/>
        </p:nvSpPr>
        <p:spPr>
          <a:xfrm>
            <a:off x="9729216"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4DP</a:t>
            </a:r>
            <a:endParaRPr lang="en-US" sz="900" dirty="0"/>
          </a:p>
        </p:txBody>
      </p:sp>
      <p:sp>
        <p:nvSpPr>
          <p:cNvPr id="107" name="Shape 104"/>
          <p:cNvSpPr/>
          <p:nvPr/>
        </p:nvSpPr>
        <p:spPr>
          <a:xfrm>
            <a:off x="9729216" y="1828800"/>
            <a:ext cx="786384" cy="502920"/>
          </a:xfrm>
          <a:prstGeom prst="roundRect">
            <a:avLst>
              <a:gd name="adj" fmla="val 10909"/>
            </a:avLst>
          </a:prstGeom>
          <a:ln w="12700">
            <a:solidFill>
              <a:srgbClr val="2A3555"/>
            </a:solidFill>
            <a:prstDash val="solid"/>
          </a:ln>
        </p:spPr>
      </p:sp>
      <p:sp>
        <p:nvSpPr>
          <p:cNvPr id="108" name="Text 105"/>
          <p:cNvSpPr/>
          <p:nvPr/>
        </p:nvSpPr>
        <p:spPr>
          <a:xfrm>
            <a:off x="9756648"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4DP</a:t>
            </a:r>
            <a:endParaRPr lang="en-US" sz="1300" dirty="0"/>
          </a:p>
        </p:txBody>
      </p:sp>
      <p:sp>
        <p:nvSpPr>
          <p:cNvPr id="109" name="Shape 106"/>
          <p:cNvSpPr/>
          <p:nvPr/>
        </p:nvSpPr>
        <p:spPr>
          <a:xfrm>
            <a:off x="10570464" y="1463040"/>
            <a:ext cx="786384" cy="274320"/>
          </a:xfrm>
          <a:prstGeom prst="roundRect">
            <a:avLst>
              <a:gd name="adj" fmla="val 16667"/>
            </a:avLst>
          </a:prstGeom>
          <a:solidFill>
            <a:srgbClr val="064E3B"/>
          </a:solidFill>
          <a:ln/>
        </p:spPr>
      </p:sp>
      <p:sp>
        <p:nvSpPr>
          <p:cNvPr id="110" name="Text 107"/>
          <p:cNvSpPr/>
          <p:nvPr/>
        </p:nvSpPr>
        <p:spPr>
          <a:xfrm>
            <a:off x="10570464"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YPI</a:t>
            </a:r>
            <a:endParaRPr lang="en-US" sz="900" dirty="0"/>
          </a:p>
        </p:txBody>
      </p:sp>
      <p:sp>
        <p:nvSpPr>
          <p:cNvPr id="111" name="Shape 108"/>
          <p:cNvSpPr/>
          <p:nvPr/>
        </p:nvSpPr>
        <p:spPr>
          <a:xfrm>
            <a:off x="10570464" y="1828800"/>
            <a:ext cx="786384" cy="502920"/>
          </a:xfrm>
          <a:prstGeom prst="roundRect">
            <a:avLst>
              <a:gd name="adj" fmla="val 10909"/>
            </a:avLst>
          </a:prstGeom>
          <a:ln w="12700">
            <a:solidFill>
              <a:srgbClr val="2A3555"/>
            </a:solidFill>
            <a:prstDash val="solid"/>
          </a:ln>
        </p:spPr>
      </p:sp>
      <p:sp>
        <p:nvSpPr>
          <p:cNvPr id="112" name="Text 109"/>
          <p:cNvSpPr/>
          <p:nvPr/>
        </p:nvSpPr>
        <p:spPr>
          <a:xfrm>
            <a:off x="10597896"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YPI</a:t>
            </a:r>
            <a:endParaRPr lang="en-US" sz="1300" dirty="0"/>
          </a:p>
        </p:txBody>
      </p:sp>
      <p:sp>
        <p:nvSpPr>
          <p:cNvPr id="113" name="Shape 110"/>
          <p:cNvSpPr/>
          <p:nvPr/>
        </p:nvSpPr>
        <p:spPr>
          <a:xfrm>
            <a:off x="11411712" y="1463040"/>
            <a:ext cx="786384" cy="274320"/>
          </a:xfrm>
          <a:prstGeom prst="roundRect">
            <a:avLst>
              <a:gd name="adj" fmla="val 16667"/>
            </a:avLst>
          </a:prstGeom>
          <a:solidFill>
            <a:srgbClr val="064E3B"/>
          </a:solidFill>
          <a:ln/>
        </p:spPr>
      </p:sp>
      <p:sp>
        <p:nvSpPr>
          <p:cNvPr id="114" name="Text 111"/>
          <p:cNvSpPr/>
          <p:nvPr/>
        </p:nvSpPr>
        <p:spPr>
          <a:xfrm>
            <a:off x="11411712" y="1463040"/>
            <a:ext cx="786384" cy="274320"/>
          </a:xfrm>
          <a:prstGeom prst="rect">
            <a:avLst/>
          </a:prstGeom>
          <a:noFill/>
          <a:ln/>
        </p:spPr>
        <p:txBody>
          <a:bodyPr wrap="square" lIns="0" tIns="0" rIns="0" bIns="0" rtlCol="0" anchor="ctr">
            <a:normAutofit/>
          </a:bodyPr>
          <a:lstStyle/>
          <a:p>
            <a:pPr algn="ctr" indent="0" marL="0">
              <a:buNone/>
            </a:pPr>
            <a:r>
              <a:rPr lang="en-US" sz="900" b="1" spc="50" kern="0" dirty="0">
                <a:solidFill>
                  <a:srgbClr val="FFFFFF"/>
                </a:solidFill>
                <a:latin typeface="Arial" pitchFamily="34" charset="0"/>
                <a:ea typeface="Arial" pitchFamily="34" charset="-122"/>
                <a:cs typeface="Arial" pitchFamily="34" charset="-120"/>
              </a:rPr>
              <a:t>MRP</a:t>
            </a:r>
            <a:endParaRPr lang="en-US" sz="900" dirty="0"/>
          </a:p>
        </p:txBody>
      </p:sp>
      <p:sp>
        <p:nvSpPr>
          <p:cNvPr id="115" name="Shape 112"/>
          <p:cNvSpPr/>
          <p:nvPr/>
        </p:nvSpPr>
        <p:spPr>
          <a:xfrm>
            <a:off x="11411712" y="1828800"/>
            <a:ext cx="786384" cy="502920"/>
          </a:xfrm>
          <a:prstGeom prst="roundRect">
            <a:avLst>
              <a:gd name="adj" fmla="val 10909"/>
            </a:avLst>
          </a:prstGeom>
          <a:ln w="12700">
            <a:solidFill>
              <a:srgbClr val="2A3555"/>
            </a:solidFill>
            <a:prstDash val="solid"/>
          </a:ln>
        </p:spPr>
      </p:sp>
      <p:sp>
        <p:nvSpPr>
          <p:cNvPr id="116" name="Text 113"/>
          <p:cNvSpPr/>
          <p:nvPr/>
        </p:nvSpPr>
        <p:spPr>
          <a:xfrm>
            <a:off x="11439144" y="1828800"/>
            <a:ext cx="731520"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MRP</a:t>
            </a:r>
            <a:endParaRPr lang="en-US" sz="1300" dirty="0"/>
          </a:p>
        </p:txBody>
      </p:sp>
      <p:sp>
        <p:nvSpPr>
          <p:cNvPr id="117" name="Text 114"/>
          <p:cNvSpPr/>
          <p:nvPr/>
        </p:nvSpPr>
        <p:spPr>
          <a:xfrm>
            <a:off x="274320" y="6400800"/>
            <a:ext cx="11430000" cy="274320"/>
          </a:xfrm>
          <a:prstGeom prst="rect">
            <a:avLst/>
          </a:prstGeom>
          <a:noFill/>
          <a:ln/>
        </p:spPr>
        <p:txBody>
          <a:bodyPr wrap="square" lIns="0" tIns="0" rIns="0" bIns="0" rtlCol="0" anchor="ctr"/>
          <a:lstStyle/>
          <a:p>
            <a:pPr algn="ctr" indent="0" marL="0">
              <a:buNone/>
            </a:pPr>
            <a:r>
              <a:rPr lang="en-US" sz="1000" i="1" dirty="0">
                <a:solidFill>
                  <a:srgbClr val="94A3B8"/>
                </a:solidFill>
                <a:latin typeface="Arial" pitchFamily="34" charset="0"/>
                <a:ea typeface="Arial" pitchFamily="34" charset="-122"/>
                <a:cs typeface="Arial" pitchFamily="34" charset="-120"/>
              </a:rPr>
              <a:t>Live dashboard · yaikh.com/experience — 60+ agents across Administration, Management &amp; Operations.</a:t>
            </a:r>
            <a:endParaRPr lang="en-US" sz="1000" dirty="0"/>
          </a:p>
        </p:txBody>
      </p:sp>
      <p:sp>
        <p:nvSpPr>
          <p:cNvPr id="118" name="Text 115"/>
          <p:cNvSpPr/>
          <p:nvPr/>
        </p:nvSpPr>
        <p:spPr>
          <a:xfrm>
            <a:off x="11548872" y="6473952"/>
            <a:ext cx="548640" cy="274320"/>
          </a:xfrm>
          <a:prstGeom prst="rect">
            <a:avLst/>
          </a:prstGeom>
          <a:noFill/>
          <a:ln/>
        </p:spPr>
        <p:txBody>
          <a:bodyPr wrap="square" lIns="0" tIns="0" rIns="0" bIns="0" rtlCol="0" anchor="ctr"/>
          <a:lstStyle/>
          <a:p>
            <a:pPr algn="r" indent="0" marL="0">
              <a:buNone/>
            </a:pPr>
            <a:r>
              <a:rPr lang="en-US" sz="1000" b="1" dirty="0">
                <a:solidFill>
                  <a:srgbClr val="FFD58A"/>
                </a:solidFill>
                <a:latin typeface="Arial" pitchFamily="34" charset="0"/>
                <a:ea typeface="Arial" pitchFamily="34" charset="-122"/>
                <a:cs typeface="Arial" pitchFamily="34" charset="-120"/>
              </a:rPr>
              <a:t>PD2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06 / PRICING &amp; PACKAGING</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0A1F47"/>
                </a:solidFill>
                <a:latin typeface="Arial" pitchFamily="34" charset="0"/>
                <a:ea typeface="Arial" pitchFamily="34" charset="-122"/>
                <a:cs typeface="Arial" pitchFamily="34" charset="-120"/>
              </a:rPr>
              <a:t>Start $120 · scale as the business grows.</a:t>
            </a:r>
            <a:endParaRPr lang="en-US" sz="3000" dirty="0"/>
          </a:p>
        </p:txBody>
      </p:sp>
      <p:sp>
        <p:nvSpPr>
          <p:cNvPr id="4" name="Shape 2"/>
          <p:cNvSpPr/>
          <p:nvPr/>
        </p:nvSpPr>
        <p:spPr>
          <a:xfrm>
            <a:off x="548640" y="4206240"/>
            <a:ext cx="1280160" cy="1371600"/>
          </a:xfrm>
          <a:prstGeom prst="roundRect">
            <a:avLst>
              <a:gd name="adj" fmla="val 5714"/>
            </a:avLst>
          </a:prstGeom>
          <a:solidFill>
            <a:srgbClr val="E0F2FE"/>
          </a:solidFill>
          <a:ln w="6350">
            <a:solidFill>
              <a:srgbClr val="E2E8F0"/>
            </a:solidFill>
            <a:prstDash val="solid"/>
          </a:ln>
        </p:spPr>
      </p:sp>
      <p:sp>
        <p:nvSpPr>
          <p:cNvPr id="5" name="Text 3"/>
          <p:cNvSpPr/>
          <p:nvPr/>
        </p:nvSpPr>
        <p:spPr>
          <a:xfrm>
            <a:off x="640080" y="429768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1</a:t>
            </a:r>
            <a:endParaRPr lang="en-US" sz="800" dirty="0"/>
          </a:p>
        </p:txBody>
      </p:sp>
      <p:sp>
        <p:nvSpPr>
          <p:cNvPr id="6" name="Text 4"/>
          <p:cNvSpPr/>
          <p:nvPr/>
        </p:nvSpPr>
        <p:spPr>
          <a:xfrm>
            <a:off x="621792" y="453542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Cloud · Starter</a:t>
            </a:r>
            <a:endParaRPr lang="en-US" sz="1100" dirty="0"/>
          </a:p>
        </p:txBody>
      </p:sp>
      <p:sp>
        <p:nvSpPr>
          <p:cNvPr id="7" name="Text 5"/>
          <p:cNvSpPr/>
          <p:nvPr/>
        </p:nvSpPr>
        <p:spPr>
          <a:xfrm>
            <a:off x="621792" y="493776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5 key members</a:t>
            </a:r>
            <a:endParaRPr lang="en-US" sz="850" dirty="0"/>
          </a:p>
        </p:txBody>
      </p:sp>
      <p:sp>
        <p:nvSpPr>
          <p:cNvPr id="8" name="Text 6"/>
          <p:cNvSpPr/>
          <p:nvPr/>
        </p:nvSpPr>
        <p:spPr>
          <a:xfrm>
            <a:off x="621792" y="5074920"/>
            <a:ext cx="1133856" cy="274320"/>
          </a:xfrm>
          <a:prstGeom prst="rect">
            <a:avLst/>
          </a:prstGeom>
          <a:noFill/>
          <a:ln/>
        </p:spPr>
        <p:txBody>
          <a:bodyPr wrap="square" lIns="0" tIns="0" rIns="0" bIns="0" rtlCol="0" anchor="ctr"/>
          <a:lstStyle/>
          <a:p>
            <a:pPr algn="ctr" indent="0" marL="0">
              <a:buNone/>
            </a:pPr>
            <a:r>
              <a:rPr lang="en-US" sz="1400" b="1" dirty="0">
                <a:solidFill>
                  <a:srgbClr val="1E4DAA"/>
                </a:solidFill>
                <a:latin typeface="Arial" pitchFamily="34" charset="0"/>
                <a:ea typeface="Arial" pitchFamily="34" charset="-122"/>
                <a:cs typeface="Arial" pitchFamily="34" charset="-120"/>
              </a:rPr>
              <a:t>$120</a:t>
            </a:r>
            <a:endParaRPr lang="en-US" sz="1400" dirty="0"/>
          </a:p>
        </p:txBody>
      </p:sp>
      <p:sp>
        <p:nvSpPr>
          <p:cNvPr id="9" name="Text 7"/>
          <p:cNvSpPr/>
          <p:nvPr/>
        </p:nvSpPr>
        <p:spPr>
          <a:xfrm>
            <a:off x="621792"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a:t>
            </a:r>
            <a:endParaRPr lang="en-US" sz="800" dirty="0"/>
          </a:p>
        </p:txBody>
      </p:sp>
      <p:sp>
        <p:nvSpPr>
          <p:cNvPr id="10" name="Shape 8"/>
          <p:cNvSpPr/>
          <p:nvPr/>
        </p:nvSpPr>
        <p:spPr>
          <a:xfrm>
            <a:off x="1938528" y="3931920"/>
            <a:ext cx="1280160" cy="1645920"/>
          </a:xfrm>
          <a:prstGeom prst="roundRect">
            <a:avLst>
              <a:gd name="adj" fmla="val 5714"/>
            </a:avLst>
          </a:prstGeom>
          <a:solidFill>
            <a:srgbClr val="BAE6FD"/>
          </a:solidFill>
          <a:ln w="6350">
            <a:solidFill>
              <a:srgbClr val="E2E8F0"/>
            </a:solidFill>
            <a:prstDash val="solid"/>
          </a:ln>
        </p:spPr>
      </p:sp>
      <p:sp>
        <p:nvSpPr>
          <p:cNvPr id="11" name="Text 9"/>
          <p:cNvSpPr/>
          <p:nvPr/>
        </p:nvSpPr>
        <p:spPr>
          <a:xfrm>
            <a:off x="2029968" y="402336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2</a:t>
            </a:r>
            <a:endParaRPr lang="en-US" sz="800" dirty="0"/>
          </a:p>
        </p:txBody>
      </p:sp>
      <p:sp>
        <p:nvSpPr>
          <p:cNvPr id="12" name="Text 10"/>
          <p:cNvSpPr/>
          <p:nvPr/>
        </p:nvSpPr>
        <p:spPr>
          <a:xfrm>
            <a:off x="2011680" y="426110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Cloud · Growth</a:t>
            </a:r>
            <a:endParaRPr lang="en-US" sz="1100" dirty="0"/>
          </a:p>
        </p:txBody>
      </p:sp>
      <p:sp>
        <p:nvSpPr>
          <p:cNvPr id="13" name="Text 11"/>
          <p:cNvSpPr/>
          <p:nvPr/>
        </p:nvSpPr>
        <p:spPr>
          <a:xfrm>
            <a:off x="2011680" y="466344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5 → 300 users</a:t>
            </a:r>
            <a:endParaRPr lang="en-US" sz="850" dirty="0"/>
          </a:p>
        </p:txBody>
      </p:sp>
      <p:sp>
        <p:nvSpPr>
          <p:cNvPr id="14" name="Text 12"/>
          <p:cNvSpPr/>
          <p:nvPr/>
        </p:nvSpPr>
        <p:spPr>
          <a:xfrm>
            <a:off x="2011680" y="5074920"/>
            <a:ext cx="1133856" cy="274320"/>
          </a:xfrm>
          <a:prstGeom prst="rect">
            <a:avLst/>
          </a:prstGeom>
          <a:noFill/>
          <a:ln/>
        </p:spPr>
        <p:txBody>
          <a:bodyPr wrap="square" lIns="0" tIns="0" rIns="0" bIns="0" rtlCol="0" anchor="ctr"/>
          <a:lstStyle/>
          <a:p>
            <a:pPr algn="ctr" indent="0" marL="0">
              <a:buNone/>
            </a:pPr>
            <a:r>
              <a:rPr lang="en-US" sz="1400" b="1" dirty="0">
                <a:solidFill>
                  <a:srgbClr val="1E4DAA"/>
                </a:solidFill>
                <a:latin typeface="Arial" pitchFamily="34" charset="0"/>
                <a:ea typeface="Arial" pitchFamily="34" charset="-122"/>
                <a:cs typeface="Arial" pitchFamily="34" charset="-120"/>
              </a:rPr>
              <a:t>$750</a:t>
            </a:r>
            <a:endParaRPr lang="en-US" sz="1400" dirty="0"/>
          </a:p>
        </p:txBody>
      </p:sp>
      <p:sp>
        <p:nvSpPr>
          <p:cNvPr id="15" name="Text 13"/>
          <p:cNvSpPr/>
          <p:nvPr/>
        </p:nvSpPr>
        <p:spPr>
          <a:xfrm>
            <a:off x="2011680"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a:t>
            </a:r>
            <a:endParaRPr lang="en-US" sz="800" dirty="0"/>
          </a:p>
        </p:txBody>
      </p:sp>
      <p:sp>
        <p:nvSpPr>
          <p:cNvPr id="16" name="Shape 14"/>
          <p:cNvSpPr/>
          <p:nvPr/>
        </p:nvSpPr>
        <p:spPr>
          <a:xfrm>
            <a:off x="3328416" y="3657600"/>
            <a:ext cx="1280160" cy="1920240"/>
          </a:xfrm>
          <a:prstGeom prst="roundRect">
            <a:avLst>
              <a:gd name="adj" fmla="val 5714"/>
            </a:avLst>
          </a:prstGeom>
          <a:solidFill>
            <a:srgbClr val="93C5FD"/>
          </a:solidFill>
          <a:ln w="6350">
            <a:solidFill>
              <a:srgbClr val="E2E8F0"/>
            </a:solidFill>
            <a:prstDash val="solid"/>
          </a:ln>
        </p:spPr>
      </p:sp>
      <p:sp>
        <p:nvSpPr>
          <p:cNvPr id="17" name="Text 15"/>
          <p:cNvSpPr/>
          <p:nvPr/>
        </p:nvSpPr>
        <p:spPr>
          <a:xfrm>
            <a:off x="3419856" y="374904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3</a:t>
            </a:r>
            <a:endParaRPr lang="en-US" sz="800" dirty="0"/>
          </a:p>
        </p:txBody>
      </p:sp>
      <p:sp>
        <p:nvSpPr>
          <p:cNvPr id="18" name="Text 16"/>
          <p:cNvSpPr/>
          <p:nvPr/>
        </p:nvSpPr>
        <p:spPr>
          <a:xfrm>
            <a:off x="3401568" y="398678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Cloud · Enterprise</a:t>
            </a:r>
            <a:endParaRPr lang="en-US" sz="1100" dirty="0"/>
          </a:p>
        </p:txBody>
      </p:sp>
      <p:sp>
        <p:nvSpPr>
          <p:cNvPr id="19" name="Text 17"/>
          <p:cNvSpPr/>
          <p:nvPr/>
        </p:nvSpPr>
        <p:spPr>
          <a:xfrm>
            <a:off x="3401568" y="438912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300 → 1,000 users</a:t>
            </a:r>
            <a:endParaRPr lang="en-US" sz="850" dirty="0"/>
          </a:p>
        </p:txBody>
      </p:sp>
      <p:sp>
        <p:nvSpPr>
          <p:cNvPr id="20" name="Text 18"/>
          <p:cNvSpPr/>
          <p:nvPr/>
        </p:nvSpPr>
        <p:spPr>
          <a:xfrm>
            <a:off x="3401568" y="5074920"/>
            <a:ext cx="1133856" cy="274320"/>
          </a:xfrm>
          <a:prstGeom prst="rect">
            <a:avLst/>
          </a:prstGeom>
          <a:noFill/>
          <a:ln/>
        </p:spPr>
        <p:txBody>
          <a:bodyPr wrap="square" lIns="0" tIns="0" rIns="0" bIns="0" rtlCol="0" anchor="ctr"/>
          <a:lstStyle/>
          <a:p>
            <a:pPr algn="ctr" indent="0" marL="0">
              <a:buNone/>
            </a:pPr>
            <a:r>
              <a:rPr lang="en-US" sz="1400" b="1" dirty="0">
                <a:solidFill>
                  <a:srgbClr val="1E4DAA"/>
                </a:solidFill>
                <a:latin typeface="Arial" pitchFamily="34" charset="0"/>
                <a:ea typeface="Arial" pitchFamily="34" charset="-122"/>
                <a:cs typeface="Arial" pitchFamily="34" charset="-120"/>
              </a:rPr>
              <a:t>$1,200</a:t>
            </a:r>
            <a:endParaRPr lang="en-US" sz="1400" dirty="0"/>
          </a:p>
        </p:txBody>
      </p:sp>
      <p:sp>
        <p:nvSpPr>
          <p:cNvPr id="21" name="Text 19"/>
          <p:cNvSpPr/>
          <p:nvPr/>
        </p:nvSpPr>
        <p:spPr>
          <a:xfrm>
            <a:off x="3401568"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a:t>
            </a:r>
            <a:endParaRPr lang="en-US" sz="800" dirty="0"/>
          </a:p>
        </p:txBody>
      </p:sp>
      <p:sp>
        <p:nvSpPr>
          <p:cNvPr id="22" name="Shape 20"/>
          <p:cNvSpPr/>
          <p:nvPr/>
        </p:nvSpPr>
        <p:spPr>
          <a:xfrm>
            <a:off x="4718304" y="3383280"/>
            <a:ext cx="1280160" cy="2194560"/>
          </a:xfrm>
          <a:prstGeom prst="roundRect">
            <a:avLst>
              <a:gd name="adj" fmla="val 5714"/>
            </a:avLst>
          </a:prstGeom>
          <a:solidFill>
            <a:srgbClr val="FED7AA"/>
          </a:solidFill>
          <a:ln w="6350">
            <a:solidFill>
              <a:srgbClr val="E2E8F0"/>
            </a:solidFill>
            <a:prstDash val="solid"/>
          </a:ln>
        </p:spPr>
      </p:sp>
      <p:sp>
        <p:nvSpPr>
          <p:cNvPr id="23" name="Text 21"/>
          <p:cNvSpPr/>
          <p:nvPr/>
        </p:nvSpPr>
        <p:spPr>
          <a:xfrm>
            <a:off x="4809744" y="347472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4</a:t>
            </a:r>
            <a:endParaRPr lang="en-US" sz="800" dirty="0"/>
          </a:p>
        </p:txBody>
      </p:sp>
      <p:sp>
        <p:nvSpPr>
          <p:cNvPr id="24" name="Text 22"/>
          <p:cNvSpPr/>
          <p:nvPr/>
        </p:nvSpPr>
        <p:spPr>
          <a:xfrm>
            <a:off x="4791456" y="371246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Ai Server</a:t>
            </a:r>
            <a:endParaRPr lang="en-US" sz="1100" dirty="0"/>
          </a:p>
        </p:txBody>
      </p:sp>
      <p:sp>
        <p:nvSpPr>
          <p:cNvPr id="25" name="Text 23"/>
          <p:cNvSpPr/>
          <p:nvPr/>
        </p:nvSpPr>
        <p:spPr>
          <a:xfrm>
            <a:off x="4791456" y="411480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Hardware · 1,000+ users</a:t>
            </a:r>
            <a:endParaRPr lang="en-US" sz="850" dirty="0"/>
          </a:p>
        </p:txBody>
      </p:sp>
      <p:sp>
        <p:nvSpPr>
          <p:cNvPr id="26" name="Text 24"/>
          <p:cNvSpPr/>
          <p:nvPr/>
        </p:nvSpPr>
        <p:spPr>
          <a:xfrm>
            <a:off x="4791456" y="5074920"/>
            <a:ext cx="1133856" cy="274320"/>
          </a:xfrm>
          <a:prstGeom prst="rect">
            <a:avLst/>
          </a:prstGeom>
          <a:noFill/>
          <a:ln/>
        </p:spPr>
        <p:txBody>
          <a:bodyPr wrap="square" lIns="0" tIns="0" rIns="0" bIns="0" rtlCol="0" anchor="ctr"/>
          <a:lstStyle/>
          <a:p>
            <a:pPr algn="ctr" indent="0" marL="0">
              <a:buNone/>
            </a:pPr>
            <a:r>
              <a:rPr lang="en-US" sz="1400" b="1" dirty="0">
                <a:solidFill>
                  <a:srgbClr val="F37021"/>
                </a:solidFill>
                <a:latin typeface="Arial" pitchFamily="34" charset="0"/>
                <a:ea typeface="Arial" pitchFamily="34" charset="-122"/>
                <a:cs typeface="Arial" pitchFamily="34" charset="-120"/>
              </a:rPr>
              <a:t>$2,500</a:t>
            </a:r>
            <a:endParaRPr lang="en-US" sz="1400" dirty="0"/>
          </a:p>
        </p:txBody>
      </p:sp>
      <p:sp>
        <p:nvSpPr>
          <p:cNvPr id="27" name="Text 25"/>
          <p:cNvSpPr/>
          <p:nvPr/>
        </p:nvSpPr>
        <p:spPr>
          <a:xfrm>
            <a:off x="4791456"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once</a:t>
            </a:r>
            <a:endParaRPr lang="en-US" sz="800" dirty="0"/>
          </a:p>
        </p:txBody>
      </p:sp>
      <p:sp>
        <p:nvSpPr>
          <p:cNvPr id="28" name="Shape 26"/>
          <p:cNvSpPr/>
          <p:nvPr/>
        </p:nvSpPr>
        <p:spPr>
          <a:xfrm>
            <a:off x="6108192" y="3154680"/>
            <a:ext cx="1280160" cy="2423160"/>
          </a:xfrm>
          <a:prstGeom prst="roundRect">
            <a:avLst>
              <a:gd name="adj" fmla="val 5714"/>
            </a:avLst>
          </a:prstGeom>
          <a:solidFill>
            <a:srgbClr val="BFDBFE"/>
          </a:solidFill>
          <a:ln w="6350">
            <a:solidFill>
              <a:srgbClr val="E2E8F0"/>
            </a:solidFill>
            <a:prstDash val="solid"/>
          </a:ln>
        </p:spPr>
      </p:sp>
      <p:sp>
        <p:nvSpPr>
          <p:cNvPr id="29" name="Text 27"/>
          <p:cNvSpPr/>
          <p:nvPr/>
        </p:nvSpPr>
        <p:spPr>
          <a:xfrm>
            <a:off x="6199632" y="324612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4</a:t>
            </a:r>
            <a:endParaRPr lang="en-US" sz="800" dirty="0"/>
          </a:p>
        </p:txBody>
      </p:sp>
      <p:sp>
        <p:nvSpPr>
          <p:cNvPr id="30" name="Text 28"/>
          <p:cNvSpPr/>
          <p:nvPr/>
        </p:nvSpPr>
        <p:spPr>
          <a:xfrm>
            <a:off x="6181344" y="348386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Administrative</a:t>
            </a:r>
            <a:endParaRPr lang="en-US" sz="1100" dirty="0"/>
          </a:p>
        </p:txBody>
      </p:sp>
      <p:sp>
        <p:nvSpPr>
          <p:cNvPr id="31" name="Text 29"/>
          <p:cNvSpPr/>
          <p:nvPr/>
        </p:nvSpPr>
        <p:spPr>
          <a:xfrm>
            <a:off x="6181344" y="388620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tools</a:t>
            </a:r>
            <a:endParaRPr lang="en-US" sz="850" dirty="0"/>
          </a:p>
        </p:txBody>
      </p:sp>
      <p:sp>
        <p:nvSpPr>
          <p:cNvPr id="32" name="Text 30"/>
          <p:cNvSpPr/>
          <p:nvPr/>
        </p:nvSpPr>
        <p:spPr>
          <a:xfrm>
            <a:off x="6181344" y="5074920"/>
            <a:ext cx="1133856" cy="274320"/>
          </a:xfrm>
          <a:prstGeom prst="rect">
            <a:avLst/>
          </a:prstGeom>
          <a:noFill/>
          <a:ln/>
        </p:spPr>
        <p:txBody>
          <a:bodyPr wrap="square" lIns="0" tIns="0" rIns="0" bIns="0" rtlCol="0" anchor="ctr"/>
          <a:lstStyle/>
          <a:p>
            <a:pPr algn="ctr" indent="0" marL="0">
              <a:buNone/>
            </a:pPr>
            <a:r>
              <a:rPr lang="en-US" sz="1400" b="1" dirty="0">
                <a:solidFill>
                  <a:srgbClr val="1E4DAA"/>
                </a:solidFill>
                <a:latin typeface="Arial" pitchFamily="34" charset="0"/>
                <a:ea typeface="Arial" pitchFamily="34" charset="-122"/>
                <a:cs typeface="Arial" pitchFamily="34" charset="-120"/>
              </a:rPr>
              <a:t>+ $5,000</a:t>
            </a:r>
            <a:endParaRPr lang="en-US" sz="1400" dirty="0"/>
          </a:p>
        </p:txBody>
      </p:sp>
      <p:sp>
        <p:nvSpPr>
          <p:cNvPr id="33" name="Text 31"/>
          <p:cNvSpPr/>
          <p:nvPr/>
        </p:nvSpPr>
        <p:spPr>
          <a:xfrm>
            <a:off x="6181344"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a:t>
            </a:r>
            <a:endParaRPr lang="en-US" sz="800" dirty="0"/>
          </a:p>
        </p:txBody>
      </p:sp>
      <p:sp>
        <p:nvSpPr>
          <p:cNvPr id="34" name="Shape 32"/>
          <p:cNvSpPr/>
          <p:nvPr/>
        </p:nvSpPr>
        <p:spPr>
          <a:xfrm>
            <a:off x="7498080" y="2926080"/>
            <a:ext cx="1280160" cy="2651760"/>
          </a:xfrm>
          <a:prstGeom prst="roundRect">
            <a:avLst>
              <a:gd name="adj" fmla="val 5714"/>
            </a:avLst>
          </a:prstGeom>
          <a:solidFill>
            <a:srgbClr val="93C5FD"/>
          </a:solidFill>
          <a:ln w="6350">
            <a:solidFill>
              <a:srgbClr val="E2E8F0"/>
            </a:solidFill>
            <a:prstDash val="solid"/>
          </a:ln>
        </p:spPr>
      </p:sp>
      <p:sp>
        <p:nvSpPr>
          <p:cNvPr id="35" name="Text 33"/>
          <p:cNvSpPr/>
          <p:nvPr/>
        </p:nvSpPr>
        <p:spPr>
          <a:xfrm>
            <a:off x="7589520" y="301752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4</a:t>
            </a:r>
            <a:endParaRPr lang="en-US" sz="800" dirty="0"/>
          </a:p>
        </p:txBody>
      </p:sp>
      <p:sp>
        <p:nvSpPr>
          <p:cNvPr id="36" name="Text 34"/>
          <p:cNvSpPr/>
          <p:nvPr/>
        </p:nvSpPr>
        <p:spPr>
          <a:xfrm>
            <a:off x="7571232" y="325526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Operation</a:t>
            </a:r>
            <a:endParaRPr lang="en-US" sz="1100" dirty="0"/>
          </a:p>
        </p:txBody>
      </p:sp>
      <p:sp>
        <p:nvSpPr>
          <p:cNvPr id="37" name="Text 35"/>
          <p:cNvSpPr/>
          <p:nvPr/>
        </p:nvSpPr>
        <p:spPr>
          <a:xfrm>
            <a:off x="7571232" y="365760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tools</a:t>
            </a:r>
            <a:endParaRPr lang="en-US" sz="850" dirty="0"/>
          </a:p>
        </p:txBody>
      </p:sp>
      <p:sp>
        <p:nvSpPr>
          <p:cNvPr id="38" name="Text 36"/>
          <p:cNvSpPr/>
          <p:nvPr/>
        </p:nvSpPr>
        <p:spPr>
          <a:xfrm>
            <a:off x="7571232" y="5074920"/>
            <a:ext cx="1133856" cy="274320"/>
          </a:xfrm>
          <a:prstGeom prst="rect">
            <a:avLst/>
          </a:prstGeom>
          <a:noFill/>
          <a:ln/>
        </p:spPr>
        <p:txBody>
          <a:bodyPr wrap="square" lIns="0" tIns="0" rIns="0" bIns="0" rtlCol="0" anchor="ctr"/>
          <a:lstStyle/>
          <a:p>
            <a:pPr algn="ctr" indent="0" marL="0">
              <a:buNone/>
            </a:pPr>
            <a:r>
              <a:rPr lang="en-US" sz="1400" b="1" dirty="0">
                <a:solidFill>
                  <a:srgbClr val="1E4DAA"/>
                </a:solidFill>
                <a:latin typeface="Arial" pitchFamily="34" charset="0"/>
                <a:ea typeface="Arial" pitchFamily="34" charset="-122"/>
                <a:cs typeface="Arial" pitchFamily="34" charset="-120"/>
              </a:rPr>
              <a:t>+ $10,000</a:t>
            </a:r>
            <a:endParaRPr lang="en-US" sz="1400" dirty="0"/>
          </a:p>
        </p:txBody>
      </p:sp>
      <p:sp>
        <p:nvSpPr>
          <p:cNvPr id="39" name="Text 37"/>
          <p:cNvSpPr/>
          <p:nvPr/>
        </p:nvSpPr>
        <p:spPr>
          <a:xfrm>
            <a:off x="7571232"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a:t>
            </a:r>
            <a:endParaRPr lang="en-US" sz="800" dirty="0"/>
          </a:p>
        </p:txBody>
      </p:sp>
      <p:sp>
        <p:nvSpPr>
          <p:cNvPr id="40" name="Shape 38"/>
          <p:cNvSpPr/>
          <p:nvPr/>
        </p:nvSpPr>
        <p:spPr>
          <a:xfrm>
            <a:off x="8887968" y="2743200"/>
            <a:ext cx="1280160" cy="2834640"/>
          </a:xfrm>
          <a:prstGeom prst="roundRect">
            <a:avLst>
              <a:gd name="adj" fmla="val 5714"/>
            </a:avLst>
          </a:prstGeom>
          <a:solidFill>
            <a:srgbClr val="DDD6FE"/>
          </a:solidFill>
          <a:ln w="6350">
            <a:solidFill>
              <a:srgbClr val="E2E8F0"/>
            </a:solidFill>
            <a:prstDash val="solid"/>
          </a:ln>
        </p:spPr>
      </p:sp>
      <p:sp>
        <p:nvSpPr>
          <p:cNvPr id="41" name="Text 39"/>
          <p:cNvSpPr/>
          <p:nvPr/>
        </p:nvSpPr>
        <p:spPr>
          <a:xfrm>
            <a:off x="8979408" y="283464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5</a:t>
            </a:r>
            <a:endParaRPr lang="en-US" sz="800" dirty="0"/>
          </a:p>
        </p:txBody>
      </p:sp>
      <p:sp>
        <p:nvSpPr>
          <p:cNvPr id="42" name="Text 40"/>
          <p:cNvSpPr/>
          <p:nvPr/>
        </p:nvSpPr>
        <p:spPr>
          <a:xfrm>
            <a:off x="8961120" y="307238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Agentic</a:t>
            </a:r>
            <a:endParaRPr lang="en-US" sz="1100" dirty="0"/>
          </a:p>
        </p:txBody>
      </p:sp>
      <p:sp>
        <p:nvSpPr>
          <p:cNvPr id="43" name="Text 41"/>
          <p:cNvSpPr/>
          <p:nvPr/>
        </p:nvSpPr>
        <p:spPr>
          <a:xfrm>
            <a:off x="8961120" y="347472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After ~6 months</a:t>
            </a:r>
            <a:endParaRPr lang="en-US" sz="850" dirty="0"/>
          </a:p>
        </p:txBody>
      </p:sp>
      <p:sp>
        <p:nvSpPr>
          <p:cNvPr id="44" name="Text 42"/>
          <p:cNvSpPr/>
          <p:nvPr/>
        </p:nvSpPr>
        <p:spPr>
          <a:xfrm>
            <a:off x="8961120" y="5074920"/>
            <a:ext cx="1133856" cy="274320"/>
          </a:xfrm>
          <a:prstGeom prst="rect">
            <a:avLst/>
          </a:prstGeom>
          <a:noFill/>
          <a:ln/>
        </p:spPr>
        <p:txBody>
          <a:bodyPr wrap="square" lIns="0" tIns="0" rIns="0" bIns="0" rtlCol="0" anchor="ctr"/>
          <a:lstStyle/>
          <a:p>
            <a:pPr algn="ctr" indent="0" marL="0">
              <a:buNone/>
            </a:pPr>
            <a:r>
              <a:rPr lang="en-US" sz="1400" b="1" dirty="0">
                <a:solidFill>
                  <a:srgbClr val="6D4FB6"/>
                </a:solidFill>
                <a:latin typeface="Arial" pitchFamily="34" charset="0"/>
                <a:ea typeface="Arial" pitchFamily="34" charset="-122"/>
                <a:cs typeface="Arial" pitchFamily="34" charset="-120"/>
              </a:rPr>
              <a:t>+ $5,000</a:t>
            </a:r>
            <a:endParaRPr lang="en-US" sz="1400" dirty="0"/>
          </a:p>
        </p:txBody>
      </p:sp>
      <p:sp>
        <p:nvSpPr>
          <p:cNvPr id="45" name="Text 43"/>
          <p:cNvSpPr/>
          <p:nvPr/>
        </p:nvSpPr>
        <p:spPr>
          <a:xfrm>
            <a:off x="8961120"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 · 10 agents</a:t>
            </a:r>
            <a:endParaRPr lang="en-US" sz="800" dirty="0"/>
          </a:p>
        </p:txBody>
      </p:sp>
      <p:sp>
        <p:nvSpPr>
          <p:cNvPr id="46" name="Shape 44"/>
          <p:cNvSpPr/>
          <p:nvPr/>
        </p:nvSpPr>
        <p:spPr>
          <a:xfrm>
            <a:off x="10277856" y="2560320"/>
            <a:ext cx="1280160" cy="3017520"/>
          </a:xfrm>
          <a:prstGeom prst="roundRect">
            <a:avLst>
              <a:gd name="adj" fmla="val 5714"/>
            </a:avLst>
          </a:prstGeom>
          <a:solidFill>
            <a:srgbClr val="FED7AA"/>
          </a:solidFill>
          <a:ln w="6350">
            <a:solidFill>
              <a:srgbClr val="E2E8F0"/>
            </a:solidFill>
            <a:prstDash val="solid"/>
          </a:ln>
        </p:spPr>
      </p:sp>
      <p:sp>
        <p:nvSpPr>
          <p:cNvPr id="47" name="Text 45"/>
          <p:cNvSpPr/>
          <p:nvPr/>
        </p:nvSpPr>
        <p:spPr>
          <a:xfrm>
            <a:off x="10369296" y="265176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6</a:t>
            </a:r>
            <a:endParaRPr lang="en-US" sz="800" dirty="0"/>
          </a:p>
        </p:txBody>
      </p:sp>
      <p:sp>
        <p:nvSpPr>
          <p:cNvPr id="48" name="Text 46"/>
          <p:cNvSpPr/>
          <p:nvPr/>
        </p:nvSpPr>
        <p:spPr>
          <a:xfrm>
            <a:off x="10351008" y="288950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Big Ai Brain</a:t>
            </a:r>
            <a:endParaRPr lang="en-US" sz="1100" dirty="0"/>
          </a:p>
        </p:txBody>
      </p:sp>
      <p:sp>
        <p:nvSpPr>
          <p:cNvPr id="49" name="Text 47"/>
          <p:cNvSpPr/>
          <p:nvPr/>
        </p:nvSpPr>
        <p:spPr>
          <a:xfrm>
            <a:off x="10351008" y="329184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Boss · after ~1 year</a:t>
            </a:r>
            <a:endParaRPr lang="en-US" sz="850" dirty="0"/>
          </a:p>
        </p:txBody>
      </p:sp>
      <p:sp>
        <p:nvSpPr>
          <p:cNvPr id="50" name="Text 48"/>
          <p:cNvSpPr/>
          <p:nvPr/>
        </p:nvSpPr>
        <p:spPr>
          <a:xfrm>
            <a:off x="10351008" y="5074920"/>
            <a:ext cx="1133856" cy="274320"/>
          </a:xfrm>
          <a:prstGeom prst="rect">
            <a:avLst/>
          </a:prstGeom>
          <a:noFill/>
          <a:ln/>
        </p:spPr>
        <p:txBody>
          <a:bodyPr wrap="square" lIns="0" tIns="0" rIns="0" bIns="0" rtlCol="0" anchor="ctr"/>
          <a:lstStyle/>
          <a:p>
            <a:pPr algn="ctr" indent="0" marL="0">
              <a:buNone/>
            </a:pPr>
            <a:r>
              <a:rPr lang="en-US" sz="1400" b="1" dirty="0">
                <a:solidFill>
                  <a:srgbClr val="F37021"/>
                </a:solidFill>
                <a:latin typeface="Arial" pitchFamily="34" charset="0"/>
                <a:ea typeface="Arial" pitchFamily="34" charset="-122"/>
                <a:cs typeface="Arial" pitchFamily="34" charset="-120"/>
              </a:rPr>
              <a:t>+ $5,000</a:t>
            </a:r>
            <a:endParaRPr lang="en-US" sz="1400" dirty="0"/>
          </a:p>
        </p:txBody>
      </p:sp>
      <p:sp>
        <p:nvSpPr>
          <p:cNvPr id="51" name="Text 49"/>
          <p:cNvSpPr/>
          <p:nvPr/>
        </p:nvSpPr>
        <p:spPr>
          <a:xfrm>
            <a:off x="10351008"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 · 5 factories 1 chat</a:t>
            </a:r>
            <a:endParaRPr lang="en-US" sz="800" dirty="0"/>
          </a:p>
        </p:txBody>
      </p:sp>
      <p:sp>
        <p:nvSpPr>
          <p:cNvPr id="52" name="Shape 50"/>
          <p:cNvSpPr/>
          <p:nvPr/>
        </p:nvSpPr>
        <p:spPr>
          <a:xfrm>
            <a:off x="548640" y="5715000"/>
            <a:ext cx="8229600" cy="365760"/>
          </a:xfrm>
          <a:prstGeom prst="roundRect">
            <a:avLst>
              <a:gd name="adj" fmla="val 12500"/>
            </a:avLst>
          </a:prstGeom>
          <a:solidFill>
            <a:srgbClr val="E0E7FF"/>
          </a:solidFill>
          <a:ln/>
        </p:spPr>
      </p:sp>
      <p:sp>
        <p:nvSpPr>
          <p:cNvPr id="53" name="Text 51"/>
          <p:cNvSpPr/>
          <p:nvPr/>
        </p:nvSpPr>
        <p:spPr>
          <a:xfrm>
            <a:off x="548640" y="5715000"/>
            <a:ext cx="8229600" cy="365760"/>
          </a:xfrm>
          <a:prstGeom prst="rect">
            <a:avLst/>
          </a:prstGeom>
          <a:noFill/>
          <a:ln/>
        </p:spPr>
        <p:txBody>
          <a:bodyPr wrap="square" lIns="0" tIns="0" rIns="0" bIns="0" rtlCol="0" anchor="ctr"/>
          <a:lstStyle/>
          <a:p>
            <a:pPr algn="ctr" indent="0" marL="0">
              <a:buNone/>
            </a:pPr>
            <a:r>
              <a:rPr lang="en-US" sz="1000" b="1" spc="300" kern="0" dirty="0">
                <a:solidFill>
                  <a:srgbClr val="1E4DAA"/>
                </a:solidFill>
                <a:latin typeface="Arial" pitchFamily="34" charset="0"/>
                <a:ea typeface="Arial" pitchFamily="34" charset="-122"/>
                <a:cs typeface="Arial" pitchFamily="34" charset="-120"/>
              </a:rPr>
              <a:t>CHAOS  →  DIGITALIZATION</a:t>
            </a:r>
            <a:endParaRPr lang="en-US" sz="1000" dirty="0"/>
          </a:p>
        </p:txBody>
      </p:sp>
      <p:sp>
        <p:nvSpPr>
          <p:cNvPr id="54" name="Shape 52"/>
          <p:cNvSpPr/>
          <p:nvPr/>
        </p:nvSpPr>
        <p:spPr>
          <a:xfrm>
            <a:off x="8887968" y="5715000"/>
            <a:ext cx="2670048" cy="365760"/>
          </a:xfrm>
          <a:prstGeom prst="roundRect">
            <a:avLst>
              <a:gd name="adj" fmla="val 12500"/>
            </a:avLst>
          </a:prstGeom>
          <a:solidFill>
            <a:srgbClr val="FED7AA"/>
          </a:solidFill>
          <a:ln/>
        </p:spPr>
      </p:sp>
      <p:sp>
        <p:nvSpPr>
          <p:cNvPr id="55" name="Text 53"/>
          <p:cNvSpPr/>
          <p:nvPr/>
        </p:nvSpPr>
        <p:spPr>
          <a:xfrm>
            <a:off x="8887968" y="5715000"/>
            <a:ext cx="2670048" cy="365760"/>
          </a:xfrm>
          <a:prstGeom prst="rect">
            <a:avLst/>
          </a:prstGeom>
          <a:noFill/>
          <a:ln/>
        </p:spPr>
        <p:txBody>
          <a:bodyPr wrap="square" lIns="0" tIns="0" rIns="0" bIns="0" rtlCol="0" anchor="ctr"/>
          <a:lstStyle/>
          <a:p>
            <a:pPr algn="ctr" indent="0" marL="0">
              <a:buNone/>
            </a:pPr>
            <a:r>
              <a:rPr lang="en-US" sz="1000" b="1" spc="300" kern="0" dirty="0">
                <a:solidFill>
                  <a:srgbClr val="F37021"/>
                </a:solidFill>
                <a:latin typeface="Arial" pitchFamily="34" charset="0"/>
                <a:ea typeface="Arial" pitchFamily="34" charset="-122"/>
                <a:cs typeface="Arial" pitchFamily="34" charset="-120"/>
              </a:rPr>
              <a:t>BIG AI BRAIN</a:t>
            </a:r>
            <a:endParaRPr lang="en-US" sz="1000" dirty="0"/>
          </a:p>
        </p:txBody>
      </p:sp>
      <p:sp>
        <p:nvSpPr>
          <p:cNvPr id="56" name="Text 54"/>
          <p:cNvSpPr/>
          <p:nvPr/>
        </p:nvSpPr>
        <p:spPr>
          <a:xfrm>
            <a:off x="548640" y="6263640"/>
            <a:ext cx="11064240" cy="548640"/>
          </a:xfrm>
          <a:prstGeom prst="rect">
            <a:avLst/>
          </a:prstGeom>
          <a:noFill/>
          <a:ln/>
        </p:spPr>
        <p:txBody>
          <a:bodyPr wrap="square" lIns="0" tIns="0" rIns="0" bIns="0" rtlCol="0" anchor="ctr"/>
          <a:lstStyle/>
          <a:p>
            <a:pPr indent="0" marL="0">
              <a:buNone/>
            </a:pPr>
            <a:r>
              <a:rPr lang="en-US" sz="1100" b="1" dirty="0">
                <a:solidFill>
                  <a:srgbClr val="0A1F47"/>
                </a:solidFill>
                <a:latin typeface="Arial" pitchFamily="34" charset="0"/>
                <a:ea typeface="Arial" pitchFamily="34" charset="-122"/>
                <a:cs typeface="Arial" pitchFamily="34" charset="-120"/>
              </a:rPr>
              <a:t>+ 3 e-com streams (variable): </a:t>
            </a:r>
            <a:pPr indent="0" marL="0">
              <a:buNone/>
            </a:pPr>
            <a:r>
              <a:rPr lang="en-US" sz="1100" dirty="0">
                <a:solidFill>
                  <a:srgbClr val="1E293B"/>
                </a:solidFill>
                <a:latin typeface="Arial" pitchFamily="34" charset="0"/>
                <a:ea typeface="Arial" pitchFamily="34" charset="-122"/>
                <a:cs typeface="Arial" pitchFamily="34" charset="-120"/>
              </a:rPr>
              <a:t>Worker P2P Marketplace (take-rate/user · 100K workers)  ·  Service Provider Marketplace (take-rate + listing · ~1,000 providers)  ·  Factory Supply Marketplace (wholesale margin · 100 curated SKUs · $100K GMV/mo)</a:t>
            </a:r>
            <a:endParaRPr lang="en-US" sz="1100" dirty="0"/>
          </a:p>
        </p:txBody>
      </p:sp>
      <p:sp>
        <p:nvSpPr>
          <p:cNvPr id="57" name="Text 55"/>
          <p:cNvSpPr/>
          <p:nvPr/>
        </p:nvSpPr>
        <p:spPr>
          <a:xfrm>
            <a:off x="548640" y="6473952"/>
            <a:ext cx="1042416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7 / 12</a:t>
            </a:r>
            <a:endParaRPr lang="en-US" sz="850" dirty="0"/>
          </a:p>
        </p:txBody>
      </p:sp>
      <p:sp>
        <p:nvSpPr>
          <p:cNvPr id="58" name="Text 56"/>
          <p:cNvSpPr/>
          <p:nvPr/>
        </p:nvSpPr>
        <p:spPr>
          <a:xfrm>
            <a:off x="11548872" y="6473952"/>
            <a:ext cx="548640" cy="274320"/>
          </a:xfrm>
          <a:prstGeom prst="rect">
            <a:avLst/>
          </a:prstGeom>
          <a:noFill/>
          <a:ln/>
        </p:spPr>
        <p:txBody>
          <a:bodyPr wrap="square" lIns="0" tIns="0" rIns="0" bIns="0" rtlCol="0" anchor="ctr"/>
          <a:lstStyle/>
          <a:p>
            <a:pPr algn="r" indent="0" marL="0">
              <a:buNone/>
            </a:pPr>
            <a:r>
              <a:rPr lang="en-US" sz="1000" b="1" dirty="0">
                <a:solidFill>
                  <a:srgbClr val="F37021"/>
                </a:solidFill>
                <a:latin typeface="Arial" pitchFamily="34" charset="0"/>
                <a:ea typeface="Arial" pitchFamily="34" charset="-122"/>
                <a:cs typeface="Arial" pitchFamily="34" charset="-120"/>
              </a:rPr>
              <a:t>PD2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137160"/>
            <a:ext cx="11064240" cy="320040"/>
          </a:xfrm>
          <a:prstGeom prst="rect">
            <a:avLst/>
          </a:prstGeom>
          <a:noFill/>
          <a:ln/>
        </p:spPr>
        <p:txBody>
          <a:bodyPr wrap="square" lIns="0" tIns="0" rIns="0" bIns="0" rtlCol="0" anchor="ctr"/>
          <a:lstStyle/>
          <a:p>
            <a:pPr indent="0" marL="0">
              <a:buNone/>
            </a:pPr>
            <a:r>
              <a:rPr lang="en-US" sz="1600" b="1" spc="300" kern="0" dirty="0">
                <a:solidFill>
                  <a:srgbClr val="F37021"/>
                </a:solidFill>
                <a:latin typeface="Arial" pitchFamily="34" charset="0"/>
                <a:ea typeface="Arial" pitchFamily="34" charset="-122"/>
                <a:cs typeface="Arial" pitchFamily="34" charset="-120"/>
              </a:rPr>
              <a:t>07 / TARGET CUSTOMERS</a:t>
            </a:r>
            <a:endParaRPr lang="en-US" sz="1600" dirty="0"/>
          </a:p>
        </p:txBody>
      </p:sp>
      <p:sp>
        <p:nvSpPr>
          <p:cNvPr id="3" name="Text 1"/>
          <p:cNvSpPr/>
          <p:nvPr/>
        </p:nvSpPr>
        <p:spPr>
          <a:xfrm>
            <a:off x="548640" y="457200"/>
            <a:ext cx="11064240" cy="502920"/>
          </a:xfrm>
          <a:prstGeom prst="rect">
            <a:avLst/>
          </a:prstGeom>
          <a:noFill/>
          <a:ln/>
        </p:spPr>
        <p:txBody>
          <a:bodyPr wrap="square" lIns="0" tIns="0" rIns="0" bIns="0" rtlCol="0" anchor="ctr"/>
          <a:lstStyle/>
          <a:p>
            <a:pPr indent="0" marL="0">
              <a:buNone/>
            </a:pPr>
            <a:r>
              <a:rPr lang="en-US" sz="2600" b="1" dirty="0">
                <a:solidFill>
                  <a:srgbClr val="0A1F47"/>
                </a:solidFill>
                <a:latin typeface="Arial" pitchFamily="34" charset="0"/>
                <a:ea typeface="Arial" pitchFamily="34" charset="-122"/>
                <a:cs typeface="Arial" pitchFamily="34" charset="-120"/>
              </a:rPr>
              <a:t>Cambodia approach.</a:t>
            </a:r>
            <a:endParaRPr lang="en-US" sz="2600" dirty="0"/>
          </a:p>
        </p:txBody>
      </p:sp>
      <p:graphicFrame>
        <p:nvGraphicFramePr>
          <p:cNvPr id="4" name="Chart 0" descr=""/>
          <p:cNvGraphicFramePr/>
          <p:nvPr/>
        </p:nvGraphicFramePr>
        <p:xfrm>
          <a:off x="548640" y="155448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3940533" y="2665721"/>
            <a:ext cx="10058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29%</a:t>
            </a:r>
            <a:endParaRPr lang="en-US" sz="2600" dirty="0"/>
          </a:p>
        </p:txBody>
      </p:sp>
      <p:sp>
        <p:nvSpPr>
          <p:cNvPr id="6" name="Shape 3"/>
          <p:cNvSpPr/>
          <p:nvPr/>
        </p:nvSpPr>
        <p:spPr>
          <a:xfrm flipV="1">
            <a:off x="4681755" y="2141415"/>
            <a:ext cx="500435" cy="399083"/>
          </a:xfrm>
          <a:prstGeom prst="line">
            <a:avLst/>
          </a:prstGeom>
          <a:noFill/>
          <a:ln w="15875">
            <a:solidFill>
              <a:srgbClr val="1E4DAA"/>
            </a:solidFill>
            <a:prstDash val="solid"/>
          </a:ln>
        </p:spPr>
      </p:sp>
      <p:sp>
        <p:nvSpPr>
          <p:cNvPr id="7" name="Text 4"/>
          <p:cNvSpPr/>
          <p:nvPr/>
        </p:nvSpPr>
        <p:spPr>
          <a:xfrm>
            <a:off x="5227909" y="1812231"/>
            <a:ext cx="1691640" cy="658368"/>
          </a:xfrm>
          <a:prstGeom prst="rect">
            <a:avLst/>
          </a:prstGeom>
          <a:noFill/>
          <a:ln/>
        </p:spPr>
        <p:txBody>
          <a:bodyPr wrap="square" lIns="0" tIns="0" rIns="0" bIns="0" rtlCol="0" anchor="ctr"/>
          <a:lstStyle/>
          <a:p>
            <a:pPr algn="l" indent="0" marL="0">
              <a:buNone/>
            </a:pPr>
            <a:r>
              <a:rPr lang="en-US" sz="1400" b="1" dirty="0">
                <a:solidFill>
                  <a:srgbClr val="0A1F47"/>
                </a:solidFill>
                <a:latin typeface="Arial" pitchFamily="34" charset="0"/>
                <a:ea typeface="Arial" pitchFamily="34" charset="-122"/>
                <a:cs typeface="Arial" pitchFamily="34" charset="-120"/>
              </a:rPr>
              <a:t>Mid-size</a:t>
            </a:r>
            <a:endParaRPr lang="en-US" sz="1400" dirty="0"/>
          </a:p>
          <a:p>
            <a:pPr algn="l" indent="0" marL="0">
              <a:buNone/>
            </a:pPr>
            <a:r>
              <a:rPr lang="en-US" sz="1400" b="1" dirty="0">
                <a:solidFill>
                  <a:srgbClr val="0A1F47"/>
                </a:solidFill>
                <a:latin typeface="Arial" pitchFamily="34" charset="0"/>
                <a:ea typeface="Arial" pitchFamily="34" charset="-122"/>
                <a:cs typeface="Arial" pitchFamily="34" charset="-120"/>
              </a:rPr>
              <a:t>factories</a:t>
            </a:r>
            <a:endParaRPr lang="en-US" sz="1400" dirty="0"/>
          </a:p>
        </p:txBody>
      </p:sp>
      <p:sp>
        <p:nvSpPr>
          <p:cNvPr id="8" name="Text 5"/>
          <p:cNvSpPr/>
          <p:nvPr/>
        </p:nvSpPr>
        <p:spPr>
          <a:xfrm>
            <a:off x="4225768" y="4082614"/>
            <a:ext cx="10058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p:txBody>
      </p:sp>
      <p:sp>
        <p:nvSpPr>
          <p:cNvPr id="9" name="Shape 6"/>
          <p:cNvSpPr/>
          <p:nvPr/>
        </p:nvSpPr>
        <p:spPr>
          <a:xfrm>
            <a:off x="4992365" y="4501614"/>
            <a:ext cx="599265" cy="224908"/>
          </a:xfrm>
          <a:prstGeom prst="line">
            <a:avLst/>
          </a:prstGeom>
          <a:noFill/>
          <a:ln w="15875">
            <a:solidFill>
              <a:srgbClr val="0A1F47"/>
            </a:solidFill>
            <a:prstDash val="solid"/>
          </a:ln>
        </p:spPr>
      </p:sp>
      <p:sp>
        <p:nvSpPr>
          <p:cNvPr id="10" name="Text 7"/>
          <p:cNvSpPr/>
          <p:nvPr/>
        </p:nvSpPr>
        <p:spPr>
          <a:xfrm>
            <a:off x="5637350" y="4543642"/>
            <a:ext cx="1691640" cy="365760"/>
          </a:xfrm>
          <a:prstGeom prst="rect">
            <a:avLst/>
          </a:prstGeom>
          <a:noFill/>
          <a:ln/>
        </p:spPr>
        <p:txBody>
          <a:bodyPr wrap="square" lIns="0" tIns="0" rIns="0" bIns="0" rtlCol="0" anchor="ctr"/>
          <a:lstStyle/>
          <a:p>
            <a:pPr algn="l" indent="0" marL="0">
              <a:buNone/>
            </a:pPr>
            <a:r>
              <a:rPr lang="en-US" sz="1400" b="1" dirty="0">
                <a:solidFill>
                  <a:srgbClr val="0A1F47"/>
                </a:solidFill>
                <a:latin typeface="Arial" pitchFamily="34" charset="0"/>
                <a:ea typeface="Arial" pitchFamily="34" charset="-122"/>
                <a:cs typeface="Arial" pitchFamily="34" charset="-120"/>
              </a:rPr>
              <a:t>Government</a:t>
            </a:r>
            <a:endParaRPr lang="en-US" sz="1400" dirty="0"/>
          </a:p>
        </p:txBody>
      </p:sp>
      <p:sp>
        <p:nvSpPr>
          <p:cNvPr id="11" name="Text 8"/>
          <p:cNvSpPr/>
          <p:nvPr/>
        </p:nvSpPr>
        <p:spPr>
          <a:xfrm>
            <a:off x="2528422" y="5203023"/>
            <a:ext cx="10058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36%</a:t>
            </a:r>
            <a:endParaRPr lang="en-US" sz="2600" dirty="0"/>
          </a:p>
        </p:txBody>
      </p:sp>
      <p:sp>
        <p:nvSpPr>
          <p:cNvPr id="12" name="Shape 9"/>
          <p:cNvSpPr/>
          <p:nvPr/>
        </p:nvSpPr>
        <p:spPr>
          <a:xfrm flipH="1">
            <a:off x="3004348" y="5804414"/>
            <a:ext cx="14359" cy="182558"/>
          </a:xfrm>
          <a:prstGeom prst="line">
            <a:avLst/>
          </a:prstGeom>
          <a:noFill/>
          <a:ln w="15875">
            <a:solidFill>
              <a:srgbClr val="6D4FB6"/>
            </a:solidFill>
            <a:prstDash val="solid"/>
          </a:ln>
        </p:spPr>
      </p:sp>
      <p:sp>
        <p:nvSpPr>
          <p:cNvPr id="13" name="Text 10"/>
          <p:cNvSpPr/>
          <p:nvPr/>
        </p:nvSpPr>
        <p:spPr>
          <a:xfrm>
            <a:off x="1266988" y="5804092"/>
            <a:ext cx="1691640" cy="365760"/>
          </a:xfrm>
          <a:prstGeom prst="rect">
            <a:avLst/>
          </a:prstGeom>
          <a:noFill/>
          <a:ln/>
        </p:spPr>
        <p:txBody>
          <a:bodyPr wrap="square" lIns="0" tIns="0" rIns="0" bIns="0" rtlCol="0" anchor="ctr"/>
          <a:lstStyle/>
          <a:p>
            <a:pPr algn="r" indent="0" marL="0">
              <a:buNone/>
            </a:pPr>
            <a:r>
              <a:rPr lang="en-US" sz="1400" b="1" dirty="0">
                <a:solidFill>
                  <a:srgbClr val="0A1F47"/>
                </a:solidFill>
                <a:latin typeface="Arial" pitchFamily="34" charset="0"/>
                <a:ea typeface="Arial" pitchFamily="34" charset="-122"/>
                <a:cs typeface="Arial" pitchFamily="34" charset="-120"/>
              </a:rPr>
              <a:t>Non-garment</a:t>
            </a:r>
            <a:endParaRPr lang="en-US" sz="1400" dirty="0"/>
          </a:p>
        </p:txBody>
      </p:sp>
      <p:sp>
        <p:nvSpPr>
          <p:cNvPr id="14" name="Text 11"/>
          <p:cNvSpPr/>
          <p:nvPr/>
        </p:nvSpPr>
        <p:spPr>
          <a:xfrm>
            <a:off x="938341" y="3014464"/>
            <a:ext cx="10058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21%</a:t>
            </a:r>
            <a:endParaRPr lang="en-US" sz="2600" dirty="0"/>
          </a:p>
        </p:txBody>
      </p:sp>
      <p:sp>
        <p:nvSpPr>
          <p:cNvPr id="15" name="Shape 12"/>
          <p:cNvSpPr/>
          <p:nvPr/>
        </p:nvSpPr>
        <p:spPr>
          <a:xfrm flipV="1">
            <a:off x="1169775" y="3089294"/>
            <a:ext cx="23067" cy="170285"/>
          </a:xfrm>
          <a:prstGeom prst="line">
            <a:avLst/>
          </a:prstGeom>
          <a:noFill/>
          <a:ln w="15875">
            <a:solidFill>
              <a:srgbClr val="F37021"/>
            </a:solidFill>
            <a:prstDash val="solid"/>
          </a:ln>
        </p:spPr>
      </p:sp>
      <p:sp>
        <p:nvSpPr>
          <p:cNvPr id="16" name="Text 13"/>
          <p:cNvSpPr/>
          <p:nvPr/>
        </p:nvSpPr>
        <p:spPr>
          <a:xfrm>
            <a:off x="-544518" y="2906414"/>
            <a:ext cx="1691640" cy="365760"/>
          </a:xfrm>
          <a:prstGeom prst="rect">
            <a:avLst/>
          </a:prstGeom>
          <a:noFill/>
          <a:ln/>
        </p:spPr>
        <p:txBody>
          <a:bodyPr wrap="square" lIns="0" tIns="0" rIns="0" bIns="0" rtlCol="0" anchor="ctr"/>
          <a:lstStyle/>
          <a:p>
            <a:pPr algn="r" indent="0" marL="0">
              <a:buNone/>
            </a:pPr>
            <a:r>
              <a:rPr lang="en-US" sz="1400" b="1" dirty="0">
                <a:solidFill>
                  <a:srgbClr val="0A1F47"/>
                </a:solidFill>
                <a:latin typeface="Arial" pitchFamily="34" charset="0"/>
                <a:ea typeface="Arial" pitchFamily="34" charset="-122"/>
                <a:cs typeface="Arial" pitchFamily="34" charset="-120"/>
              </a:rPr>
              <a:t>E-commerce</a:t>
            </a:r>
            <a:endParaRPr lang="en-US" sz="1400" dirty="0"/>
          </a:p>
        </p:txBody>
      </p:sp>
      <p:sp>
        <p:nvSpPr>
          <p:cNvPr id="17" name="Text 14"/>
          <p:cNvSpPr/>
          <p:nvPr/>
        </p:nvSpPr>
        <p:spPr>
          <a:xfrm>
            <a:off x="1926089" y="1883896"/>
            <a:ext cx="10058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7%</a:t>
            </a:r>
            <a:endParaRPr lang="en-US" sz="2600" dirty="0"/>
          </a:p>
        </p:txBody>
      </p:sp>
      <p:sp>
        <p:nvSpPr>
          <p:cNvPr id="18" name="Shape 15"/>
          <p:cNvSpPr/>
          <p:nvPr/>
        </p:nvSpPr>
        <p:spPr>
          <a:xfrm flipH="1" flipV="1">
            <a:off x="2012845" y="1230271"/>
            <a:ext cx="305475" cy="714694"/>
          </a:xfrm>
          <a:prstGeom prst="line">
            <a:avLst/>
          </a:prstGeom>
          <a:noFill/>
          <a:ln w="15875">
            <a:solidFill>
              <a:srgbClr val="10B981"/>
            </a:solidFill>
            <a:prstDash val="solid"/>
          </a:ln>
        </p:spPr>
      </p:sp>
      <p:sp>
        <p:nvSpPr>
          <p:cNvPr id="19" name="Text 16"/>
          <p:cNvSpPr/>
          <p:nvPr/>
        </p:nvSpPr>
        <p:spPr>
          <a:xfrm>
            <a:off x="275485" y="1047391"/>
            <a:ext cx="1691640" cy="365760"/>
          </a:xfrm>
          <a:prstGeom prst="rect">
            <a:avLst/>
          </a:prstGeom>
          <a:noFill/>
          <a:ln/>
        </p:spPr>
        <p:txBody>
          <a:bodyPr wrap="square" lIns="0" tIns="0" rIns="0" bIns="0" rtlCol="0" anchor="ctr"/>
          <a:lstStyle/>
          <a:p>
            <a:pPr algn="r" indent="0" marL="0">
              <a:buNone/>
            </a:pPr>
            <a:r>
              <a:rPr lang="en-US" sz="1400" b="1" dirty="0">
                <a:solidFill>
                  <a:srgbClr val="0A1F47"/>
                </a:solidFill>
                <a:latin typeface="Arial" pitchFamily="34" charset="0"/>
                <a:ea typeface="Arial" pitchFamily="34" charset="-122"/>
                <a:cs typeface="Arial" pitchFamily="34" charset="-120"/>
              </a:rPr>
              <a:t>Small factories</a:t>
            </a:r>
            <a:endParaRPr lang="en-US" sz="1400" dirty="0"/>
          </a:p>
        </p:txBody>
      </p:sp>
      <p:sp>
        <p:nvSpPr>
          <p:cNvPr id="20" name="Text 17"/>
          <p:cNvSpPr/>
          <p:nvPr/>
        </p:nvSpPr>
        <p:spPr>
          <a:xfrm>
            <a:off x="2687314" y="1985505"/>
            <a:ext cx="548640" cy="34465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2263140" y="1042416"/>
            <a:ext cx="1691640" cy="658368"/>
          </a:xfrm>
          <a:prstGeom prst="rect">
            <a:avLst/>
          </a:prstGeom>
          <a:noFill/>
          <a:ln/>
        </p:spPr>
        <p:txBody>
          <a:bodyPr wrap="square" lIns="0" tIns="0" rIns="0" bIns="0" rtlCol="0" anchor="ctr"/>
          <a:lstStyle/>
          <a:p>
            <a:pPr algn="ctr" indent="0" marL="0">
              <a:buNone/>
            </a:pPr>
            <a:r>
              <a:rPr lang="en-US" sz="1400" b="1" dirty="0">
                <a:solidFill>
                  <a:srgbClr val="0A1F47"/>
                </a:solidFill>
                <a:latin typeface="Arial" pitchFamily="34" charset="0"/>
                <a:ea typeface="Arial" pitchFamily="34" charset="-122"/>
                <a:cs typeface="Arial" pitchFamily="34" charset="-120"/>
              </a:rPr>
              <a:t>Big-tech</a:t>
            </a:r>
            <a:endParaRPr lang="en-US" sz="1400" dirty="0"/>
          </a:p>
          <a:p>
            <a:pPr algn="ctr" indent="0" marL="0">
              <a:buNone/>
            </a:pPr>
            <a:r>
              <a:rPr lang="en-US" sz="1400" b="1" dirty="0">
                <a:solidFill>
                  <a:srgbClr val="0A1F47"/>
                </a:solidFill>
                <a:latin typeface="Arial" pitchFamily="34" charset="0"/>
                <a:ea typeface="Arial" pitchFamily="34" charset="-122"/>
                <a:cs typeface="Arial" pitchFamily="34" charset="-120"/>
              </a:rPr>
              <a:t>partners</a:t>
            </a:r>
            <a:endParaRPr lang="en-US" sz="1400" dirty="0"/>
          </a:p>
        </p:txBody>
      </p:sp>
      <p:sp>
        <p:nvSpPr>
          <p:cNvPr id="22" name="Shape 19"/>
          <p:cNvSpPr/>
          <p:nvPr/>
        </p:nvSpPr>
        <p:spPr>
          <a:xfrm>
            <a:off x="6035040" y="1751076"/>
            <a:ext cx="292608" cy="292608"/>
          </a:xfrm>
          <a:prstGeom prst="ellipse">
            <a:avLst/>
          </a:prstGeom>
          <a:solidFill>
            <a:srgbClr val="1E4DAA"/>
          </a:solidFill>
          <a:ln/>
        </p:spPr>
      </p:sp>
      <p:sp>
        <p:nvSpPr>
          <p:cNvPr id="23" name="Text 20"/>
          <p:cNvSpPr/>
          <p:nvPr/>
        </p:nvSpPr>
        <p:spPr>
          <a:xfrm>
            <a:off x="6446520" y="1554480"/>
            <a:ext cx="1051560" cy="685800"/>
          </a:xfrm>
          <a:prstGeom prst="rect">
            <a:avLst/>
          </a:prstGeom>
          <a:noFill/>
          <a:ln/>
        </p:spPr>
        <p:txBody>
          <a:bodyPr wrap="square" lIns="0" tIns="0" rIns="0" bIns="0" rtlCol="0" anchor="ctr"/>
          <a:lstStyle/>
          <a:p>
            <a:pPr indent="0" marL="0">
              <a:buNone/>
            </a:pPr>
            <a:r>
              <a:rPr lang="en-US" sz="2000" b="1" dirty="0">
                <a:solidFill>
                  <a:srgbClr val="1E4DAA"/>
                </a:solidFill>
                <a:latin typeface="Arial" pitchFamily="34" charset="0"/>
                <a:ea typeface="Arial" pitchFamily="34" charset="-122"/>
                <a:cs typeface="Arial" pitchFamily="34" charset="-120"/>
              </a:rPr>
              <a:t>~800</a:t>
            </a:r>
            <a:endParaRPr lang="en-US" sz="2000" dirty="0"/>
          </a:p>
        </p:txBody>
      </p:sp>
      <p:sp>
        <p:nvSpPr>
          <p:cNvPr id="24" name="Text 21"/>
          <p:cNvSpPr/>
          <p:nvPr/>
        </p:nvSpPr>
        <p:spPr>
          <a:xfrm>
            <a:off x="7543800" y="1554480"/>
            <a:ext cx="4069080" cy="685800"/>
          </a:xfrm>
          <a:prstGeom prst="rect">
            <a:avLst/>
          </a:prstGeom>
          <a:noFill/>
          <a:ln/>
        </p:spPr>
        <p:txBody>
          <a:bodyPr wrap="square" lIns="0" tIns="0" rIns="0" bIns="0" rtlCol="0" anchor="ctr"/>
          <a:lstStyle/>
          <a:p>
            <a:pPr indent="0" marL="0">
              <a:buNone/>
            </a:pPr>
            <a:r>
              <a:rPr lang="en-US" sz="1200" b="1" dirty="0">
                <a:solidFill>
                  <a:srgbClr val="0A1F47"/>
                </a:solidFill>
                <a:latin typeface="Arial" pitchFamily="34" charset="0"/>
                <a:ea typeface="Arial" pitchFamily="34" charset="-122"/>
                <a:cs typeface="Arial" pitchFamily="34" charset="-120"/>
              </a:rPr>
              <a:t>Mid-size Cambodia factories</a:t>
            </a:r>
            <a:endParaRPr lang="en-US" sz="1200" dirty="0"/>
          </a:p>
          <a:p>
            <a:pPr indent="0" marL="0">
              <a:buNone/>
            </a:pPr>
            <a:r>
              <a:rPr lang="en-US" sz="1000" dirty="0">
                <a:solidFill>
                  <a:srgbClr val="64748B"/>
                </a:solidFill>
                <a:latin typeface="Arial" pitchFamily="34" charset="0"/>
                <a:ea typeface="Arial" pitchFamily="34" charset="-122"/>
                <a:cs typeface="Arial" pitchFamily="34" charset="-120"/>
              </a:rPr>
              <a:t>$120 → $15,000 / yr · garment, bag, footwear · onboarded in cohorts of 3</a:t>
            </a:r>
            <a:endParaRPr lang="en-US" sz="1200" dirty="0"/>
          </a:p>
        </p:txBody>
      </p:sp>
      <p:sp>
        <p:nvSpPr>
          <p:cNvPr id="25" name="Shape 22"/>
          <p:cNvSpPr/>
          <p:nvPr/>
        </p:nvSpPr>
        <p:spPr>
          <a:xfrm>
            <a:off x="6035040" y="2528316"/>
            <a:ext cx="292608" cy="292608"/>
          </a:xfrm>
          <a:prstGeom prst="ellipse">
            <a:avLst/>
          </a:prstGeom>
          <a:solidFill>
            <a:srgbClr val="0A1F47"/>
          </a:solidFill>
          <a:ln/>
        </p:spPr>
      </p:sp>
      <p:sp>
        <p:nvSpPr>
          <p:cNvPr id="26" name="Text 23"/>
          <p:cNvSpPr/>
          <p:nvPr/>
        </p:nvSpPr>
        <p:spPr>
          <a:xfrm>
            <a:off x="6446520" y="2331720"/>
            <a:ext cx="1051560" cy="685800"/>
          </a:xfrm>
          <a:prstGeom prst="rect">
            <a:avLst/>
          </a:prstGeom>
          <a:noFill/>
          <a:ln/>
        </p:spPr>
        <p:txBody>
          <a:bodyPr wrap="square" lIns="0" tIns="0" rIns="0" bIns="0" rtlCol="0" anchor="ctr"/>
          <a:lstStyle/>
          <a:p>
            <a:pPr indent="0" marL="0">
              <a:buNone/>
            </a:pPr>
            <a:r>
              <a:rPr lang="en-US" sz="2000" b="1" dirty="0">
                <a:solidFill>
                  <a:srgbClr val="0A1F47"/>
                </a:solidFill>
                <a:latin typeface="Arial" pitchFamily="34" charset="0"/>
                <a:ea typeface="Arial" pitchFamily="34" charset="-122"/>
                <a:cs typeface="Arial" pitchFamily="34" charset="-120"/>
              </a:rPr>
              <a:t>8</a:t>
            </a:r>
            <a:endParaRPr lang="en-US" sz="2000" dirty="0"/>
          </a:p>
        </p:txBody>
      </p:sp>
      <p:sp>
        <p:nvSpPr>
          <p:cNvPr id="27" name="Text 24"/>
          <p:cNvSpPr/>
          <p:nvPr/>
        </p:nvSpPr>
        <p:spPr>
          <a:xfrm>
            <a:off x="7543800" y="2331720"/>
            <a:ext cx="4069080" cy="685800"/>
          </a:xfrm>
          <a:prstGeom prst="rect">
            <a:avLst/>
          </a:prstGeom>
          <a:noFill/>
          <a:ln/>
        </p:spPr>
        <p:txBody>
          <a:bodyPr wrap="square" lIns="0" tIns="0" rIns="0" bIns="0" rtlCol="0" anchor="ctr"/>
          <a:lstStyle/>
          <a:p>
            <a:pPr indent="0" marL="0">
              <a:buNone/>
            </a:pPr>
            <a:r>
              <a:rPr lang="en-US" sz="1200" b="1" dirty="0">
                <a:solidFill>
                  <a:srgbClr val="0A1F47"/>
                </a:solidFill>
                <a:latin typeface="Arial" pitchFamily="34" charset="0"/>
                <a:ea typeface="Arial" pitchFamily="34" charset="-122"/>
                <a:cs typeface="Arial" pitchFamily="34" charset="-120"/>
              </a:rPr>
              <a:t>Government &amp; institutional</a:t>
            </a:r>
            <a:endParaRPr lang="en-US" sz="1200" dirty="0"/>
          </a:p>
          <a:p>
            <a:pPr indent="0" marL="0">
              <a:buNone/>
            </a:pPr>
            <a:r>
              <a:rPr lang="en-US" sz="1000" dirty="0">
                <a:solidFill>
                  <a:srgbClr val="64748B"/>
                </a:solidFill>
                <a:latin typeface="Arial" pitchFamily="34" charset="0"/>
                <a:ea typeface="Arial" pitchFamily="34" charset="-122"/>
                <a:cs typeface="Arial" pitchFamily="34" charset="-120"/>
              </a:rPr>
              <a:t>Partnership-based · ministries + industry bodies</a:t>
            </a:r>
            <a:endParaRPr lang="en-US" sz="1200" dirty="0"/>
          </a:p>
        </p:txBody>
      </p:sp>
      <p:sp>
        <p:nvSpPr>
          <p:cNvPr id="28" name="Shape 25"/>
          <p:cNvSpPr/>
          <p:nvPr/>
        </p:nvSpPr>
        <p:spPr>
          <a:xfrm>
            <a:off x="6035040" y="3305556"/>
            <a:ext cx="292608" cy="292608"/>
          </a:xfrm>
          <a:prstGeom prst="ellipse">
            <a:avLst/>
          </a:prstGeom>
          <a:solidFill>
            <a:srgbClr val="6D4FB6"/>
          </a:solidFill>
          <a:ln/>
        </p:spPr>
      </p:sp>
      <p:sp>
        <p:nvSpPr>
          <p:cNvPr id="29" name="Text 26"/>
          <p:cNvSpPr/>
          <p:nvPr/>
        </p:nvSpPr>
        <p:spPr>
          <a:xfrm>
            <a:off x="6446520" y="3108960"/>
            <a:ext cx="1051560" cy="685800"/>
          </a:xfrm>
          <a:prstGeom prst="rect">
            <a:avLst/>
          </a:prstGeom>
          <a:noFill/>
          <a:ln/>
        </p:spPr>
        <p:txBody>
          <a:bodyPr wrap="square" lIns="0" tIns="0" rIns="0" bIns="0" rtlCol="0" anchor="ctr"/>
          <a:lstStyle/>
          <a:p>
            <a:pPr indent="0" marL="0">
              <a:buNone/>
            </a:pPr>
            <a:r>
              <a:rPr lang="en-US" sz="2000" b="1" dirty="0">
                <a:solidFill>
                  <a:srgbClr val="6D4FB6"/>
                </a:solidFill>
                <a:latin typeface="Arial" pitchFamily="34" charset="0"/>
                <a:ea typeface="Arial" pitchFamily="34" charset="-122"/>
                <a:cs typeface="Arial" pitchFamily="34" charset="-120"/>
              </a:rPr>
              <a:t>~1,000</a:t>
            </a:r>
            <a:endParaRPr lang="en-US" sz="2000" dirty="0"/>
          </a:p>
        </p:txBody>
      </p:sp>
      <p:sp>
        <p:nvSpPr>
          <p:cNvPr id="30" name="Text 27"/>
          <p:cNvSpPr/>
          <p:nvPr/>
        </p:nvSpPr>
        <p:spPr>
          <a:xfrm>
            <a:off x="7543800" y="3108960"/>
            <a:ext cx="4069080" cy="685800"/>
          </a:xfrm>
          <a:prstGeom prst="rect">
            <a:avLst/>
          </a:prstGeom>
          <a:noFill/>
          <a:ln/>
        </p:spPr>
        <p:txBody>
          <a:bodyPr wrap="square" lIns="0" tIns="0" rIns="0" bIns="0" rtlCol="0" anchor="ctr"/>
          <a:lstStyle/>
          <a:p>
            <a:pPr indent="0" marL="0">
              <a:buNone/>
            </a:pPr>
            <a:r>
              <a:rPr lang="en-US" sz="1200" b="1" dirty="0">
                <a:solidFill>
                  <a:srgbClr val="0A1F47"/>
                </a:solidFill>
                <a:latin typeface="Arial" pitchFamily="34" charset="0"/>
                <a:ea typeface="Arial" pitchFamily="34" charset="-122"/>
                <a:cs typeface="Arial" pitchFamily="34" charset="-120"/>
              </a:rPr>
              <a:t>Non-garment companies</a:t>
            </a:r>
            <a:endParaRPr lang="en-US" sz="1200" dirty="0"/>
          </a:p>
          <a:p>
            <a:pPr indent="0" marL="0">
              <a:buNone/>
            </a:pPr>
            <a:r>
              <a:rPr lang="en-US" sz="1000" dirty="0">
                <a:solidFill>
                  <a:srgbClr val="64748B"/>
                </a:solidFill>
                <a:latin typeface="Arial" pitchFamily="34" charset="0"/>
                <a:ea typeface="Arial" pitchFamily="34" charset="-122"/>
                <a:cs typeface="Arial" pitchFamily="34" charset="-120"/>
              </a:rPr>
              <a:t>$120 – $750 / yr · hospitality, food, logistics, services on admin modules</a:t>
            </a:r>
            <a:endParaRPr lang="en-US" sz="1200" dirty="0"/>
          </a:p>
        </p:txBody>
      </p:sp>
      <p:sp>
        <p:nvSpPr>
          <p:cNvPr id="31" name="Shape 28"/>
          <p:cNvSpPr/>
          <p:nvPr/>
        </p:nvSpPr>
        <p:spPr>
          <a:xfrm>
            <a:off x="6035040" y="4082796"/>
            <a:ext cx="292608" cy="292608"/>
          </a:xfrm>
          <a:prstGeom prst="ellipse">
            <a:avLst/>
          </a:prstGeom>
          <a:solidFill>
            <a:srgbClr val="F37021"/>
          </a:solidFill>
          <a:ln/>
        </p:spPr>
      </p:sp>
      <p:sp>
        <p:nvSpPr>
          <p:cNvPr id="32" name="Text 29"/>
          <p:cNvSpPr/>
          <p:nvPr/>
        </p:nvSpPr>
        <p:spPr>
          <a:xfrm>
            <a:off x="6446520" y="3886200"/>
            <a:ext cx="1051560" cy="685800"/>
          </a:xfrm>
          <a:prstGeom prst="rect">
            <a:avLst/>
          </a:prstGeom>
          <a:noFill/>
          <a:ln/>
        </p:spPr>
        <p:txBody>
          <a:bodyPr wrap="square" lIns="0" tIns="0" rIns="0" bIns="0" rtlCol="0" anchor="ctr"/>
          <a:lstStyle/>
          <a:p>
            <a:pPr indent="0" marL="0">
              <a:buNone/>
            </a:pPr>
            <a:r>
              <a:rPr lang="en-US" sz="2000" b="1" dirty="0">
                <a:solidFill>
                  <a:srgbClr val="F37021"/>
                </a:solidFill>
                <a:latin typeface="Arial" pitchFamily="34" charset="0"/>
                <a:ea typeface="Arial" pitchFamily="34" charset="-122"/>
                <a:cs typeface="Arial" pitchFamily="34" charset="-120"/>
              </a:rPr>
              <a:t>~600</a:t>
            </a:r>
            <a:endParaRPr lang="en-US" sz="2000" dirty="0"/>
          </a:p>
        </p:txBody>
      </p:sp>
      <p:sp>
        <p:nvSpPr>
          <p:cNvPr id="33" name="Text 30"/>
          <p:cNvSpPr/>
          <p:nvPr/>
        </p:nvSpPr>
        <p:spPr>
          <a:xfrm>
            <a:off x="7543800" y="3886200"/>
            <a:ext cx="4069080" cy="685800"/>
          </a:xfrm>
          <a:prstGeom prst="rect">
            <a:avLst/>
          </a:prstGeom>
          <a:noFill/>
          <a:ln/>
        </p:spPr>
        <p:txBody>
          <a:bodyPr wrap="square" lIns="0" tIns="0" rIns="0" bIns="0" rtlCol="0" anchor="ctr"/>
          <a:lstStyle/>
          <a:p>
            <a:pPr indent="0" marL="0">
              <a:buNone/>
            </a:pPr>
            <a:r>
              <a:rPr lang="en-US" sz="1200" b="1" dirty="0">
                <a:solidFill>
                  <a:srgbClr val="0A1F47"/>
                </a:solidFill>
                <a:latin typeface="Arial" pitchFamily="34" charset="0"/>
                <a:ea typeface="Arial" pitchFamily="34" charset="-122"/>
                <a:cs typeface="Arial" pitchFamily="34" charset="-120"/>
              </a:rPr>
              <a:t>E-commerce cluster</a:t>
            </a:r>
            <a:endParaRPr lang="en-US" sz="1200" dirty="0"/>
          </a:p>
          <a:p>
            <a:pPr indent="0" marL="0">
              <a:buNone/>
            </a:pPr>
            <a:r>
              <a:rPr lang="en-US" sz="1000" dirty="0">
                <a:solidFill>
                  <a:srgbClr val="64748B"/>
                </a:solidFill>
                <a:latin typeface="Arial" pitchFamily="34" charset="0"/>
                <a:ea typeface="Arial" pitchFamily="34" charset="-122"/>
                <a:cs typeface="Arial" pitchFamily="34" charset="-120"/>
              </a:rPr>
              <a:t>Worker P2P + marketplaces · plus 100K worker GMV reach</a:t>
            </a:r>
            <a:endParaRPr lang="en-US" sz="1200" dirty="0"/>
          </a:p>
        </p:txBody>
      </p:sp>
      <p:sp>
        <p:nvSpPr>
          <p:cNvPr id="34" name="Shape 31"/>
          <p:cNvSpPr/>
          <p:nvPr/>
        </p:nvSpPr>
        <p:spPr>
          <a:xfrm>
            <a:off x="6035040" y="4860036"/>
            <a:ext cx="292608" cy="292608"/>
          </a:xfrm>
          <a:prstGeom prst="ellipse">
            <a:avLst/>
          </a:prstGeom>
          <a:solidFill>
            <a:srgbClr val="10B981"/>
          </a:solidFill>
          <a:ln/>
        </p:spPr>
      </p:sp>
      <p:sp>
        <p:nvSpPr>
          <p:cNvPr id="35" name="Text 32"/>
          <p:cNvSpPr/>
          <p:nvPr/>
        </p:nvSpPr>
        <p:spPr>
          <a:xfrm>
            <a:off x="6446520" y="4663440"/>
            <a:ext cx="1051560" cy="685800"/>
          </a:xfrm>
          <a:prstGeom prst="rect">
            <a:avLst/>
          </a:prstGeom>
          <a:noFill/>
          <a:ln/>
        </p:spPr>
        <p:txBody>
          <a:bodyPr wrap="square" lIns="0" tIns="0" rIns="0" bIns="0" rtlCol="0" anchor="ctr"/>
          <a:lstStyle/>
          <a:p>
            <a:pPr indent="0" marL="0">
              <a:buNone/>
            </a:pPr>
            <a:r>
              <a:rPr lang="en-US" sz="2000" b="1" dirty="0">
                <a:solidFill>
                  <a:srgbClr val="10B981"/>
                </a:solidFill>
                <a:latin typeface="Arial" pitchFamily="34" charset="0"/>
                <a:ea typeface="Arial" pitchFamily="34" charset="-122"/>
                <a:cs typeface="Arial" pitchFamily="34" charset="-120"/>
              </a:rPr>
              <a:t>~200</a:t>
            </a:r>
            <a:endParaRPr lang="en-US" sz="2000" dirty="0"/>
          </a:p>
        </p:txBody>
      </p:sp>
      <p:sp>
        <p:nvSpPr>
          <p:cNvPr id="36" name="Text 33"/>
          <p:cNvSpPr/>
          <p:nvPr/>
        </p:nvSpPr>
        <p:spPr>
          <a:xfrm>
            <a:off x="7543800" y="4663440"/>
            <a:ext cx="4069080" cy="685800"/>
          </a:xfrm>
          <a:prstGeom prst="rect">
            <a:avLst/>
          </a:prstGeom>
          <a:noFill/>
          <a:ln/>
        </p:spPr>
        <p:txBody>
          <a:bodyPr wrap="square" lIns="0" tIns="0" rIns="0" bIns="0" rtlCol="0" anchor="ctr"/>
          <a:lstStyle/>
          <a:p>
            <a:pPr indent="0" marL="0">
              <a:buNone/>
            </a:pPr>
            <a:r>
              <a:rPr lang="en-US" sz="1200" b="1" dirty="0">
                <a:solidFill>
                  <a:srgbClr val="0A1F47"/>
                </a:solidFill>
                <a:latin typeface="Arial" pitchFamily="34" charset="0"/>
                <a:ea typeface="Arial" pitchFamily="34" charset="-122"/>
                <a:cs typeface="Arial" pitchFamily="34" charset="-120"/>
              </a:rPr>
              <a:t>Small factories</a:t>
            </a:r>
            <a:endParaRPr lang="en-US" sz="1200" dirty="0"/>
          </a:p>
          <a:p>
            <a:pPr indent="0" marL="0">
              <a:buNone/>
            </a:pPr>
            <a:r>
              <a:rPr lang="en-US" sz="1000" dirty="0">
                <a:solidFill>
                  <a:srgbClr val="64748B"/>
                </a:solidFill>
                <a:latin typeface="Arial" pitchFamily="34" charset="0"/>
                <a:ea typeface="Arial" pitchFamily="34" charset="-122"/>
                <a:cs typeface="Arial" pitchFamily="34" charset="-120"/>
              </a:rPr>
              <a:t>$120 – $1,200 / yr · Cloud Starter / Growth comfort zone</a:t>
            </a:r>
            <a:endParaRPr lang="en-US" sz="1200" dirty="0"/>
          </a:p>
        </p:txBody>
      </p:sp>
      <p:sp>
        <p:nvSpPr>
          <p:cNvPr id="37" name="Shape 34"/>
          <p:cNvSpPr/>
          <p:nvPr/>
        </p:nvSpPr>
        <p:spPr>
          <a:xfrm>
            <a:off x="6035040" y="5637276"/>
            <a:ext cx="292608" cy="292608"/>
          </a:xfrm>
          <a:prstGeom prst="ellipse">
            <a:avLst/>
          </a:prstGeom>
          <a:solidFill>
            <a:srgbClr val="0A3327"/>
          </a:solidFill>
          <a:ln/>
        </p:spPr>
      </p:sp>
      <p:sp>
        <p:nvSpPr>
          <p:cNvPr id="38" name="Text 35"/>
          <p:cNvSpPr/>
          <p:nvPr/>
        </p:nvSpPr>
        <p:spPr>
          <a:xfrm>
            <a:off x="6446520" y="5440680"/>
            <a:ext cx="1051560" cy="685800"/>
          </a:xfrm>
          <a:prstGeom prst="rect">
            <a:avLst/>
          </a:prstGeom>
          <a:noFill/>
          <a:ln/>
        </p:spPr>
        <p:txBody>
          <a:bodyPr wrap="square" lIns="0" tIns="0" rIns="0" bIns="0" rtlCol="0" anchor="ctr"/>
          <a:lstStyle/>
          <a:p>
            <a:pPr indent="0" marL="0">
              <a:buNone/>
            </a:pPr>
            <a:r>
              <a:rPr lang="en-US" sz="2000" b="1" dirty="0">
                <a:solidFill>
                  <a:srgbClr val="0A3327"/>
                </a:solidFill>
                <a:latin typeface="Arial" pitchFamily="34" charset="0"/>
                <a:ea typeface="Arial" pitchFamily="34" charset="-122"/>
                <a:cs typeface="Arial" pitchFamily="34" charset="-120"/>
              </a:rPr>
              <a:t>7</a:t>
            </a:r>
            <a:endParaRPr lang="en-US" sz="2000" dirty="0"/>
          </a:p>
        </p:txBody>
      </p:sp>
      <p:sp>
        <p:nvSpPr>
          <p:cNvPr id="39" name="Text 36"/>
          <p:cNvSpPr/>
          <p:nvPr/>
        </p:nvSpPr>
        <p:spPr>
          <a:xfrm>
            <a:off x="7543800" y="5440680"/>
            <a:ext cx="4069080" cy="685800"/>
          </a:xfrm>
          <a:prstGeom prst="rect">
            <a:avLst/>
          </a:prstGeom>
          <a:noFill/>
          <a:ln/>
        </p:spPr>
        <p:txBody>
          <a:bodyPr wrap="square" lIns="0" tIns="0" rIns="0" bIns="0" rtlCol="0" anchor="ctr"/>
          <a:lstStyle/>
          <a:p>
            <a:pPr indent="0" marL="0">
              <a:buNone/>
            </a:pPr>
            <a:r>
              <a:rPr lang="en-US" sz="1200" b="1" dirty="0">
                <a:solidFill>
                  <a:srgbClr val="0A1F47"/>
                </a:solidFill>
                <a:latin typeface="Arial" pitchFamily="34" charset="0"/>
                <a:ea typeface="Arial" pitchFamily="34" charset="-122"/>
                <a:cs typeface="Arial" pitchFamily="34" charset="-120"/>
              </a:rPr>
              <a:t>Big-tech &amp; strategic partners</a:t>
            </a:r>
            <a:endParaRPr lang="en-US" sz="1200" dirty="0"/>
          </a:p>
          <a:p>
            <a:pPr indent="0" marL="0">
              <a:buNone/>
            </a:pPr>
            <a:r>
              <a:rPr lang="en-US" sz="1000" dirty="0">
                <a:solidFill>
                  <a:srgbClr val="64748B"/>
                </a:solidFill>
                <a:latin typeface="Arial" pitchFamily="34" charset="0"/>
                <a:ea typeface="Arial" pitchFamily="34" charset="-122"/>
                <a:cs typeface="Arial" pitchFamily="34" charset="-120"/>
              </a:rPr>
              <a:t>Anthropic ✓ · Google · JICA · YC · ADB · ABA · Wing</a:t>
            </a:r>
            <a:endParaRPr lang="en-US" sz="1200" dirty="0"/>
          </a:p>
        </p:txBody>
      </p:sp>
      <p:sp>
        <p:nvSpPr>
          <p:cNvPr id="40" name="Text 37"/>
          <p:cNvSpPr/>
          <p:nvPr/>
        </p:nvSpPr>
        <p:spPr>
          <a:xfrm>
            <a:off x="548640" y="6309360"/>
            <a:ext cx="11064240" cy="320040"/>
          </a:xfrm>
          <a:prstGeom prst="rect">
            <a:avLst/>
          </a:prstGeom>
          <a:noFill/>
          <a:ln/>
        </p:spPr>
        <p:txBody>
          <a:bodyPr wrap="square" lIns="0" tIns="0" rIns="0" bIns="0" rtlCol="0" anchor="ctr"/>
          <a:lstStyle/>
          <a:p>
            <a:pPr indent="0" marL="0">
              <a:buNone/>
            </a:pPr>
            <a:r>
              <a:rPr lang="en-US" sz="1200" i="1" dirty="0">
                <a:solidFill>
                  <a:srgbClr val="64748B"/>
                </a:solidFill>
                <a:latin typeface="Arial" pitchFamily="34" charset="0"/>
                <a:ea typeface="Arial" pitchFamily="34" charset="-122"/>
                <a:cs typeface="Arial" pitchFamily="34" charset="-120"/>
              </a:rPr>
              <a:t>App user growth path: 2,500 → 100,000 workers.</a:t>
            </a:r>
            <a:endParaRPr lang="en-US" sz="1200" dirty="0"/>
          </a:p>
        </p:txBody>
      </p:sp>
      <p:sp>
        <p:nvSpPr>
          <p:cNvPr id="41" name="Text 38"/>
          <p:cNvSpPr/>
          <p:nvPr/>
        </p:nvSpPr>
        <p:spPr>
          <a:xfrm>
            <a:off x="548640" y="6473952"/>
            <a:ext cx="1042416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8 / 12</a:t>
            </a:r>
            <a:endParaRPr lang="en-US" sz="850" dirty="0"/>
          </a:p>
        </p:txBody>
      </p:sp>
      <p:sp>
        <p:nvSpPr>
          <p:cNvPr id="42" name="Text 39"/>
          <p:cNvSpPr/>
          <p:nvPr/>
        </p:nvSpPr>
        <p:spPr>
          <a:xfrm>
            <a:off x="11548872" y="6473952"/>
            <a:ext cx="548640" cy="274320"/>
          </a:xfrm>
          <a:prstGeom prst="rect">
            <a:avLst/>
          </a:prstGeom>
          <a:noFill/>
          <a:ln/>
        </p:spPr>
        <p:txBody>
          <a:bodyPr wrap="square" lIns="0" tIns="0" rIns="0" bIns="0" rtlCol="0" anchor="ctr"/>
          <a:lstStyle/>
          <a:p>
            <a:pPr algn="r" indent="0" marL="0">
              <a:buNone/>
            </a:pPr>
            <a:r>
              <a:rPr lang="en-US" sz="1000" b="1" dirty="0">
                <a:solidFill>
                  <a:srgbClr val="F37021"/>
                </a:solidFill>
                <a:latin typeface="Arial" pitchFamily="34" charset="0"/>
                <a:ea typeface="Arial" pitchFamily="34" charset="-122"/>
                <a:cs typeface="Arial" pitchFamily="34" charset="-120"/>
              </a:rPr>
              <a:t>PD2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08 / ASEAN APPROACH</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endParaRPr lang="en-US" sz="3000" dirty="0"/>
          </a:p>
        </p:txBody>
      </p:sp>
      <p:sp>
        <p:nvSpPr>
          <p:cNvPr id="4" name="Shape 2"/>
          <p:cNvSpPr/>
          <p:nvPr/>
        </p:nvSpPr>
        <p:spPr>
          <a:xfrm>
            <a:off x="548640" y="1051560"/>
            <a:ext cx="3657600" cy="5257800"/>
          </a:xfrm>
          <a:prstGeom prst="roundRect">
            <a:avLst>
              <a:gd name="adj" fmla="val 2000"/>
            </a:avLst>
          </a:prstGeom>
          <a:solidFill>
            <a:srgbClr val="ECFDF5"/>
          </a:solidFill>
          <a:ln w="12700">
            <a:solidFill>
              <a:srgbClr val="6EE7B7"/>
            </a:solidFill>
            <a:prstDash val="solid"/>
          </a:ln>
        </p:spPr>
      </p:sp>
      <p:pic>
        <p:nvPicPr>
          <p:cNvPr id="5" name="Image 0" descr="preencoded.png">    </p:cNvPr>
          <p:cNvPicPr>
            <a:picLocks noChangeAspect="1"/>
          </p:cNvPicPr>
          <p:nvPr/>
        </p:nvPicPr>
        <p:blipFill>
          <a:blip r:embed="rId1"/>
          <a:stretch>
            <a:fillRect/>
          </a:stretch>
        </p:blipFill>
        <p:spPr>
          <a:xfrm>
            <a:off x="777240" y="1280160"/>
            <a:ext cx="1005840" cy="685800"/>
          </a:xfrm>
          <a:prstGeom prst="rect">
            <a:avLst/>
          </a:prstGeom>
        </p:spPr>
      </p:pic>
      <p:sp>
        <p:nvSpPr>
          <p:cNvPr id="6" name="Text 3"/>
          <p:cNvSpPr/>
          <p:nvPr/>
        </p:nvSpPr>
        <p:spPr>
          <a:xfrm>
            <a:off x="1920240" y="1280160"/>
            <a:ext cx="2057400" cy="685800"/>
          </a:xfrm>
          <a:prstGeom prst="rect">
            <a:avLst/>
          </a:prstGeom>
          <a:noFill/>
          <a:ln/>
        </p:spPr>
        <p:txBody>
          <a:bodyPr wrap="square" lIns="0" tIns="0" rIns="0" bIns="0" rtlCol="0" anchor="ctr"/>
          <a:lstStyle/>
          <a:p>
            <a:pPr algn="l" indent="0" marL="0">
              <a:buNone/>
            </a:pPr>
            <a:r>
              <a:rPr lang="en-US" sz="2200" b="1" dirty="0">
                <a:solidFill>
                  <a:srgbClr val="0A1F47"/>
                </a:solidFill>
                <a:latin typeface="Arial" pitchFamily="34" charset="0"/>
                <a:ea typeface="Arial" pitchFamily="34" charset="-122"/>
                <a:cs typeface="Arial" pitchFamily="34" charset="-120"/>
              </a:rPr>
              <a:t>Hong Kong</a:t>
            </a:r>
            <a:endParaRPr lang="en-US" sz="2200" dirty="0"/>
          </a:p>
        </p:txBody>
      </p:sp>
      <p:sp>
        <p:nvSpPr>
          <p:cNvPr id="7" name="Shape 4"/>
          <p:cNvSpPr/>
          <p:nvPr/>
        </p:nvSpPr>
        <p:spPr>
          <a:xfrm>
            <a:off x="1051560" y="2944368"/>
            <a:ext cx="164592" cy="164592"/>
          </a:xfrm>
          <a:prstGeom prst="ellipse">
            <a:avLst/>
          </a:prstGeom>
          <a:solidFill>
            <a:srgbClr val="0A3327"/>
          </a:solidFill>
          <a:ln/>
        </p:spPr>
      </p:sp>
      <p:sp>
        <p:nvSpPr>
          <p:cNvPr id="8" name="Text 5"/>
          <p:cNvSpPr/>
          <p:nvPr/>
        </p:nvSpPr>
        <p:spPr>
          <a:xfrm>
            <a:off x="1325880" y="2743200"/>
            <a:ext cx="2651760" cy="548640"/>
          </a:xfrm>
          <a:prstGeom prst="rect">
            <a:avLst/>
          </a:prstGeom>
          <a:noFill/>
          <a:ln/>
        </p:spPr>
        <p:txBody>
          <a:bodyPr wrap="square" lIns="0" tIns="0" rIns="0" bIns="0" rtlCol="0" anchor="ctr"/>
          <a:lstStyle/>
          <a:p>
            <a:pPr algn="l" indent="0" marL="0">
              <a:buNone/>
            </a:pPr>
            <a:r>
              <a:rPr lang="en-US" sz="2000" b="1" dirty="0">
                <a:solidFill>
                  <a:srgbClr val="0A1F47"/>
                </a:solidFill>
                <a:latin typeface="Arial" pitchFamily="34" charset="0"/>
                <a:ea typeface="Arial" pitchFamily="34" charset="-122"/>
                <a:cs typeface="Arial" pitchFamily="34" charset="-120"/>
              </a:rPr>
              <a:t>Supplier base</a:t>
            </a:r>
            <a:endParaRPr lang="en-US" sz="2000" dirty="0"/>
          </a:p>
        </p:txBody>
      </p:sp>
      <p:sp>
        <p:nvSpPr>
          <p:cNvPr id="9" name="Shape 6"/>
          <p:cNvSpPr/>
          <p:nvPr/>
        </p:nvSpPr>
        <p:spPr>
          <a:xfrm>
            <a:off x="1051560" y="3767328"/>
            <a:ext cx="164592" cy="164592"/>
          </a:xfrm>
          <a:prstGeom prst="ellipse">
            <a:avLst/>
          </a:prstGeom>
          <a:solidFill>
            <a:srgbClr val="0A3327"/>
          </a:solidFill>
          <a:ln/>
        </p:spPr>
      </p:sp>
      <p:sp>
        <p:nvSpPr>
          <p:cNvPr id="10" name="Text 7"/>
          <p:cNvSpPr/>
          <p:nvPr/>
        </p:nvSpPr>
        <p:spPr>
          <a:xfrm>
            <a:off x="1325880" y="3566160"/>
            <a:ext cx="2651760" cy="548640"/>
          </a:xfrm>
          <a:prstGeom prst="rect">
            <a:avLst/>
          </a:prstGeom>
          <a:noFill/>
          <a:ln/>
        </p:spPr>
        <p:txBody>
          <a:bodyPr wrap="square" lIns="0" tIns="0" rIns="0" bIns="0" rtlCol="0" anchor="ctr"/>
          <a:lstStyle/>
          <a:p>
            <a:pPr algn="l" indent="0" marL="0">
              <a:buNone/>
            </a:pPr>
            <a:r>
              <a:rPr lang="en-US" sz="2000" b="1" dirty="0">
                <a:solidFill>
                  <a:srgbClr val="0A1F47"/>
                </a:solidFill>
                <a:latin typeface="Arial" pitchFamily="34" charset="0"/>
                <a:ea typeface="Arial" pitchFamily="34" charset="-122"/>
                <a:cs typeface="Arial" pitchFamily="34" charset="-120"/>
              </a:rPr>
              <a:t>Brands offices</a:t>
            </a:r>
            <a:endParaRPr lang="en-US" sz="2000" dirty="0"/>
          </a:p>
        </p:txBody>
      </p:sp>
      <p:sp>
        <p:nvSpPr>
          <p:cNvPr id="11" name="Shape 8"/>
          <p:cNvSpPr/>
          <p:nvPr/>
        </p:nvSpPr>
        <p:spPr>
          <a:xfrm>
            <a:off x="4343400" y="1051560"/>
            <a:ext cx="3657600" cy="5257800"/>
          </a:xfrm>
          <a:prstGeom prst="roundRect">
            <a:avLst>
              <a:gd name="adj" fmla="val 2000"/>
            </a:avLst>
          </a:prstGeom>
          <a:solidFill>
            <a:srgbClr val="FFF7ED"/>
          </a:solidFill>
          <a:ln w="12700">
            <a:solidFill>
              <a:srgbClr val="FDBA74"/>
            </a:solidFill>
            <a:prstDash val="solid"/>
          </a:ln>
        </p:spPr>
      </p:sp>
      <p:pic>
        <p:nvPicPr>
          <p:cNvPr id="12" name="Image 1" descr="preencoded.png">    </p:cNvPr>
          <p:cNvPicPr>
            <a:picLocks noChangeAspect="1"/>
          </p:cNvPicPr>
          <p:nvPr/>
        </p:nvPicPr>
        <p:blipFill>
          <a:blip r:embed="rId2"/>
          <a:stretch>
            <a:fillRect/>
          </a:stretch>
        </p:blipFill>
        <p:spPr>
          <a:xfrm>
            <a:off x="4572000" y="1280160"/>
            <a:ext cx="1005840" cy="685800"/>
          </a:xfrm>
          <a:prstGeom prst="rect">
            <a:avLst/>
          </a:prstGeom>
        </p:spPr>
      </p:pic>
      <p:sp>
        <p:nvSpPr>
          <p:cNvPr id="13" name="Text 9"/>
          <p:cNvSpPr/>
          <p:nvPr/>
        </p:nvSpPr>
        <p:spPr>
          <a:xfrm>
            <a:off x="5715000" y="1280160"/>
            <a:ext cx="2057400" cy="685800"/>
          </a:xfrm>
          <a:prstGeom prst="rect">
            <a:avLst/>
          </a:prstGeom>
          <a:noFill/>
          <a:ln/>
        </p:spPr>
        <p:txBody>
          <a:bodyPr wrap="square" lIns="0" tIns="0" rIns="0" bIns="0" rtlCol="0" anchor="ctr"/>
          <a:lstStyle/>
          <a:p>
            <a:pPr algn="l" indent="0" marL="0">
              <a:buNone/>
            </a:pPr>
            <a:r>
              <a:rPr lang="en-US" sz="2200" b="1" dirty="0">
                <a:solidFill>
                  <a:srgbClr val="0A1F47"/>
                </a:solidFill>
                <a:latin typeface="Arial" pitchFamily="34" charset="0"/>
                <a:ea typeface="Arial" pitchFamily="34" charset="-122"/>
                <a:cs typeface="Arial" pitchFamily="34" charset="-120"/>
              </a:rPr>
              <a:t>Cambodia</a:t>
            </a:r>
            <a:endParaRPr lang="en-US" sz="2200" dirty="0"/>
          </a:p>
        </p:txBody>
      </p:sp>
      <p:sp>
        <p:nvSpPr>
          <p:cNvPr id="14" name="Text 10"/>
          <p:cNvSpPr/>
          <p:nvPr/>
        </p:nvSpPr>
        <p:spPr>
          <a:xfrm>
            <a:off x="4572000" y="2194560"/>
            <a:ext cx="3200400" cy="274320"/>
          </a:xfrm>
          <a:prstGeom prst="rect">
            <a:avLst/>
          </a:prstGeom>
          <a:noFill/>
          <a:ln/>
        </p:spPr>
        <p:txBody>
          <a:bodyPr wrap="square" lIns="0" tIns="0" rIns="0" bIns="0" rtlCol="0" anchor="ctr"/>
          <a:lstStyle/>
          <a:p>
            <a:pPr indent="0" marL="0">
              <a:buNone/>
            </a:pPr>
            <a:r>
              <a:rPr lang="en-US" sz="1100" b="1" spc="200" kern="0" dirty="0">
                <a:solidFill>
                  <a:srgbClr val="F37021"/>
                </a:solidFill>
                <a:latin typeface="Arial" pitchFamily="34" charset="0"/>
                <a:ea typeface="Arial" pitchFamily="34" charset="-122"/>
                <a:cs typeface="Arial" pitchFamily="34" charset="-120"/>
              </a:rPr>
              <a:t>MEMBER OF</a:t>
            </a:r>
            <a:endParaRPr lang="en-US" sz="1100" dirty="0"/>
          </a:p>
        </p:txBody>
      </p:sp>
      <p:sp>
        <p:nvSpPr>
          <p:cNvPr id="15" name="Shape 11"/>
          <p:cNvSpPr/>
          <p:nvPr/>
        </p:nvSpPr>
        <p:spPr>
          <a:xfrm>
            <a:off x="5260804" y="2487168"/>
            <a:ext cx="1822791" cy="713232"/>
          </a:xfrm>
          <a:prstGeom prst="roundRect">
            <a:avLst>
              <a:gd name="adj" fmla="val 6410"/>
            </a:avLst>
          </a:prstGeom>
          <a:solidFill>
            <a:srgbClr val="FFFFFF"/>
          </a:solidFill>
          <a:ln w="9525">
            <a:solidFill>
              <a:srgbClr val="94A3B8"/>
            </a:solidFill>
            <a:prstDash val="solid"/>
          </a:ln>
        </p:spPr>
      </p:sp>
      <p:pic>
        <p:nvPicPr>
          <p:cNvPr id="16" name="Image 2" descr="preencoded.png">    </p:cNvPr>
          <p:cNvPicPr>
            <a:picLocks noChangeAspect="1"/>
          </p:cNvPicPr>
          <p:nvPr/>
        </p:nvPicPr>
        <p:blipFill>
          <a:blip r:embed="rId3"/>
          <a:stretch>
            <a:fillRect/>
          </a:stretch>
        </p:blipFill>
        <p:spPr>
          <a:xfrm>
            <a:off x="5333956" y="2560320"/>
            <a:ext cx="1676487" cy="566928"/>
          </a:xfrm>
          <a:prstGeom prst="rect">
            <a:avLst/>
          </a:prstGeom>
        </p:spPr>
      </p:pic>
      <p:sp>
        <p:nvSpPr>
          <p:cNvPr id="17" name="Shape 12"/>
          <p:cNvSpPr/>
          <p:nvPr/>
        </p:nvSpPr>
        <p:spPr>
          <a:xfrm>
            <a:off x="5376856" y="3310128"/>
            <a:ext cx="1590688" cy="713232"/>
          </a:xfrm>
          <a:prstGeom prst="roundRect">
            <a:avLst>
              <a:gd name="adj" fmla="val 6410"/>
            </a:avLst>
          </a:prstGeom>
          <a:solidFill>
            <a:srgbClr val="FFFFFF"/>
          </a:solidFill>
          <a:ln w="9525">
            <a:solidFill>
              <a:srgbClr val="94A3B8"/>
            </a:solidFill>
            <a:prstDash val="solid"/>
          </a:ln>
        </p:spPr>
      </p:sp>
      <p:pic>
        <p:nvPicPr>
          <p:cNvPr id="18" name="Image 3" descr="preencoded.png">    </p:cNvPr>
          <p:cNvPicPr>
            <a:picLocks noChangeAspect="1"/>
          </p:cNvPicPr>
          <p:nvPr/>
        </p:nvPicPr>
        <p:blipFill>
          <a:blip r:embed="rId4"/>
          <a:stretch>
            <a:fillRect/>
          </a:stretch>
        </p:blipFill>
        <p:spPr>
          <a:xfrm>
            <a:off x="5450008" y="3383280"/>
            <a:ext cx="1444384" cy="566928"/>
          </a:xfrm>
          <a:prstGeom prst="rect">
            <a:avLst/>
          </a:prstGeom>
        </p:spPr>
      </p:pic>
      <p:sp>
        <p:nvSpPr>
          <p:cNvPr id="19" name="Shape 13"/>
          <p:cNvSpPr/>
          <p:nvPr/>
        </p:nvSpPr>
        <p:spPr>
          <a:xfrm>
            <a:off x="5139180" y="4133088"/>
            <a:ext cx="2066040" cy="713232"/>
          </a:xfrm>
          <a:prstGeom prst="roundRect">
            <a:avLst>
              <a:gd name="adj" fmla="val 6410"/>
            </a:avLst>
          </a:prstGeom>
          <a:solidFill>
            <a:srgbClr val="FFFFFF"/>
          </a:solidFill>
          <a:ln w="9525">
            <a:solidFill>
              <a:srgbClr val="94A3B8"/>
            </a:solidFill>
            <a:prstDash val="solid"/>
          </a:ln>
        </p:spPr>
      </p:sp>
      <p:pic>
        <p:nvPicPr>
          <p:cNvPr id="20" name="Image 4" descr="preencoded.png">    </p:cNvPr>
          <p:cNvPicPr>
            <a:picLocks noChangeAspect="1"/>
          </p:cNvPicPr>
          <p:nvPr/>
        </p:nvPicPr>
        <p:blipFill>
          <a:blip r:embed="rId5"/>
          <a:stretch>
            <a:fillRect/>
          </a:stretch>
        </p:blipFill>
        <p:spPr>
          <a:xfrm>
            <a:off x="5212332" y="4206240"/>
            <a:ext cx="1919736" cy="566928"/>
          </a:xfrm>
          <a:prstGeom prst="rect">
            <a:avLst/>
          </a:prstGeom>
        </p:spPr>
      </p:pic>
      <p:sp>
        <p:nvSpPr>
          <p:cNvPr id="21" name="Text 14"/>
          <p:cNvSpPr/>
          <p:nvPr/>
        </p:nvSpPr>
        <p:spPr>
          <a:xfrm>
            <a:off x="4572000" y="5257800"/>
            <a:ext cx="3200400" cy="1005840"/>
          </a:xfrm>
          <a:prstGeom prst="rect">
            <a:avLst/>
          </a:prstGeom>
          <a:noFill/>
          <a:ln/>
        </p:spPr>
        <p:txBody>
          <a:bodyPr wrap="square" lIns="0" tIns="0" rIns="0" bIns="0" rtlCol="0" anchor="ctr"/>
          <a:lstStyle/>
          <a:p>
            <a:pPr algn="ctr" indent="0" marL="0">
              <a:buNone/>
            </a:pPr>
            <a:r>
              <a:rPr lang="en-US" sz="1700" b="1" dirty="0">
                <a:solidFill>
                  <a:srgbClr val="0A1F47"/>
                </a:solidFill>
                <a:latin typeface="Arial" pitchFamily="34" charset="0"/>
                <a:ea typeface="Arial" pitchFamily="34" charset="-122"/>
                <a:cs typeface="Arial" pitchFamily="34" charset="-120"/>
              </a:rPr>
              <a:t>Referrals to the manufactures via membership networking events and trade expos.</a:t>
            </a:r>
            <a:endParaRPr lang="en-US" sz="1700" dirty="0"/>
          </a:p>
        </p:txBody>
      </p:sp>
      <p:sp>
        <p:nvSpPr>
          <p:cNvPr id="22" name="Shape 15"/>
          <p:cNvSpPr/>
          <p:nvPr/>
        </p:nvSpPr>
        <p:spPr>
          <a:xfrm>
            <a:off x="8138160" y="1051560"/>
            <a:ext cx="3657600" cy="5257800"/>
          </a:xfrm>
          <a:prstGeom prst="roundRect">
            <a:avLst>
              <a:gd name="adj" fmla="val 2000"/>
            </a:avLst>
          </a:prstGeom>
          <a:solidFill>
            <a:srgbClr val="EFF6FF"/>
          </a:solidFill>
          <a:ln w="12700">
            <a:solidFill>
              <a:srgbClr val="93C5FD"/>
            </a:solidFill>
            <a:prstDash val="solid"/>
          </a:ln>
        </p:spPr>
      </p:sp>
      <p:pic>
        <p:nvPicPr>
          <p:cNvPr id="23" name="Image 5" descr="preencoded.png">    </p:cNvPr>
          <p:cNvPicPr>
            <a:picLocks noChangeAspect="1"/>
          </p:cNvPicPr>
          <p:nvPr/>
        </p:nvPicPr>
        <p:blipFill>
          <a:blip r:embed="rId6"/>
          <a:stretch>
            <a:fillRect/>
          </a:stretch>
        </p:blipFill>
        <p:spPr>
          <a:xfrm>
            <a:off x="8366760" y="1280160"/>
            <a:ext cx="1005840" cy="685800"/>
          </a:xfrm>
          <a:prstGeom prst="rect">
            <a:avLst/>
          </a:prstGeom>
        </p:spPr>
      </p:pic>
      <p:sp>
        <p:nvSpPr>
          <p:cNvPr id="24" name="Text 16"/>
          <p:cNvSpPr/>
          <p:nvPr/>
        </p:nvSpPr>
        <p:spPr>
          <a:xfrm>
            <a:off x="9509760" y="1280160"/>
            <a:ext cx="2057400" cy="685800"/>
          </a:xfrm>
          <a:prstGeom prst="rect">
            <a:avLst/>
          </a:prstGeom>
          <a:noFill/>
          <a:ln/>
        </p:spPr>
        <p:txBody>
          <a:bodyPr wrap="square" lIns="0" tIns="0" rIns="0" bIns="0" rtlCol="0" anchor="ctr"/>
          <a:lstStyle/>
          <a:p>
            <a:pPr algn="l" indent="0" marL="0">
              <a:buNone/>
            </a:pPr>
            <a:r>
              <a:rPr lang="en-US" sz="2200" b="1" dirty="0">
                <a:solidFill>
                  <a:srgbClr val="0A1F47"/>
                </a:solidFill>
                <a:latin typeface="Arial" pitchFamily="34" charset="0"/>
                <a:ea typeface="Arial" pitchFamily="34" charset="-122"/>
                <a:cs typeface="Arial" pitchFamily="34" charset="-120"/>
              </a:rPr>
              <a:t>Singapore</a:t>
            </a:r>
            <a:endParaRPr lang="en-US" sz="2200" dirty="0"/>
          </a:p>
        </p:txBody>
      </p:sp>
      <p:sp>
        <p:nvSpPr>
          <p:cNvPr id="25" name="Text 17"/>
          <p:cNvSpPr/>
          <p:nvPr/>
        </p:nvSpPr>
        <p:spPr>
          <a:xfrm>
            <a:off x="8366760" y="2194560"/>
            <a:ext cx="3200400" cy="274320"/>
          </a:xfrm>
          <a:prstGeom prst="rect">
            <a:avLst/>
          </a:prstGeom>
          <a:noFill/>
          <a:ln/>
        </p:spPr>
        <p:txBody>
          <a:bodyPr wrap="square" lIns="0" tIns="0" rIns="0" bIns="0" rtlCol="0" anchor="ctr"/>
          <a:lstStyle/>
          <a:p>
            <a:pPr indent="0" marL="0">
              <a:buNone/>
            </a:pPr>
            <a:r>
              <a:rPr lang="en-US" sz="1100" b="1" spc="200" kern="0" dirty="0">
                <a:solidFill>
                  <a:srgbClr val="1E4DAA"/>
                </a:solidFill>
                <a:latin typeface="Arial" pitchFamily="34" charset="0"/>
                <a:ea typeface="Arial" pitchFamily="34" charset="-122"/>
                <a:cs typeface="Arial" pitchFamily="34" charset="-120"/>
              </a:rPr>
              <a:t>MEMBER OF</a:t>
            </a:r>
            <a:endParaRPr lang="en-US" sz="1100" dirty="0"/>
          </a:p>
        </p:txBody>
      </p:sp>
      <p:sp>
        <p:nvSpPr>
          <p:cNvPr id="26" name="Shape 18"/>
          <p:cNvSpPr/>
          <p:nvPr/>
        </p:nvSpPr>
        <p:spPr>
          <a:xfrm>
            <a:off x="9166977" y="2487168"/>
            <a:ext cx="1599966" cy="713232"/>
          </a:xfrm>
          <a:prstGeom prst="roundRect">
            <a:avLst>
              <a:gd name="adj" fmla="val 6410"/>
            </a:avLst>
          </a:prstGeom>
          <a:solidFill>
            <a:srgbClr val="0A1F47"/>
          </a:solidFill>
          <a:ln w="9525">
            <a:solidFill>
              <a:srgbClr val="0A1F47"/>
            </a:solidFill>
            <a:prstDash val="solid"/>
          </a:ln>
        </p:spPr>
      </p:sp>
      <p:pic>
        <p:nvPicPr>
          <p:cNvPr id="27" name="Image 6" descr="preencoded.png">    </p:cNvPr>
          <p:cNvPicPr>
            <a:picLocks noChangeAspect="1"/>
          </p:cNvPicPr>
          <p:nvPr/>
        </p:nvPicPr>
        <p:blipFill>
          <a:blip r:embed="rId7"/>
          <a:stretch>
            <a:fillRect/>
          </a:stretch>
        </p:blipFill>
        <p:spPr>
          <a:xfrm>
            <a:off x="9240129" y="2560320"/>
            <a:ext cx="1453662" cy="566928"/>
          </a:xfrm>
          <a:prstGeom prst="rect">
            <a:avLst/>
          </a:prstGeom>
        </p:spPr>
      </p:pic>
      <p:sp>
        <p:nvSpPr>
          <p:cNvPr id="28" name="Shape 19"/>
          <p:cNvSpPr/>
          <p:nvPr/>
        </p:nvSpPr>
        <p:spPr>
          <a:xfrm>
            <a:off x="9610344" y="3310128"/>
            <a:ext cx="713232" cy="713232"/>
          </a:xfrm>
          <a:prstGeom prst="roundRect">
            <a:avLst>
              <a:gd name="adj" fmla="val 6410"/>
            </a:avLst>
          </a:prstGeom>
          <a:solidFill>
            <a:srgbClr val="FFFFFF"/>
          </a:solidFill>
          <a:ln w="9525">
            <a:solidFill>
              <a:srgbClr val="94A3B8"/>
            </a:solidFill>
            <a:prstDash val="solid"/>
          </a:ln>
        </p:spPr>
      </p:sp>
      <p:pic>
        <p:nvPicPr>
          <p:cNvPr id="29" name="Image 7" descr="preencoded.png">    </p:cNvPr>
          <p:cNvPicPr>
            <a:picLocks noChangeAspect="1"/>
          </p:cNvPicPr>
          <p:nvPr/>
        </p:nvPicPr>
        <p:blipFill>
          <a:blip r:embed="rId8"/>
          <a:stretch>
            <a:fillRect/>
          </a:stretch>
        </p:blipFill>
        <p:spPr>
          <a:xfrm>
            <a:off x="9683496" y="3383280"/>
            <a:ext cx="566928" cy="566928"/>
          </a:xfrm>
          <a:prstGeom prst="rect">
            <a:avLst/>
          </a:prstGeom>
        </p:spPr>
      </p:pic>
      <p:sp>
        <p:nvSpPr>
          <p:cNvPr id="30" name="Shape 20"/>
          <p:cNvSpPr/>
          <p:nvPr/>
        </p:nvSpPr>
        <p:spPr>
          <a:xfrm>
            <a:off x="9015070" y="4133088"/>
            <a:ext cx="1903781" cy="713232"/>
          </a:xfrm>
          <a:prstGeom prst="roundRect">
            <a:avLst>
              <a:gd name="adj" fmla="val 6410"/>
            </a:avLst>
          </a:prstGeom>
          <a:solidFill>
            <a:srgbClr val="FFFFFF"/>
          </a:solidFill>
          <a:ln w="9525">
            <a:solidFill>
              <a:srgbClr val="94A3B8"/>
            </a:solidFill>
            <a:prstDash val="solid"/>
          </a:ln>
        </p:spPr>
      </p:sp>
      <p:pic>
        <p:nvPicPr>
          <p:cNvPr id="31" name="Image 8" descr="preencoded.png">    </p:cNvPr>
          <p:cNvPicPr>
            <a:picLocks noChangeAspect="1"/>
          </p:cNvPicPr>
          <p:nvPr/>
        </p:nvPicPr>
        <p:blipFill>
          <a:blip r:embed="rId9"/>
          <a:stretch>
            <a:fillRect/>
          </a:stretch>
        </p:blipFill>
        <p:spPr>
          <a:xfrm>
            <a:off x="9088222" y="4206240"/>
            <a:ext cx="1757477" cy="566928"/>
          </a:xfrm>
          <a:prstGeom prst="rect">
            <a:avLst/>
          </a:prstGeom>
        </p:spPr>
      </p:pic>
      <p:sp>
        <p:nvSpPr>
          <p:cNvPr id="32" name="Text 21"/>
          <p:cNvSpPr/>
          <p:nvPr/>
        </p:nvSpPr>
        <p:spPr>
          <a:xfrm>
            <a:off x="8366760" y="5257800"/>
            <a:ext cx="3200400" cy="1005840"/>
          </a:xfrm>
          <a:prstGeom prst="rect">
            <a:avLst/>
          </a:prstGeom>
          <a:noFill/>
          <a:ln/>
        </p:spPr>
        <p:txBody>
          <a:bodyPr wrap="square" lIns="0" tIns="0" rIns="0" bIns="0" rtlCol="0" anchor="ctr"/>
          <a:lstStyle/>
          <a:p>
            <a:pPr algn="ctr" indent="0" marL="0">
              <a:buNone/>
            </a:pPr>
            <a:r>
              <a:rPr lang="en-US" sz="1700" b="1" dirty="0">
                <a:solidFill>
                  <a:srgbClr val="0A1F47"/>
                </a:solidFill>
                <a:latin typeface="Arial" pitchFamily="34" charset="0"/>
                <a:ea typeface="Arial" pitchFamily="34" charset="-122"/>
                <a:cs typeface="Arial" pitchFamily="34" charset="-120"/>
              </a:rPr>
              <a:t>Referrals to the manufactures via membership networking events and trade expos.</a:t>
            </a:r>
            <a:endParaRPr lang="en-US" sz="1700" dirty="0"/>
          </a:p>
        </p:txBody>
      </p:sp>
      <p:sp>
        <p:nvSpPr>
          <p:cNvPr id="33" name="Text 22"/>
          <p:cNvSpPr/>
          <p:nvPr/>
        </p:nvSpPr>
        <p:spPr>
          <a:xfrm>
            <a:off x="548640" y="6473952"/>
            <a:ext cx="1042416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9 / 12</a:t>
            </a:r>
            <a:endParaRPr lang="en-US" sz="850" dirty="0"/>
          </a:p>
        </p:txBody>
      </p:sp>
      <p:sp>
        <p:nvSpPr>
          <p:cNvPr id="34" name="Text 23"/>
          <p:cNvSpPr/>
          <p:nvPr/>
        </p:nvSpPr>
        <p:spPr>
          <a:xfrm>
            <a:off x="11548872" y="6473952"/>
            <a:ext cx="548640" cy="274320"/>
          </a:xfrm>
          <a:prstGeom prst="rect">
            <a:avLst/>
          </a:prstGeom>
          <a:noFill/>
          <a:ln/>
        </p:spPr>
        <p:txBody>
          <a:bodyPr wrap="square" lIns="0" tIns="0" rIns="0" bIns="0" rtlCol="0" anchor="ctr"/>
          <a:lstStyle/>
          <a:p>
            <a:pPr algn="r" indent="0" marL="0">
              <a:buNone/>
            </a:pPr>
            <a:r>
              <a:rPr lang="en-US" sz="1000" b="1" dirty="0">
                <a:solidFill>
                  <a:srgbClr val="F37021"/>
                </a:solidFill>
                <a:latin typeface="Arial" pitchFamily="34" charset="0"/>
                <a:ea typeface="Arial" pitchFamily="34" charset="-122"/>
                <a:cs typeface="Arial" pitchFamily="34" charset="-120"/>
              </a:rPr>
              <a:t>PD2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09 / PARTNERS &amp; CUSTOMERS</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endParaRPr lang="en-US" sz="3000" dirty="0"/>
          </a:p>
        </p:txBody>
      </p:sp>
      <p:sp>
        <p:nvSpPr>
          <p:cNvPr id="4" name="Shape 2"/>
          <p:cNvSpPr/>
          <p:nvPr/>
        </p:nvSpPr>
        <p:spPr>
          <a:xfrm>
            <a:off x="548640" y="1051560"/>
            <a:ext cx="3566160" cy="5257800"/>
          </a:xfrm>
          <a:prstGeom prst="roundRect">
            <a:avLst>
              <a:gd name="adj" fmla="val 2051"/>
            </a:avLst>
          </a:prstGeom>
          <a:solidFill>
            <a:srgbClr val="FFF7ED"/>
          </a:solidFill>
          <a:ln w="12700">
            <a:solidFill>
              <a:srgbClr val="FDBA74"/>
            </a:solidFill>
            <a:prstDash val="solid"/>
          </a:ln>
        </p:spPr>
      </p:sp>
      <p:sp>
        <p:nvSpPr>
          <p:cNvPr id="5" name="Shape 3"/>
          <p:cNvSpPr/>
          <p:nvPr/>
        </p:nvSpPr>
        <p:spPr>
          <a:xfrm>
            <a:off x="777240" y="1280160"/>
            <a:ext cx="2148840" cy="329184"/>
          </a:xfrm>
          <a:prstGeom prst="roundRect">
            <a:avLst>
              <a:gd name="adj" fmla="val 16667"/>
            </a:avLst>
          </a:prstGeom>
          <a:solidFill>
            <a:srgbClr val="F37021"/>
          </a:solidFill>
          <a:ln/>
        </p:spPr>
      </p:sp>
      <p:sp>
        <p:nvSpPr>
          <p:cNvPr id="6" name="Text 4"/>
          <p:cNvSpPr/>
          <p:nvPr/>
        </p:nvSpPr>
        <p:spPr>
          <a:xfrm>
            <a:off x="777240" y="1280160"/>
            <a:ext cx="2148840" cy="32918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PARTNERS</a:t>
            </a:r>
            <a:endParaRPr lang="en-US" sz="1100" dirty="0"/>
          </a:p>
        </p:txBody>
      </p:sp>
      <p:sp>
        <p:nvSpPr>
          <p:cNvPr id="7" name="Text 5"/>
          <p:cNvSpPr/>
          <p:nvPr/>
        </p:nvSpPr>
        <p:spPr>
          <a:xfrm>
            <a:off x="777240" y="1664208"/>
            <a:ext cx="3108960" cy="320040"/>
          </a:xfrm>
          <a:prstGeom prst="rect">
            <a:avLst/>
          </a:prstGeom>
          <a:noFill/>
          <a:ln/>
        </p:spPr>
        <p:txBody>
          <a:bodyPr wrap="square" lIns="0" tIns="0" rIns="0" bIns="0" rtlCol="0" anchor="ctr"/>
          <a:lstStyle/>
          <a:p>
            <a:pPr indent="0" marL="0">
              <a:buNone/>
            </a:pPr>
            <a:r>
              <a:rPr lang="en-US" sz="1200" i="1" dirty="0">
                <a:solidFill>
                  <a:srgbClr val="64748B"/>
                </a:solidFill>
                <a:latin typeface="Arial" pitchFamily="34" charset="0"/>
                <a:ea typeface="Arial" pitchFamily="34" charset="-122"/>
                <a:cs typeface="Arial" pitchFamily="34" charset="-120"/>
              </a:rPr>
              <a:t>Ai stack</a:t>
            </a:r>
            <a:endParaRPr lang="en-US" sz="1200" dirty="0"/>
          </a:p>
        </p:txBody>
      </p:sp>
      <p:pic>
        <p:nvPicPr>
          <p:cNvPr id="8" name="Image 0" descr="preencoded.png">    </p:cNvPr>
          <p:cNvPicPr>
            <a:picLocks noChangeAspect="1"/>
          </p:cNvPicPr>
          <p:nvPr/>
        </p:nvPicPr>
        <p:blipFill>
          <a:blip r:embed="rId1"/>
          <a:stretch>
            <a:fillRect/>
          </a:stretch>
        </p:blipFill>
        <p:spPr>
          <a:xfrm>
            <a:off x="822960" y="2487650"/>
            <a:ext cx="3017520" cy="1137464"/>
          </a:xfrm>
          <a:prstGeom prst="rect">
            <a:avLst/>
          </a:prstGeom>
        </p:spPr>
      </p:pic>
      <p:sp>
        <p:nvSpPr>
          <p:cNvPr id="9" name="Text 6"/>
          <p:cNvSpPr/>
          <p:nvPr/>
        </p:nvSpPr>
        <p:spPr>
          <a:xfrm>
            <a:off x="914400" y="3845052"/>
            <a:ext cx="2834640" cy="256032"/>
          </a:xfrm>
          <a:prstGeom prst="rect">
            <a:avLst/>
          </a:prstGeom>
          <a:noFill/>
          <a:ln/>
        </p:spPr>
        <p:txBody>
          <a:bodyPr wrap="square" lIns="0" tIns="0" rIns="0" bIns="0" rtlCol="0" anchor="ctr"/>
          <a:lstStyle/>
          <a:p>
            <a:pPr algn="ctr" indent="0" marL="0">
              <a:buNone/>
            </a:pPr>
            <a:r>
              <a:rPr lang="en-US" sz="1200" b="1" dirty="0">
                <a:solidFill>
                  <a:srgbClr val="0A1F47"/>
                </a:solidFill>
                <a:latin typeface="Arial" pitchFamily="34" charset="0"/>
                <a:ea typeface="Arial" pitchFamily="34" charset="-122"/>
                <a:cs typeface="Arial" pitchFamily="34" charset="-120"/>
              </a:rPr>
              <a:t>Anthropic · Claude</a:t>
            </a:r>
            <a:endParaRPr lang="en-US" sz="1200" dirty="0"/>
          </a:p>
        </p:txBody>
      </p:sp>
      <p:pic>
        <p:nvPicPr>
          <p:cNvPr id="10" name="Image 1" descr="preencoded.png">    </p:cNvPr>
          <p:cNvPicPr>
            <a:picLocks noChangeAspect="1"/>
          </p:cNvPicPr>
          <p:nvPr/>
        </p:nvPicPr>
        <p:blipFill>
          <a:blip r:embed="rId2"/>
          <a:stretch>
            <a:fillRect/>
          </a:stretch>
        </p:blipFill>
        <p:spPr>
          <a:xfrm>
            <a:off x="822960" y="4852131"/>
            <a:ext cx="3017520" cy="386143"/>
          </a:xfrm>
          <a:prstGeom prst="rect">
            <a:avLst/>
          </a:prstGeom>
        </p:spPr>
      </p:pic>
      <p:sp>
        <p:nvSpPr>
          <p:cNvPr id="11" name="Text 7"/>
          <p:cNvSpPr/>
          <p:nvPr/>
        </p:nvSpPr>
        <p:spPr>
          <a:xfrm>
            <a:off x="914400" y="5833872"/>
            <a:ext cx="2834640" cy="256032"/>
          </a:xfrm>
          <a:prstGeom prst="rect">
            <a:avLst/>
          </a:prstGeom>
          <a:noFill/>
          <a:ln/>
        </p:spPr>
        <p:txBody>
          <a:bodyPr wrap="square" lIns="0" tIns="0" rIns="0" bIns="0" rtlCol="0" anchor="ctr"/>
          <a:lstStyle/>
          <a:p>
            <a:pPr algn="ctr" indent="0" marL="0">
              <a:buNone/>
            </a:pPr>
            <a:r>
              <a:rPr lang="en-US" sz="1200" b="1" dirty="0">
                <a:solidFill>
                  <a:srgbClr val="0A1F47"/>
                </a:solidFill>
                <a:latin typeface="Arial" pitchFamily="34" charset="0"/>
                <a:ea typeface="Arial" pitchFamily="34" charset="-122"/>
                <a:cs typeface="Arial" pitchFamily="34" charset="-120"/>
              </a:rPr>
              <a:t>Google for Startups</a:t>
            </a:r>
            <a:endParaRPr lang="en-US" sz="1200" dirty="0"/>
          </a:p>
        </p:txBody>
      </p:sp>
      <p:sp>
        <p:nvSpPr>
          <p:cNvPr id="12" name="Shape 8"/>
          <p:cNvSpPr/>
          <p:nvPr/>
        </p:nvSpPr>
        <p:spPr>
          <a:xfrm>
            <a:off x="4251960" y="1051560"/>
            <a:ext cx="3657600" cy="5257800"/>
          </a:xfrm>
          <a:prstGeom prst="roundRect">
            <a:avLst>
              <a:gd name="adj" fmla="val 2000"/>
            </a:avLst>
          </a:prstGeom>
          <a:solidFill>
            <a:srgbClr val="ECFDF5"/>
          </a:solidFill>
          <a:ln w="12700">
            <a:solidFill>
              <a:srgbClr val="6EE7B7"/>
            </a:solidFill>
            <a:prstDash val="solid"/>
          </a:ln>
        </p:spPr>
      </p:sp>
      <p:sp>
        <p:nvSpPr>
          <p:cNvPr id="13" name="Shape 9"/>
          <p:cNvSpPr/>
          <p:nvPr/>
        </p:nvSpPr>
        <p:spPr>
          <a:xfrm>
            <a:off x="4480560" y="1280160"/>
            <a:ext cx="2148840" cy="329184"/>
          </a:xfrm>
          <a:prstGeom prst="roundRect">
            <a:avLst>
              <a:gd name="adj" fmla="val 16667"/>
            </a:avLst>
          </a:prstGeom>
          <a:solidFill>
            <a:srgbClr val="0A3327"/>
          </a:solidFill>
          <a:ln/>
        </p:spPr>
      </p:sp>
      <p:sp>
        <p:nvSpPr>
          <p:cNvPr id="14" name="Text 10"/>
          <p:cNvSpPr/>
          <p:nvPr/>
        </p:nvSpPr>
        <p:spPr>
          <a:xfrm>
            <a:off x="4480560" y="1280160"/>
            <a:ext cx="2148840" cy="32918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STRATEGIC PARTNER</a:t>
            </a:r>
            <a:endParaRPr lang="en-US" sz="1100" dirty="0"/>
          </a:p>
        </p:txBody>
      </p:sp>
      <p:sp>
        <p:nvSpPr>
          <p:cNvPr id="15" name="Text 11"/>
          <p:cNvSpPr/>
          <p:nvPr/>
        </p:nvSpPr>
        <p:spPr>
          <a:xfrm>
            <a:off x="4480560" y="1664208"/>
            <a:ext cx="3200400" cy="320040"/>
          </a:xfrm>
          <a:prstGeom prst="rect">
            <a:avLst/>
          </a:prstGeom>
          <a:noFill/>
          <a:ln/>
        </p:spPr>
        <p:txBody>
          <a:bodyPr wrap="square" lIns="0" tIns="0" rIns="0" bIns="0" rtlCol="0" anchor="ctr"/>
          <a:lstStyle/>
          <a:p>
            <a:pPr indent="0" marL="0">
              <a:buNone/>
            </a:pPr>
            <a:r>
              <a:rPr lang="en-US" sz="1200" i="1" dirty="0">
                <a:solidFill>
                  <a:srgbClr val="64748B"/>
                </a:solidFill>
                <a:latin typeface="Arial" pitchFamily="34" charset="0"/>
                <a:ea typeface="Arial" pitchFamily="34" charset="-122"/>
                <a:cs typeface="Arial" pitchFamily="34" charset="-120"/>
              </a:rPr>
              <a:t>yorkwellasia.com.hk</a:t>
            </a:r>
            <a:endParaRPr lang="en-US" sz="1200" dirty="0"/>
          </a:p>
        </p:txBody>
      </p:sp>
      <p:pic>
        <p:nvPicPr>
          <p:cNvPr id="16" name="Image 2" descr="preencoded.png">    </p:cNvPr>
          <p:cNvPicPr>
            <a:picLocks noChangeAspect="1"/>
          </p:cNvPicPr>
          <p:nvPr/>
        </p:nvPicPr>
        <p:blipFill>
          <a:blip r:embed="rId3"/>
          <a:stretch>
            <a:fillRect/>
          </a:stretch>
        </p:blipFill>
        <p:spPr>
          <a:xfrm>
            <a:off x="4526280" y="3362171"/>
            <a:ext cx="3108960" cy="682298"/>
          </a:xfrm>
          <a:prstGeom prst="rect">
            <a:avLst/>
          </a:prstGeom>
        </p:spPr>
      </p:pic>
      <p:sp>
        <p:nvSpPr>
          <p:cNvPr id="17" name="Text 12"/>
          <p:cNvSpPr/>
          <p:nvPr/>
        </p:nvSpPr>
        <p:spPr>
          <a:xfrm>
            <a:off x="4526280" y="5212080"/>
            <a:ext cx="3108960" cy="365760"/>
          </a:xfrm>
          <a:prstGeom prst="rect">
            <a:avLst/>
          </a:prstGeom>
          <a:noFill/>
          <a:ln/>
        </p:spPr>
        <p:txBody>
          <a:bodyPr wrap="square" lIns="0" tIns="0" rIns="0" bIns="0" rtlCol="0" anchor="ctr"/>
          <a:lstStyle/>
          <a:p>
            <a:pPr algn="ctr" indent="0" marL="0">
              <a:buNone/>
            </a:pPr>
            <a:r>
              <a:rPr lang="en-US" sz="1500" b="1" dirty="0">
                <a:solidFill>
                  <a:srgbClr val="0A1F47"/>
                </a:solidFill>
                <a:latin typeface="Arial" pitchFamily="34" charset="0"/>
                <a:ea typeface="Arial" pitchFamily="34" charset="-122"/>
                <a:cs typeface="Arial" pitchFamily="34" charset="-120"/>
              </a:rPr>
              <a:t>Yorkwell Asia</a:t>
            </a:r>
            <a:endParaRPr lang="en-US" sz="1500" dirty="0"/>
          </a:p>
        </p:txBody>
      </p:sp>
      <p:sp>
        <p:nvSpPr>
          <p:cNvPr id="18" name="Shape 13"/>
          <p:cNvSpPr/>
          <p:nvPr/>
        </p:nvSpPr>
        <p:spPr>
          <a:xfrm>
            <a:off x="8046720" y="1051560"/>
            <a:ext cx="3593592" cy="5257800"/>
          </a:xfrm>
          <a:prstGeom prst="roundRect">
            <a:avLst>
              <a:gd name="adj" fmla="val 2036"/>
            </a:avLst>
          </a:prstGeom>
          <a:solidFill>
            <a:srgbClr val="EFF6FF"/>
          </a:solidFill>
          <a:ln w="12700">
            <a:solidFill>
              <a:srgbClr val="93C5FD"/>
            </a:solidFill>
            <a:prstDash val="solid"/>
          </a:ln>
        </p:spPr>
      </p:sp>
      <p:sp>
        <p:nvSpPr>
          <p:cNvPr id="19" name="Shape 14"/>
          <p:cNvSpPr/>
          <p:nvPr/>
        </p:nvSpPr>
        <p:spPr>
          <a:xfrm>
            <a:off x="8275320" y="1280160"/>
            <a:ext cx="2148840" cy="329184"/>
          </a:xfrm>
          <a:prstGeom prst="roundRect">
            <a:avLst>
              <a:gd name="adj" fmla="val 16667"/>
            </a:avLst>
          </a:prstGeom>
          <a:solidFill>
            <a:srgbClr val="1E4DAA"/>
          </a:solidFill>
          <a:ln/>
        </p:spPr>
      </p:sp>
      <p:sp>
        <p:nvSpPr>
          <p:cNvPr id="20" name="Text 15"/>
          <p:cNvSpPr/>
          <p:nvPr/>
        </p:nvSpPr>
        <p:spPr>
          <a:xfrm>
            <a:off x="8275320" y="1280160"/>
            <a:ext cx="2148840" cy="32918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CUSTOMERS</a:t>
            </a:r>
            <a:endParaRPr lang="en-US" sz="1100" dirty="0"/>
          </a:p>
        </p:txBody>
      </p:sp>
      <p:sp>
        <p:nvSpPr>
          <p:cNvPr id="21" name="Text 16"/>
          <p:cNvSpPr/>
          <p:nvPr/>
        </p:nvSpPr>
        <p:spPr>
          <a:xfrm>
            <a:off x="8275320" y="1664208"/>
            <a:ext cx="3136392" cy="320040"/>
          </a:xfrm>
          <a:prstGeom prst="rect">
            <a:avLst/>
          </a:prstGeom>
          <a:noFill/>
          <a:ln/>
        </p:spPr>
        <p:txBody>
          <a:bodyPr wrap="square" lIns="0" tIns="0" rIns="0" bIns="0" rtlCol="0" anchor="ctr"/>
          <a:lstStyle/>
          <a:p>
            <a:pPr indent="0" marL="0">
              <a:buNone/>
            </a:pPr>
            <a:r>
              <a:rPr lang="en-US" sz="1200" i="1" dirty="0">
                <a:solidFill>
                  <a:srgbClr val="64748B"/>
                </a:solidFill>
                <a:latin typeface="Arial" pitchFamily="34" charset="0"/>
                <a:ea typeface="Arial" pitchFamily="34" charset="-122"/>
                <a:cs typeface="Arial" pitchFamily="34" charset="-120"/>
              </a:rPr>
              <a:t>Live production floors</a:t>
            </a:r>
            <a:endParaRPr lang="en-US" sz="1200" dirty="0"/>
          </a:p>
        </p:txBody>
      </p:sp>
      <p:pic>
        <p:nvPicPr>
          <p:cNvPr id="22" name="Image 3" descr="preencoded.png">    </p:cNvPr>
          <p:cNvPicPr>
            <a:picLocks noChangeAspect="1"/>
          </p:cNvPicPr>
          <p:nvPr/>
        </p:nvPicPr>
        <p:blipFill>
          <a:blip r:embed="rId4"/>
          <a:stretch>
            <a:fillRect/>
          </a:stretch>
        </p:blipFill>
        <p:spPr>
          <a:xfrm>
            <a:off x="8593257" y="2308860"/>
            <a:ext cx="612648" cy="612648"/>
          </a:xfrm>
          <a:prstGeom prst="rect">
            <a:avLst/>
          </a:prstGeom>
        </p:spPr>
      </p:pic>
      <p:sp>
        <p:nvSpPr>
          <p:cNvPr id="23" name="Text 17"/>
          <p:cNvSpPr/>
          <p:nvPr/>
        </p:nvSpPr>
        <p:spPr>
          <a:xfrm>
            <a:off x="9587850" y="2331720"/>
            <a:ext cx="1750710" cy="276515"/>
          </a:xfrm>
          <a:prstGeom prst="rect">
            <a:avLst/>
          </a:prstGeom>
          <a:noFill/>
          <a:ln/>
        </p:spPr>
        <p:txBody>
          <a:bodyPr wrap="square" lIns="0" tIns="0" rIns="0" bIns="0" rtlCol="0" anchor="b"/>
          <a:lstStyle/>
          <a:p>
            <a:pPr algn="l" indent="0" marL="0">
              <a:buNone/>
            </a:pPr>
            <a:r>
              <a:rPr lang="en-US" sz="1300" b="1" dirty="0">
                <a:solidFill>
                  <a:srgbClr val="0A1F47"/>
                </a:solidFill>
                <a:latin typeface="Arial" pitchFamily="34" charset="0"/>
                <a:ea typeface="Arial" pitchFamily="34" charset="-122"/>
                <a:cs typeface="Arial" pitchFamily="34" charset="-120"/>
              </a:rPr>
              <a:t>Yorkmars Cambodia</a:t>
            </a:r>
            <a:endParaRPr lang="en-US" sz="1300" dirty="0"/>
          </a:p>
        </p:txBody>
      </p:sp>
      <p:sp>
        <p:nvSpPr>
          <p:cNvPr id="24" name="Text 18"/>
          <p:cNvSpPr/>
          <p:nvPr/>
        </p:nvSpPr>
        <p:spPr>
          <a:xfrm>
            <a:off x="9587850" y="2580803"/>
            <a:ext cx="1750710" cy="336133"/>
          </a:xfrm>
          <a:prstGeom prst="rect">
            <a:avLst/>
          </a:prstGeom>
          <a:noFill/>
          <a:ln/>
        </p:spPr>
        <p:txBody>
          <a:bodyPr wrap="square" lIns="0" tIns="0" rIns="0" bIns="0" rtlCol="0" anchor="t"/>
          <a:lstStyle/>
          <a:p>
            <a:pPr algn="l" indent="0" marL="0">
              <a:buNone/>
            </a:pPr>
            <a:r>
              <a:rPr lang="en-US" sz="1100" i="1" dirty="0">
                <a:solidFill>
                  <a:srgbClr val="64748B"/>
                </a:solidFill>
                <a:latin typeface="Arial" pitchFamily="34" charset="0"/>
                <a:ea typeface="Arial" pitchFamily="34" charset="-122"/>
                <a:cs typeface="Arial" pitchFamily="34" charset="-120"/>
              </a:rPr>
              <a:t>Administrative and operational.</a:t>
            </a:r>
            <a:endParaRPr lang="en-US" sz="1100" dirty="0"/>
          </a:p>
        </p:txBody>
      </p:sp>
      <p:pic>
        <p:nvPicPr>
          <p:cNvPr id="25" name="Image 4" descr="preencoded.png">    </p:cNvPr>
          <p:cNvPicPr>
            <a:picLocks noChangeAspect="1"/>
          </p:cNvPicPr>
          <p:nvPr/>
        </p:nvPicPr>
        <p:blipFill>
          <a:blip r:embed="rId5"/>
          <a:stretch>
            <a:fillRect/>
          </a:stretch>
        </p:blipFill>
        <p:spPr>
          <a:xfrm>
            <a:off x="8321040" y="3160645"/>
            <a:ext cx="1157082" cy="500135"/>
          </a:xfrm>
          <a:prstGeom prst="rect">
            <a:avLst/>
          </a:prstGeom>
        </p:spPr>
      </p:pic>
      <p:sp>
        <p:nvSpPr>
          <p:cNvPr id="26" name="Text 19"/>
          <p:cNvSpPr/>
          <p:nvPr/>
        </p:nvSpPr>
        <p:spPr>
          <a:xfrm>
            <a:off x="9587850" y="3127248"/>
            <a:ext cx="1750710" cy="276515"/>
          </a:xfrm>
          <a:prstGeom prst="rect">
            <a:avLst/>
          </a:prstGeom>
          <a:noFill/>
          <a:ln/>
        </p:spPr>
        <p:txBody>
          <a:bodyPr wrap="square" lIns="0" tIns="0" rIns="0" bIns="0" rtlCol="0" anchor="b"/>
          <a:lstStyle/>
          <a:p>
            <a:pPr algn="l" indent="0" marL="0">
              <a:buNone/>
            </a:pPr>
            <a:r>
              <a:rPr lang="en-US" sz="1300" b="1" dirty="0">
                <a:solidFill>
                  <a:srgbClr val="0A1F47"/>
                </a:solidFill>
                <a:latin typeface="Arial" pitchFamily="34" charset="0"/>
                <a:ea typeface="Arial" pitchFamily="34" charset="-122"/>
                <a:cs typeface="Arial" pitchFamily="34" charset="-120"/>
              </a:rPr>
              <a:t>3SGS</a:t>
            </a:r>
            <a:endParaRPr lang="en-US" sz="1300" dirty="0"/>
          </a:p>
        </p:txBody>
      </p:sp>
      <p:sp>
        <p:nvSpPr>
          <p:cNvPr id="27" name="Text 20"/>
          <p:cNvSpPr/>
          <p:nvPr/>
        </p:nvSpPr>
        <p:spPr>
          <a:xfrm>
            <a:off x="9587850" y="3376331"/>
            <a:ext cx="1750710" cy="336133"/>
          </a:xfrm>
          <a:prstGeom prst="rect">
            <a:avLst/>
          </a:prstGeom>
          <a:noFill/>
          <a:ln/>
        </p:spPr>
        <p:txBody>
          <a:bodyPr wrap="square" lIns="0" tIns="0" rIns="0" bIns="0" rtlCol="0" anchor="t"/>
          <a:lstStyle/>
          <a:p>
            <a:pPr algn="l" indent="0" marL="0">
              <a:buNone/>
            </a:pPr>
            <a:r>
              <a:rPr lang="en-US" sz="1100" i="1" dirty="0">
                <a:solidFill>
                  <a:srgbClr val="64748B"/>
                </a:solidFill>
                <a:latin typeface="Arial" pitchFamily="34" charset="0"/>
                <a:ea typeface="Arial" pitchFamily="34" charset="-122"/>
                <a:cs typeface="Arial" pitchFamily="34" charset="-120"/>
              </a:rPr>
              <a:t>Digital audit.</a:t>
            </a:r>
            <a:endParaRPr lang="en-US" sz="1100" dirty="0"/>
          </a:p>
        </p:txBody>
      </p:sp>
      <p:pic>
        <p:nvPicPr>
          <p:cNvPr id="28" name="Image 5" descr="preencoded.png">    </p:cNvPr>
          <p:cNvPicPr>
            <a:picLocks noChangeAspect="1"/>
          </p:cNvPicPr>
          <p:nvPr/>
        </p:nvPicPr>
        <p:blipFill>
          <a:blip r:embed="rId6"/>
          <a:stretch>
            <a:fillRect/>
          </a:stretch>
        </p:blipFill>
        <p:spPr>
          <a:xfrm>
            <a:off x="8588151" y="3899916"/>
            <a:ext cx="622859" cy="612648"/>
          </a:xfrm>
          <a:prstGeom prst="rect">
            <a:avLst/>
          </a:prstGeom>
        </p:spPr>
      </p:pic>
      <p:sp>
        <p:nvSpPr>
          <p:cNvPr id="29" name="Text 21"/>
          <p:cNvSpPr/>
          <p:nvPr/>
        </p:nvSpPr>
        <p:spPr>
          <a:xfrm>
            <a:off x="9587850" y="3922776"/>
            <a:ext cx="1750710" cy="276515"/>
          </a:xfrm>
          <a:prstGeom prst="rect">
            <a:avLst/>
          </a:prstGeom>
          <a:noFill/>
          <a:ln/>
        </p:spPr>
        <p:txBody>
          <a:bodyPr wrap="square" lIns="0" tIns="0" rIns="0" bIns="0" rtlCol="0" anchor="b"/>
          <a:lstStyle/>
          <a:p>
            <a:pPr algn="l" indent="0" marL="0">
              <a:buNone/>
            </a:pPr>
            <a:r>
              <a:rPr lang="en-US" sz="1300" b="1" dirty="0">
                <a:solidFill>
                  <a:srgbClr val="0A1F47"/>
                </a:solidFill>
                <a:latin typeface="Arial" pitchFamily="34" charset="0"/>
                <a:ea typeface="Arial" pitchFamily="34" charset="-122"/>
                <a:cs typeface="Arial" pitchFamily="34" charset="-120"/>
              </a:rPr>
              <a:t>BICNZ</a:t>
            </a:r>
            <a:endParaRPr lang="en-US" sz="1300" dirty="0"/>
          </a:p>
        </p:txBody>
      </p:sp>
      <p:sp>
        <p:nvSpPr>
          <p:cNvPr id="30" name="Text 22"/>
          <p:cNvSpPr/>
          <p:nvPr/>
        </p:nvSpPr>
        <p:spPr>
          <a:xfrm>
            <a:off x="9587850" y="4171859"/>
            <a:ext cx="1750710" cy="336133"/>
          </a:xfrm>
          <a:prstGeom prst="rect">
            <a:avLst/>
          </a:prstGeom>
          <a:noFill/>
          <a:ln/>
        </p:spPr>
        <p:txBody>
          <a:bodyPr wrap="square" lIns="0" tIns="0" rIns="0" bIns="0" rtlCol="0" anchor="t"/>
          <a:lstStyle/>
          <a:p>
            <a:pPr algn="l" indent="0" marL="0">
              <a:buNone/>
            </a:pPr>
            <a:r>
              <a:rPr lang="en-US" sz="1100" i="1" dirty="0">
                <a:solidFill>
                  <a:srgbClr val="64748B"/>
                </a:solidFill>
                <a:latin typeface="Arial" pitchFamily="34" charset="0"/>
                <a:ea typeface="Arial" pitchFamily="34" charset="-122"/>
                <a:cs typeface="Arial" pitchFamily="34" charset="-120"/>
              </a:rPr>
              <a:t>Digital audit.</a:t>
            </a:r>
            <a:endParaRPr lang="en-US" sz="1100" dirty="0"/>
          </a:p>
        </p:txBody>
      </p:sp>
      <p:pic>
        <p:nvPicPr>
          <p:cNvPr id="31" name="Image 6" descr="preencoded.png">    </p:cNvPr>
          <p:cNvPicPr>
            <a:picLocks noChangeAspect="1"/>
          </p:cNvPicPr>
          <p:nvPr/>
        </p:nvPicPr>
        <p:blipFill>
          <a:blip r:embed="rId7"/>
          <a:stretch>
            <a:fillRect/>
          </a:stretch>
        </p:blipFill>
        <p:spPr>
          <a:xfrm>
            <a:off x="8551485" y="4695444"/>
            <a:ext cx="696191" cy="612648"/>
          </a:xfrm>
          <a:prstGeom prst="rect">
            <a:avLst/>
          </a:prstGeom>
        </p:spPr>
      </p:pic>
      <p:sp>
        <p:nvSpPr>
          <p:cNvPr id="32" name="Text 23"/>
          <p:cNvSpPr/>
          <p:nvPr/>
        </p:nvSpPr>
        <p:spPr>
          <a:xfrm>
            <a:off x="9587850" y="4718304"/>
            <a:ext cx="1750710" cy="276515"/>
          </a:xfrm>
          <a:prstGeom prst="rect">
            <a:avLst/>
          </a:prstGeom>
          <a:noFill/>
          <a:ln/>
        </p:spPr>
        <p:txBody>
          <a:bodyPr wrap="square" lIns="0" tIns="0" rIns="0" bIns="0" rtlCol="0" anchor="b"/>
          <a:lstStyle/>
          <a:p>
            <a:pPr algn="l" indent="0" marL="0">
              <a:buNone/>
            </a:pPr>
            <a:r>
              <a:rPr lang="en-US" sz="1300" b="1" dirty="0">
                <a:solidFill>
                  <a:srgbClr val="0A1F47"/>
                </a:solidFill>
                <a:latin typeface="Arial" pitchFamily="34" charset="0"/>
                <a:ea typeface="Arial" pitchFamily="34" charset="-122"/>
                <a:cs typeface="Arial" pitchFamily="34" charset="-120"/>
              </a:rPr>
              <a:t>ES Packing</a:t>
            </a:r>
            <a:endParaRPr lang="en-US" sz="1300" dirty="0"/>
          </a:p>
        </p:txBody>
      </p:sp>
      <p:sp>
        <p:nvSpPr>
          <p:cNvPr id="33" name="Text 24"/>
          <p:cNvSpPr/>
          <p:nvPr/>
        </p:nvSpPr>
        <p:spPr>
          <a:xfrm>
            <a:off x="9587850" y="4967387"/>
            <a:ext cx="1750710" cy="336133"/>
          </a:xfrm>
          <a:prstGeom prst="rect">
            <a:avLst/>
          </a:prstGeom>
          <a:noFill/>
          <a:ln/>
        </p:spPr>
        <p:txBody>
          <a:bodyPr wrap="square" lIns="0" tIns="0" rIns="0" bIns="0" rtlCol="0" anchor="t"/>
          <a:lstStyle/>
          <a:p>
            <a:pPr algn="l" indent="0" marL="0">
              <a:buNone/>
            </a:pPr>
            <a:r>
              <a:rPr lang="en-US" sz="1100" i="1" dirty="0">
                <a:solidFill>
                  <a:srgbClr val="64748B"/>
                </a:solidFill>
                <a:latin typeface="Arial" pitchFamily="34" charset="0"/>
                <a:ea typeface="Arial" pitchFamily="34" charset="-122"/>
                <a:cs typeface="Arial" pitchFamily="34" charset="-120"/>
              </a:rPr>
              <a:t>YHR.</a:t>
            </a:r>
            <a:endParaRPr lang="en-US" sz="1100" dirty="0"/>
          </a:p>
        </p:txBody>
      </p:sp>
      <p:pic>
        <p:nvPicPr>
          <p:cNvPr id="34" name="Image 7" descr="preencoded.png">    </p:cNvPr>
          <p:cNvPicPr>
            <a:picLocks noChangeAspect="1"/>
          </p:cNvPicPr>
          <p:nvPr/>
        </p:nvPicPr>
        <p:blipFill>
          <a:blip r:embed="rId8"/>
          <a:stretch>
            <a:fillRect/>
          </a:stretch>
        </p:blipFill>
        <p:spPr>
          <a:xfrm>
            <a:off x="8445456" y="5490972"/>
            <a:ext cx="908251" cy="612648"/>
          </a:xfrm>
          <a:prstGeom prst="rect">
            <a:avLst/>
          </a:prstGeom>
        </p:spPr>
      </p:pic>
      <p:sp>
        <p:nvSpPr>
          <p:cNvPr id="35" name="Text 25"/>
          <p:cNvSpPr/>
          <p:nvPr/>
        </p:nvSpPr>
        <p:spPr>
          <a:xfrm>
            <a:off x="9587850" y="5513832"/>
            <a:ext cx="1750710" cy="276515"/>
          </a:xfrm>
          <a:prstGeom prst="rect">
            <a:avLst/>
          </a:prstGeom>
          <a:noFill/>
          <a:ln/>
        </p:spPr>
        <p:txBody>
          <a:bodyPr wrap="square" lIns="0" tIns="0" rIns="0" bIns="0" rtlCol="0" anchor="b"/>
          <a:lstStyle/>
          <a:p>
            <a:pPr algn="l" indent="0" marL="0">
              <a:buNone/>
            </a:pPr>
            <a:r>
              <a:rPr lang="en-US" sz="1300" b="1" dirty="0">
                <a:solidFill>
                  <a:srgbClr val="0A1F47"/>
                </a:solidFill>
                <a:latin typeface="Arial" pitchFamily="34" charset="0"/>
                <a:ea typeface="Arial" pitchFamily="34" charset="-122"/>
                <a:cs typeface="Arial" pitchFamily="34" charset="-120"/>
              </a:rPr>
              <a:t>Caswell Career</a:t>
            </a:r>
            <a:endParaRPr lang="en-US" sz="1300" dirty="0"/>
          </a:p>
        </p:txBody>
      </p:sp>
      <p:sp>
        <p:nvSpPr>
          <p:cNvPr id="36" name="Text 26"/>
          <p:cNvSpPr/>
          <p:nvPr/>
        </p:nvSpPr>
        <p:spPr>
          <a:xfrm>
            <a:off x="9587850" y="5762915"/>
            <a:ext cx="1750710" cy="336133"/>
          </a:xfrm>
          <a:prstGeom prst="rect">
            <a:avLst/>
          </a:prstGeom>
          <a:noFill/>
          <a:ln/>
        </p:spPr>
        <p:txBody>
          <a:bodyPr wrap="square" lIns="0" tIns="0" rIns="0" bIns="0" rtlCol="0" anchor="t"/>
          <a:lstStyle/>
          <a:p>
            <a:pPr algn="l" indent="0" marL="0">
              <a:buNone/>
            </a:pPr>
            <a:r>
              <a:rPr lang="en-US" sz="1100" i="1" dirty="0">
                <a:solidFill>
                  <a:srgbClr val="64748B"/>
                </a:solidFill>
                <a:latin typeface="Arial" pitchFamily="34" charset="0"/>
                <a:ea typeface="Arial" pitchFamily="34" charset="-122"/>
                <a:cs typeface="Arial" pitchFamily="34" charset="-120"/>
              </a:rPr>
              <a:t>Quality &amp; machine maintenance.</a:t>
            </a:r>
            <a:endParaRPr lang="en-US" sz="1100" dirty="0"/>
          </a:p>
        </p:txBody>
      </p:sp>
      <p:sp>
        <p:nvSpPr>
          <p:cNvPr id="37" name="Text 27"/>
          <p:cNvSpPr/>
          <p:nvPr/>
        </p:nvSpPr>
        <p:spPr>
          <a:xfrm>
            <a:off x="548640" y="6473952"/>
            <a:ext cx="1042416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10 / 12</a:t>
            </a:r>
            <a:endParaRPr lang="en-US" sz="850" dirty="0"/>
          </a:p>
        </p:txBody>
      </p:sp>
      <p:sp>
        <p:nvSpPr>
          <p:cNvPr id="38" name="Text 28"/>
          <p:cNvSpPr/>
          <p:nvPr/>
        </p:nvSpPr>
        <p:spPr>
          <a:xfrm>
            <a:off x="11548872" y="6473952"/>
            <a:ext cx="548640" cy="274320"/>
          </a:xfrm>
          <a:prstGeom prst="rect">
            <a:avLst/>
          </a:prstGeom>
          <a:noFill/>
          <a:ln/>
        </p:spPr>
        <p:txBody>
          <a:bodyPr wrap="square" lIns="0" tIns="0" rIns="0" bIns="0" rtlCol="0" anchor="ctr"/>
          <a:lstStyle/>
          <a:p>
            <a:pPr algn="r" indent="0" marL="0">
              <a:buNone/>
            </a:pPr>
            <a:r>
              <a:rPr lang="en-US" sz="1000" b="1" dirty="0">
                <a:solidFill>
                  <a:srgbClr val="F37021"/>
                </a:solidFill>
                <a:latin typeface="Arial" pitchFamily="34" charset="0"/>
                <a:ea typeface="Arial" pitchFamily="34" charset="-122"/>
                <a:cs typeface="Arial" pitchFamily="34" charset="-120"/>
              </a:rPr>
              <a:t>PD2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10 / STARTUP SUPPORT NEEDED</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0A1F47"/>
                </a:solidFill>
                <a:latin typeface="Arial" pitchFamily="34" charset="0"/>
                <a:ea typeface="Arial" pitchFamily="34" charset="-122"/>
                <a:cs typeface="Arial" pitchFamily="34" charset="-120"/>
              </a:rPr>
              <a:t>Three levers · both sides win.</a:t>
            </a:r>
            <a:endParaRPr lang="en-US" sz="3000" dirty="0"/>
          </a:p>
        </p:txBody>
      </p:sp>
      <p:sp>
        <p:nvSpPr>
          <p:cNvPr id="4" name="Shape 2"/>
          <p:cNvSpPr/>
          <p:nvPr/>
        </p:nvSpPr>
        <p:spPr>
          <a:xfrm>
            <a:off x="548640" y="1600200"/>
            <a:ext cx="3566160" cy="4480560"/>
          </a:xfrm>
          <a:prstGeom prst="roundRect">
            <a:avLst>
              <a:gd name="adj" fmla="val 2051"/>
            </a:avLst>
          </a:prstGeom>
          <a:solidFill>
            <a:srgbClr val="FFF7ED"/>
          </a:solidFill>
          <a:ln w="12700">
            <a:solidFill>
              <a:srgbClr val="FDBA74"/>
            </a:solidFill>
            <a:prstDash val="solid"/>
          </a:ln>
        </p:spPr>
      </p:sp>
      <p:sp>
        <p:nvSpPr>
          <p:cNvPr id="5" name="Shape 3"/>
          <p:cNvSpPr/>
          <p:nvPr/>
        </p:nvSpPr>
        <p:spPr>
          <a:xfrm>
            <a:off x="822960" y="1737360"/>
            <a:ext cx="384048" cy="384048"/>
          </a:xfrm>
          <a:prstGeom prst="ellipse">
            <a:avLst/>
          </a:prstGeom>
          <a:solidFill>
            <a:srgbClr val="F37021"/>
          </a:solidFill>
          <a:ln/>
        </p:spPr>
      </p:sp>
      <p:sp>
        <p:nvSpPr>
          <p:cNvPr id="6" name="Text 4"/>
          <p:cNvSpPr/>
          <p:nvPr/>
        </p:nvSpPr>
        <p:spPr>
          <a:xfrm>
            <a:off x="822960" y="173004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371600" y="1700784"/>
            <a:ext cx="2606040" cy="457200"/>
          </a:xfrm>
          <a:prstGeom prst="rect">
            <a:avLst/>
          </a:prstGeom>
          <a:noFill/>
          <a:ln/>
        </p:spPr>
        <p:txBody>
          <a:bodyPr wrap="square" lIns="0" tIns="0" rIns="0" bIns="0" rtlCol="0" anchor="ctr">
            <a:normAutofit/>
          </a:bodyPr>
          <a:lstStyle/>
          <a:p>
            <a:pPr indent="0" marL="0">
              <a:buNone/>
            </a:pPr>
            <a:r>
              <a:rPr lang="en-US" sz="1600" b="1" spc="200" kern="0" dirty="0">
                <a:solidFill>
                  <a:srgbClr val="F37021"/>
                </a:solidFill>
                <a:latin typeface="Arial" pitchFamily="34" charset="0"/>
                <a:ea typeface="Arial" pitchFamily="34" charset="-122"/>
                <a:cs typeface="Arial" pitchFamily="34" charset="-120"/>
              </a:rPr>
              <a:t>STRATEGIC PARTNERSHIPS</a:t>
            </a:r>
            <a:endParaRPr lang="en-US" sz="1600" dirty="0"/>
          </a:p>
        </p:txBody>
      </p:sp>
      <p:sp>
        <p:nvSpPr>
          <p:cNvPr id="8" name="Text 6"/>
          <p:cNvSpPr/>
          <p:nvPr/>
        </p:nvSpPr>
        <p:spPr>
          <a:xfrm>
            <a:off x="822960" y="2331720"/>
            <a:ext cx="3063240" cy="640080"/>
          </a:xfrm>
          <a:prstGeom prst="rect">
            <a:avLst/>
          </a:prstGeom>
          <a:noFill/>
          <a:ln/>
        </p:spPr>
        <p:txBody>
          <a:bodyPr wrap="square" lIns="0" tIns="0" rIns="0" bIns="0" rtlCol="0" anchor="ctr"/>
          <a:lstStyle/>
          <a:p>
            <a:pPr indent="0" marL="0">
              <a:buNone/>
            </a:pPr>
            <a:r>
              <a:rPr lang="en-US" sz="2200" b="1" dirty="0">
                <a:solidFill>
                  <a:srgbClr val="0A1F47"/>
                </a:solidFill>
                <a:latin typeface="Arial" pitchFamily="34" charset="0"/>
                <a:ea typeface="Arial" pitchFamily="34" charset="-122"/>
                <a:cs typeface="Arial" pitchFamily="34" charset="-120"/>
              </a:rPr>
              <a:t>Your external Ai dev team.</a:t>
            </a:r>
            <a:endParaRPr lang="en-US" sz="2200" dirty="0"/>
          </a:p>
        </p:txBody>
      </p:sp>
      <p:sp>
        <p:nvSpPr>
          <p:cNvPr id="9" name="Text 7"/>
          <p:cNvSpPr/>
          <p:nvPr/>
        </p:nvSpPr>
        <p:spPr>
          <a:xfrm>
            <a:off x="822960" y="3017520"/>
            <a:ext cx="3063240" cy="3017520"/>
          </a:xfrm>
          <a:prstGeom prst="rect">
            <a:avLst/>
          </a:prstGeom>
          <a:noFill/>
          <a:ln/>
        </p:spPr>
        <p:txBody>
          <a:bodyPr wrap="square" lIns="0" tIns="0" rIns="0" bIns="0" rtlCol="0" anchor="t"/>
          <a:lstStyle/>
          <a:p>
            <a:pPr indent="0" marL="0">
              <a:spcAft>
                <a:spcPts val="400"/>
              </a:spcAft>
              <a:buNone/>
            </a:pPr>
            <a:r>
              <a:rPr lang="en-US" sz="1800" dirty="0">
                <a:solidFill>
                  <a:srgbClr val="1E293B"/>
                </a:solidFill>
                <a:latin typeface="Arial" pitchFamily="34" charset="0"/>
                <a:ea typeface="Arial" pitchFamily="34" charset="-122"/>
                <a:cs typeface="Arial" pitchFamily="34" charset="-120"/>
              </a:rPr>
              <a:t>Direct commercial. Yai already ships 60+ applications. Enterprises tune them to their workflow; we become their external Ai dev partner on a monthly fee, and keep building. Predictable revenue for us, a live Ai team for them.</a:t>
            </a:r>
            <a:endParaRPr lang="en-US" sz="1800" dirty="0"/>
          </a:p>
        </p:txBody>
      </p:sp>
      <p:sp>
        <p:nvSpPr>
          <p:cNvPr id="10" name="Shape 8"/>
          <p:cNvSpPr/>
          <p:nvPr/>
        </p:nvSpPr>
        <p:spPr>
          <a:xfrm>
            <a:off x="4251960" y="1600200"/>
            <a:ext cx="3566160" cy="4480560"/>
          </a:xfrm>
          <a:prstGeom prst="roundRect">
            <a:avLst>
              <a:gd name="adj" fmla="val 2051"/>
            </a:avLst>
          </a:prstGeom>
          <a:solidFill>
            <a:srgbClr val="EFF6FF"/>
          </a:solidFill>
          <a:ln w="12700">
            <a:solidFill>
              <a:srgbClr val="93C5FD"/>
            </a:solidFill>
            <a:prstDash val="solid"/>
          </a:ln>
        </p:spPr>
      </p:sp>
      <p:sp>
        <p:nvSpPr>
          <p:cNvPr id="11" name="Shape 9"/>
          <p:cNvSpPr/>
          <p:nvPr/>
        </p:nvSpPr>
        <p:spPr>
          <a:xfrm>
            <a:off x="4526280" y="1737360"/>
            <a:ext cx="384048" cy="384048"/>
          </a:xfrm>
          <a:prstGeom prst="ellipse">
            <a:avLst/>
          </a:prstGeom>
          <a:solidFill>
            <a:srgbClr val="1E4DAA"/>
          </a:solidFill>
          <a:ln/>
        </p:spPr>
      </p:sp>
      <p:sp>
        <p:nvSpPr>
          <p:cNvPr id="12" name="Text 10"/>
          <p:cNvSpPr/>
          <p:nvPr/>
        </p:nvSpPr>
        <p:spPr>
          <a:xfrm>
            <a:off x="4526280" y="173004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5074920" y="1700784"/>
            <a:ext cx="2606040" cy="457200"/>
          </a:xfrm>
          <a:prstGeom prst="rect">
            <a:avLst/>
          </a:prstGeom>
          <a:noFill/>
          <a:ln/>
        </p:spPr>
        <p:txBody>
          <a:bodyPr wrap="square" lIns="0" tIns="0" rIns="0" bIns="0" rtlCol="0" anchor="ctr">
            <a:normAutofit/>
          </a:bodyPr>
          <a:lstStyle/>
          <a:p>
            <a:pPr indent="0" marL="0">
              <a:buNone/>
            </a:pPr>
            <a:r>
              <a:rPr lang="en-US" sz="1600" b="1" spc="200" kern="0" dirty="0">
                <a:solidFill>
                  <a:srgbClr val="1E4DAA"/>
                </a:solidFill>
                <a:latin typeface="Arial" pitchFamily="34" charset="0"/>
                <a:ea typeface="Arial" pitchFamily="34" charset="-122"/>
                <a:cs typeface="Arial" pitchFamily="34" charset="-120"/>
              </a:rPr>
              <a:t>ACCESS &amp; INTRODUCTIONS</a:t>
            </a:r>
            <a:endParaRPr lang="en-US" sz="1600" dirty="0"/>
          </a:p>
        </p:txBody>
      </p:sp>
      <p:sp>
        <p:nvSpPr>
          <p:cNvPr id="14" name="Text 12"/>
          <p:cNvSpPr/>
          <p:nvPr/>
        </p:nvSpPr>
        <p:spPr>
          <a:xfrm>
            <a:off x="4526280" y="2331720"/>
            <a:ext cx="3063240" cy="640080"/>
          </a:xfrm>
          <a:prstGeom prst="rect">
            <a:avLst/>
          </a:prstGeom>
          <a:noFill/>
          <a:ln/>
        </p:spPr>
        <p:txBody>
          <a:bodyPr wrap="square" lIns="0" tIns="0" rIns="0" bIns="0" rtlCol="0" anchor="ctr"/>
          <a:lstStyle/>
          <a:p>
            <a:pPr indent="0" marL="0">
              <a:buNone/>
            </a:pPr>
            <a:r>
              <a:rPr lang="en-US" sz="2200" b="1" dirty="0">
                <a:solidFill>
                  <a:srgbClr val="0A1F47"/>
                </a:solidFill>
                <a:latin typeface="Arial" pitchFamily="34" charset="0"/>
                <a:ea typeface="Arial" pitchFamily="34" charset="-122"/>
                <a:cs typeface="Arial" pitchFamily="34" charset="-120"/>
              </a:rPr>
              <a:t>Doors, spaces, cost-share.</a:t>
            </a:r>
            <a:endParaRPr lang="en-US" sz="2200" dirty="0"/>
          </a:p>
        </p:txBody>
      </p:sp>
      <p:sp>
        <p:nvSpPr>
          <p:cNvPr id="15" name="Text 13"/>
          <p:cNvSpPr/>
          <p:nvPr/>
        </p:nvSpPr>
        <p:spPr>
          <a:xfrm>
            <a:off x="4526280" y="3017520"/>
            <a:ext cx="3063240" cy="3017520"/>
          </a:xfrm>
          <a:prstGeom prst="rect">
            <a:avLst/>
          </a:prstGeom>
          <a:noFill/>
          <a:ln/>
        </p:spPr>
        <p:txBody>
          <a:bodyPr wrap="square" lIns="0" tIns="0" rIns="0" bIns="0" rtlCol="0" anchor="t"/>
          <a:lstStyle/>
          <a:p>
            <a:pPr indent="0" marL="0">
              <a:spcAft>
                <a:spcPts val="400"/>
              </a:spcAft>
              <a:buNone/>
            </a:pPr>
            <a:r>
              <a:rPr lang="en-US" sz="1800" dirty="0">
                <a:solidFill>
                  <a:srgbClr val="1E293B"/>
                </a:solidFill>
                <a:latin typeface="Arial" pitchFamily="34" charset="0"/>
                <a:ea typeface="Arial" pitchFamily="34" charset="-122"/>
                <a:cs typeface="Arial" pitchFamily="34" charset="-120"/>
              </a:rPr>
              <a:t>Shared office space in new markets. Event access, with cost-share. Warm intros to institutions, governments, NGOs and funders. In return, we contribute real Yai work — a partnership deliverable, not a courtesy.</a:t>
            </a:r>
            <a:endParaRPr lang="en-US" sz="1800" dirty="0"/>
          </a:p>
        </p:txBody>
      </p:sp>
      <p:sp>
        <p:nvSpPr>
          <p:cNvPr id="16" name="Shape 14"/>
          <p:cNvSpPr/>
          <p:nvPr/>
        </p:nvSpPr>
        <p:spPr>
          <a:xfrm>
            <a:off x="7955280" y="1600200"/>
            <a:ext cx="3566160" cy="4480560"/>
          </a:xfrm>
          <a:prstGeom prst="roundRect">
            <a:avLst>
              <a:gd name="adj" fmla="val 2051"/>
            </a:avLst>
          </a:prstGeom>
          <a:solidFill>
            <a:srgbClr val="ECFDF5"/>
          </a:solidFill>
          <a:ln w="12700">
            <a:solidFill>
              <a:srgbClr val="6EE7B7"/>
            </a:solidFill>
            <a:prstDash val="solid"/>
          </a:ln>
        </p:spPr>
      </p:sp>
      <p:sp>
        <p:nvSpPr>
          <p:cNvPr id="17" name="Shape 15"/>
          <p:cNvSpPr/>
          <p:nvPr/>
        </p:nvSpPr>
        <p:spPr>
          <a:xfrm>
            <a:off x="8229600" y="1737360"/>
            <a:ext cx="384048" cy="384048"/>
          </a:xfrm>
          <a:prstGeom prst="ellipse">
            <a:avLst/>
          </a:prstGeom>
          <a:solidFill>
            <a:srgbClr val="0A3327"/>
          </a:solidFill>
          <a:ln/>
        </p:spPr>
      </p:sp>
      <p:sp>
        <p:nvSpPr>
          <p:cNvPr id="18" name="Text 16"/>
          <p:cNvSpPr/>
          <p:nvPr/>
        </p:nvSpPr>
        <p:spPr>
          <a:xfrm>
            <a:off x="8229600" y="173004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8778240" y="1700784"/>
            <a:ext cx="2606040" cy="457200"/>
          </a:xfrm>
          <a:prstGeom prst="rect">
            <a:avLst/>
          </a:prstGeom>
          <a:noFill/>
          <a:ln/>
        </p:spPr>
        <p:txBody>
          <a:bodyPr wrap="square" lIns="0" tIns="0" rIns="0" bIns="0" rtlCol="0" anchor="ctr">
            <a:normAutofit/>
          </a:bodyPr>
          <a:lstStyle/>
          <a:p>
            <a:pPr indent="0" marL="0">
              <a:buNone/>
            </a:pPr>
            <a:r>
              <a:rPr lang="en-US" sz="1600" b="1" spc="200" kern="0" dirty="0">
                <a:solidFill>
                  <a:srgbClr val="0A3327"/>
                </a:solidFill>
                <a:latin typeface="Arial" pitchFamily="34" charset="0"/>
                <a:ea typeface="Arial" pitchFamily="34" charset="-122"/>
                <a:cs typeface="Arial" pitchFamily="34" charset="-120"/>
              </a:rPr>
              <a:t>AI &amp; DATA PARTNERSHIPS</a:t>
            </a:r>
            <a:endParaRPr lang="en-US" sz="1600" dirty="0"/>
          </a:p>
        </p:txBody>
      </p:sp>
      <p:sp>
        <p:nvSpPr>
          <p:cNvPr id="20" name="Text 18"/>
          <p:cNvSpPr/>
          <p:nvPr/>
        </p:nvSpPr>
        <p:spPr>
          <a:xfrm>
            <a:off x="8229600" y="2331720"/>
            <a:ext cx="3063240" cy="640080"/>
          </a:xfrm>
          <a:prstGeom prst="rect">
            <a:avLst/>
          </a:prstGeom>
          <a:noFill/>
          <a:ln/>
        </p:spPr>
        <p:txBody>
          <a:bodyPr wrap="square" lIns="0" tIns="0" rIns="0" bIns="0" rtlCol="0" anchor="ctr"/>
          <a:lstStyle/>
          <a:p>
            <a:pPr indent="0" marL="0">
              <a:buNone/>
            </a:pPr>
            <a:r>
              <a:rPr lang="en-US" sz="2200" b="1" dirty="0">
                <a:solidFill>
                  <a:srgbClr val="0A1F47"/>
                </a:solidFill>
                <a:latin typeface="Arial" pitchFamily="34" charset="0"/>
                <a:ea typeface="Arial" pitchFamily="34" charset="-122"/>
                <a:cs typeface="Arial" pitchFamily="34" charset="-120"/>
              </a:rPr>
              <a:t>Data centres &amp; infrastructure.</a:t>
            </a:r>
            <a:endParaRPr lang="en-US" sz="2200" dirty="0"/>
          </a:p>
        </p:txBody>
      </p:sp>
      <p:sp>
        <p:nvSpPr>
          <p:cNvPr id="21" name="Text 19"/>
          <p:cNvSpPr/>
          <p:nvPr/>
        </p:nvSpPr>
        <p:spPr>
          <a:xfrm>
            <a:off x="8229600" y="3017520"/>
            <a:ext cx="3063240" cy="3017520"/>
          </a:xfrm>
          <a:prstGeom prst="rect">
            <a:avLst/>
          </a:prstGeom>
          <a:noFill/>
          <a:ln/>
        </p:spPr>
        <p:txBody>
          <a:bodyPr wrap="square" lIns="0" tIns="0" rIns="0" bIns="0" rtlCol="0" anchor="t"/>
          <a:lstStyle/>
          <a:p>
            <a:pPr indent="0" marL="0">
              <a:spcAft>
                <a:spcPts val="400"/>
              </a:spcAft>
              <a:buNone/>
            </a:pPr>
            <a:r>
              <a:rPr lang="en-US" sz="1800" dirty="0">
                <a:solidFill>
                  <a:srgbClr val="1E293B"/>
                </a:solidFill>
                <a:latin typeface="Arial" pitchFamily="34" charset="0"/>
                <a:ea typeface="Arial" pitchFamily="34" charset="-122"/>
                <a:cs typeface="Arial" pitchFamily="34" charset="-120"/>
              </a:rPr>
              <a:t>Partnerships with data-centre operators and infrastructure providers — GPU capacity, colocation, edge nodes. Host Yai's inference and training close to our factories, at economics that scale with us.</a:t>
            </a:r>
            <a:endParaRPr lang="en-US" sz="1800" dirty="0"/>
          </a:p>
        </p:txBody>
      </p:sp>
      <p:sp>
        <p:nvSpPr>
          <p:cNvPr id="22" name="Text 20"/>
          <p:cNvSpPr/>
          <p:nvPr/>
        </p:nvSpPr>
        <p:spPr>
          <a:xfrm>
            <a:off x="548640" y="6263640"/>
            <a:ext cx="11064240" cy="320040"/>
          </a:xfrm>
          <a:prstGeom prst="rect">
            <a:avLst/>
          </a:prstGeom>
          <a:noFill/>
          <a:ln/>
        </p:spPr>
        <p:txBody>
          <a:bodyPr wrap="square" lIns="0" tIns="0" rIns="0" bIns="0" rtlCol="0" anchor="ctr"/>
          <a:lstStyle/>
          <a:p>
            <a:pPr algn="ctr" indent="0" marL="0">
              <a:buNone/>
            </a:pPr>
            <a:r>
              <a:rPr lang="en-US" sz="1250" b="1" i="1" dirty="0">
                <a:solidFill>
                  <a:srgbClr val="1E4DAA"/>
                </a:solidFill>
                <a:latin typeface="Arial" pitchFamily="34" charset="0"/>
                <a:ea typeface="Arial" pitchFamily="34" charset="-122"/>
                <a:cs typeface="Arial" pitchFamily="34" charset="-120"/>
              </a:rPr>
              <a:t>These three unlock speed. None require a change in how the platform is built.</a:t>
            </a:r>
            <a:endParaRPr lang="en-US" sz="1250" dirty="0"/>
          </a:p>
        </p:txBody>
      </p:sp>
      <p:sp>
        <p:nvSpPr>
          <p:cNvPr id="23" name="Text 21"/>
          <p:cNvSpPr/>
          <p:nvPr/>
        </p:nvSpPr>
        <p:spPr>
          <a:xfrm>
            <a:off x="548640" y="6473952"/>
            <a:ext cx="1042416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11 / 12</a:t>
            </a:r>
            <a:endParaRPr lang="en-US" sz="850" dirty="0"/>
          </a:p>
        </p:txBody>
      </p:sp>
      <p:sp>
        <p:nvSpPr>
          <p:cNvPr id="24" name="Text 22"/>
          <p:cNvSpPr/>
          <p:nvPr/>
        </p:nvSpPr>
        <p:spPr>
          <a:xfrm>
            <a:off x="11548872" y="6473952"/>
            <a:ext cx="548640" cy="274320"/>
          </a:xfrm>
          <a:prstGeom prst="rect">
            <a:avLst/>
          </a:prstGeom>
          <a:noFill/>
          <a:ln/>
        </p:spPr>
        <p:txBody>
          <a:bodyPr wrap="square" lIns="0" tIns="0" rIns="0" bIns="0" rtlCol="0" anchor="ctr"/>
          <a:lstStyle/>
          <a:p>
            <a:pPr algn="r" indent="0" marL="0">
              <a:buNone/>
            </a:pPr>
            <a:r>
              <a:rPr lang="en-US" sz="1000" b="1" dirty="0">
                <a:solidFill>
                  <a:srgbClr val="F37021"/>
                </a:solidFill>
                <a:latin typeface="Arial" pitchFamily="34" charset="0"/>
                <a:ea typeface="Arial" pitchFamily="34" charset="-122"/>
                <a:cs typeface="Arial" pitchFamily="34" charset="-120"/>
              </a:rPr>
              <a:t>PD2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F4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2960" y="868680"/>
            <a:ext cx="1051560" cy="1051560"/>
          </a:xfrm>
          <a:prstGeom prst="ellipse">
            <a:avLst/>
          </a:prstGeom>
        </p:spPr>
      </p:pic>
      <p:sp>
        <p:nvSpPr>
          <p:cNvPr id="3" name="Text 0"/>
          <p:cNvSpPr/>
          <p:nvPr/>
        </p:nvSpPr>
        <p:spPr>
          <a:xfrm>
            <a:off x="777240" y="2194560"/>
            <a:ext cx="10607040" cy="3291840"/>
          </a:xfrm>
          <a:prstGeom prst="rect">
            <a:avLst/>
          </a:prstGeom>
          <a:noFill/>
          <a:ln/>
        </p:spPr>
        <p:txBody>
          <a:bodyPr wrap="square" lIns="0" tIns="0" rIns="0" bIns="0" rtlCol="0" anchor="ctr"/>
          <a:lstStyle/>
          <a:p>
            <a:pPr indent="0" marL="0">
              <a:spcAft>
                <a:spcPts val="600"/>
              </a:spcAft>
              <a:buNone/>
            </a:pPr>
            <a:r>
              <a:rPr lang="en-US" sz="4400" b="1" dirty="0">
                <a:solidFill>
                  <a:srgbClr val="FFFFFF"/>
                </a:solidFill>
                <a:latin typeface="Arial" pitchFamily="34" charset="0"/>
                <a:ea typeface="Arial" pitchFamily="34" charset="-122"/>
                <a:cs typeface="Arial" pitchFamily="34" charset="-120"/>
              </a:rPr>
              <a:t>Modernising the industry.</a:t>
            </a:r>
            <a:endParaRPr lang="en-US" sz="4400" dirty="0"/>
          </a:p>
          <a:p>
            <a:pPr indent="0" marL="0">
              <a:spcAft>
                <a:spcPts val="600"/>
              </a:spcAft>
              <a:buNone/>
            </a:pPr>
            <a:r>
              <a:rPr lang="en-US" sz="2600" b="1" dirty="0">
                <a:solidFill>
                  <a:srgbClr val="FFD58A"/>
                </a:solidFill>
                <a:latin typeface="Arial" pitchFamily="34" charset="0"/>
                <a:ea typeface="Arial" pitchFamily="34" charset="-122"/>
                <a:cs typeface="Arial" pitchFamily="34" charset="-120"/>
              </a:rPr>
              <a:t>Forty years of technical &amp; management experience —</a:t>
            </a:r>
            <a:endParaRPr lang="en-US" sz="4400" dirty="0"/>
          </a:p>
          <a:p>
            <a:pPr indent="0" marL="0">
              <a:spcAft>
                <a:spcPts val="600"/>
              </a:spcAft>
              <a:buNone/>
            </a:pPr>
            <a:r>
              <a:rPr lang="en-US" sz="2600" b="1" dirty="0">
                <a:solidFill>
                  <a:srgbClr val="FFD58A"/>
                </a:solidFill>
                <a:latin typeface="Arial" pitchFamily="34" charset="0"/>
                <a:ea typeface="Arial" pitchFamily="34" charset="-122"/>
                <a:cs typeface="Arial" pitchFamily="34" charset="-120"/>
              </a:rPr>
              <a:t>now powered by Artificial Intelligence,</a:t>
            </a:r>
            <a:endParaRPr lang="en-US" sz="4400" dirty="0"/>
          </a:p>
          <a:p>
            <a:pPr indent="0" marL="0">
              <a:spcAft>
                <a:spcPts val="600"/>
              </a:spcAft>
              <a:buNone/>
            </a:pPr>
            <a:r>
              <a:rPr lang="en-US" sz="2600" b="1" dirty="0">
                <a:solidFill>
                  <a:srgbClr val="FFD58A"/>
                </a:solidFill>
                <a:latin typeface="Arial" pitchFamily="34" charset="0"/>
                <a:ea typeface="Arial" pitchFamily="34" charset="-122"/>
                <a:cs typeface="Arial" pitchFamily="34" charset="-120"/>
              </a:rPr>
              <a:t>on par with any tech industry.</a:t>
            </a:r>
            <a:endParaRPr lang="en-US" sz="4400" dirty="0"/>
          </a:p>
        </p:txBody>
      </p:sp>
      <p:sp>
        <p:nvSpPr>
          <p:cNvPr id="4" name="Text 1"/>
          <p:cNvSpPr/>
          <p:nvPr/>
        </p:nvSpPr>
        <p:spPr>
          <a:xfrm>
            <a:off x="822960" y="6172200"/>
            <a:ext cx="10515600" cy="320040"/>
          </a:xfrm>
          <a:prstGeom prst="rect">
            <a:avLst/>
          </a:prstGeom>
          <a:noFill/>
          <a:ln/>
        </p:spPr>
        <p:txBody>
          <a:bodyPr wrap="square" lIns="0" tIns="0" rIns="0" bIns="0" rtlCol="0" anchor="ctr"/>
          <a:lstStyle/>
          <a:p>
            <a:pPr indent="0" marL="0">
              <a:buNone/>
            </a:pPr>
            <a:r>
              <a:rPr lang="en-US" sz="1100" dirty="0">
                <a:solidFill>
                  <a:srgbClr val="8FA8D8"/>
                </a:solidFill>
                <a:latin typeface="Arial" pitchFamily="34" charset="0"/>
                <a:ea typeface="Arial" pitchFamily="34" charset="-122"/>
                <a:cs typeface="Arial" pitchFamily="34" charset="-120"/>
              </a:rPr>
              <a:t>www.yaikh.com   ·   Texlink Technologies Co., Ltd.   ·   31 August 2026   ·   Confidential</a:t>
            </a:r>
            <a:endParaRPr lang="en-US" sz="1100" dirty="0"/>
          </a:p>
        </p:txBody>
      </p:sp>
      <p:sp>
        <p:nvSpPr>
          <p:cNvPr id="5" name="Text 2"/>
          <p:cNvSpPr/>
          <p:nvPr/>
        </p:nvSpPr>
        <p:spPr>
          <a:xfrm>
            <a:off x="11548872" y="6473952"/>
            <a:ext cx="548640" cy="274320"/>
          </a:xfrm>
          <a:prstGeom prst="rect">
            <a:avLst/>
          </a:prstGeom>
          <a:noFill/>
          <a:ln/>
        </p:spPr>
        <p:txBody>
          <a:bodyPr wrap="square" lIns="0" tIns="0" rIns="0" bIns="0" rtlCol="0" anchor="ctr"/>
          <a:lstStyle/>
          <a:p>
            <a:pPr algn="r" indent="0" marL="0">
              <a:buNone/>
            </a:pPr>
            <a:r>
              <a:rPr lang="en-US" sz="1000" b="1" dirty="0">
                <a:solidFill>
                  <a:srgbClr val="FFD58A"/>
                </a:solidFill>
                <a:latin typeface="Arial" pitchFamily="34" charset="0"/>
                <a:ea typeface="Arial" pitchFamily="34" charset="-122"/>
                <a:cs typeface="Arial" pitchFamily="34" charset="-120"/>
              </a:rPr>
              <a:t>PD2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2026-09-04T05:28:10Z</dcterms:created>
  <dcterms:modified xsi:type="dcterms:W3CDTF">2026-09-04T05:28:10Z</dcterms:modified>
</cp:coreProperties>
</file>