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1E4DAA">
              <a:alpha val="40000"/>
            </a:srgbClr>
          </a:solidFill>
          <a:ln w="12700">
            <a:solidFill>
              <a:srgbClr val="1E4DA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" name="Image 0" descr="E:\Antigravity\yai-plan\public\images\yai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20240" y="640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920240" y="9601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21031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Manufacturing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Platform.</a:t>
            </a:r>
            <a:endParaRPr lang="en-US" sz="4200" dirty="0"/>
          </a:p>
        </p:txBody>
      </p:sp>
      <p:sp>
        <p:nvSpPr>
          <p:cNvPr id="9" name="Shape 6"/>
          <p:cNvSpPr/>
          <p:nvPr/>
        </p:nvSpPr>
        <p:spPr>
          <a:xfrm>
            <a:off x="640080" y="365760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36576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MIP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40690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Factory-tested for 5 years inside live production facilities — opening its gates to the industry June 2026.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 ·  INVESTOR PLAN  ·  JUNE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EXECUTIVE SUMMARY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F2937"/>
                </a:solidFill>
              </a:rPr>
              <a:t>Yai is Ai MIP — Agentic Manufacturing Intelligence. A three-layer platform that modernises a production unit from a whole-paper-based operation into executive Ai.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1920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331720"/>
            <a:ext cx="73152" cy="137160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24048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AI AGENTS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67512" y="2606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10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67512" y="33375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Stand ready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60320" y="2331720"/>
            <a:ext cx="1920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60320" y="2331720"/>
            <a:ext cx="73152" cy="13716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24912" y="24048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ENGINEERS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724912" y="2606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20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2724912" y="33375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From Cambodia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17720" y="2331720"/>
            <a:ext cx="1920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17720" y="2331720"/>
            <a:ext cx="73152" cy="1371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82312" y="24048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DEVELOPMENT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782312" y="2606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36 mo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4782312" y="33375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Factory-tested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75120" y="2331720"/>
            <a:ext cx="19659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2331720"/>
            <a:ext cx="73152" cy="1371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39712" y="24048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INDUSTRY XP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839712" y="2606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40 yrs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6839712" y="33375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Technical + management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Three Yai layers stacked on top:  Digitalisation  →  Agentic  →  Full Ai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4251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Digitalisation — paper, Excel and chat replaced by one database + barcode/QR/AIoT + mobile apps.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— LLM-powered intelligent agents process voice + text, run logistics, refine workflows.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 — strategic management, predictive growth, multi-factory orchestration, global expansion.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THE PROBLEM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Sandwich.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937"/>
                </a:solidFill>
              </a:rPr>
              <a:t>Cambodia's garment industry is squeezed between Chinese ownership/management practices and Western buyer demands — paper, Excel and scattered chat apps in the middle.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69748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331720"/>
            <a:ext cx="73152" cy="192024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240487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FACTORY FLOOR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67512" y="26060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Paper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67512" y="38862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Bundle tallies, defect tags, attendance registers, hand-written OT slips, 4 chat apps per buyer.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2331720"/>
            <a:ext cx="269748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3280" y="2331720"/>
            <a:ext cx="73152" cy="192024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7872" y="240487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LEGACY ATTEMPTS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547872" y="26060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$2M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47872" y="38862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~20 ERP / MES / HR / payroll systems bought. None integrated, none updated.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63640" y="2331720"/>
            <a:ext cx="23774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3640" y="2331720"/>
            <a:ext cx="73152" cy="1920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24048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COMPLIANCE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28232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Mandate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428232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Cambodian Ministry of Environment now requires digital filing. Late = penalty.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4370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A1F47"/>
                </a:solidFill>
              </a:rPr>
              <a:t>Lost INFORMATION  ·  Lost EFFICIENCY  ·  No SUSTAINABILITY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THE SOLUTION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Platform that Saves Jobs.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937"/>
                </a:solidFill>
              </a:rPr>
              <a:t>One Ai-native platform consolidates legacy systems — paper, Excel and chat apps flow into one source of truth. Workers keep their jobs; the work gets smarter.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33172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database — barcodes, QR scanners, AIoT sensors, mobile apps, tablets — single source of truth.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layer — Claude/GPT/Gemini-powered agents speak Khmer, refine workflows, talk to HR for workers.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Full-Ai layer — solar-powered Ai Server unlocks own-LLM inference; 5G bonding for rural factories.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Worker-respecting — every screen and voice assistant speaks Khmer. No HR detour. No duplicate forms.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Compliance-ready — digital worker data, EMR, tax filings, labour reports — filed on time, every time.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PRODUCT ARCHITECTURE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Paper to Full Ai — Three Yai Layers.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645920"/>
            <a:ext cx="26974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645920"/>
            <a:ext cx="2697480" cy="4572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09928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FFFFFF"/>
                </a:solidFill>
              </a:rPr>
              <a:t>LAYER 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40080" y="18745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Digitalisation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" y="2286000"/>
            <a:ext cx="236829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Centralised data — Excel + paper records flow into ONE database. Barcode + QR scanners, AIoT sensors, mobile apps, tablets. Initial workflow streamlining, one source of truth.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1645920"/>
            <a:ext cx="26974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91840" y="1645920"/>
            <a:ext cx="2697480" cy="45720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1709928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FFFFFF"/>
                </a:solidFill>
              </a:rPr>
              <a:t>LAYER 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429000" y="18745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Agentic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56432" y="2286000"/>
            <a:ext cx="236829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LLM-powered intelligent agents. Voice-to-workflow, text instructions interpreted by LLM, geolocation + logistics optimisation, intuitive dashboards, real-time Ai guidance refining workflows.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1645920"/>
            <a:ext cx="26974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80760" y="1645920"/>
            <a:ext cx="2697480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709928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FFFFFF"/>
                </a:solidFill>
              </a:rPr>
              <a:t>LAYER 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217920" y="18745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Full Ai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245352" y="2286000"/>
            <a:ext cx="236829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Strategic management + growth. Higher-level decision-making, predictive business growth, multi-factory management, business expansion, global growth.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Each step right of TODAY (Q2 2026) is value added on the same engineering base.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AGENTS &amp; SKILLS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Agents &amp; Their Skills.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</a:rPr>
              <a:t>17 module families across Administration and Operations groups — each with its own Ai skills.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057400"/>
            <a:ext cx="4023360" cy="2606040"/>
          </a:xfrm>
          <a:prstGeom prst="rect">
            <a:avLst/>
          </a:prstGeom>
          <a:solidFill>
            <a:srgbClr val="F8FAFC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E4DAA"/>
                </a:solidFill>
              </a:rPr>
              <a:t>ADMINISTRATION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39572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Core · PR · Shop · Approvals · APP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· Pay · Org · LMS · Ai CCTV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Audit · 8S · AIoT · Waste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Pass · CTPAT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Booking  ★ AGENTIC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(Full + GDT)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Up · Worker Voice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Financials + IEWS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E-Gov + E-Invoice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17720" y="2057400"/>
            <a:ext cx="4023360" cy="2606040"/>
          </a:xfrm>
          <a:prstGeom prst="rect">
            <a:avLst/>
          </a:prstGeom>
          <a:solidFill>
            <a:srgbClr val="F8FAF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2148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0B981"/>
                </a:solidFill>
              </a:rPr>
              <a:t>PLATFORM + OPERATIONS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54880" y="239572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· Laravel + Mongo + Mobile + AIoT + Ai Server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YTM · Machine Maintenance + TPM Shop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YQMS · Quality Mgmt (6 stages + Fini Check)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YPI · Technical Specs (3-language)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YPM / CE · Motion · SMV  ★ AGENTIC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Dev · Sample Room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4DP · Planning Brain (4 dirs × 4 levels)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MRP + Logistics (Inbound + Outbound)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YWIP · 13-Dept Production Flow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PRICING &amp; PACKAGING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&amp; Packaging.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</a:rPr>
              <a:t>Six-step staircase — land at $120 / yr, expand to $5K Big Ai Brain as the customer commits.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103120"/>
            <a:ext cx="13716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103120"/>
            <a:ext cx="1371600" cy="384048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14884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STEP 1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23042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Cloud Starter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47"/>
                </a:solidFill>
              </a:rPr>
              <a:t>$120 / yr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31546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 key members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938528" y="2103120"/>
            <a:ext cx="13716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38528" y="2103120"/>
            <a:ext cx="1371600" cy="384048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29968" y="214884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STEP 2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029968" y="23042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Cloud Growth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029968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47"/>
                </a:solidFill>
              </a:rPr>
              <a:t>$750 / yr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029968" y="31546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 → 300 users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374136" y="2103120"/>
            <a:ext cx="13716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74136" y="2103120"/>
            <a:ext cx="1371600" cy="384048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65576" y="214884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STEP 3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465576" y="23042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Cloud Enterprise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65576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47"/>
                </a:solidFill>
              </a:rPr>
              <a:t>$1,200 / yr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65576" y="31546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300 → 1,000 users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09744" y="2103120"/>
            <a:ext cx="13716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09744" y="2103120"/>
            <a:ext cx="137160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01184" y="214884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STEP 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901184" y="23042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Ai Server + Tools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01184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47"/>
                </a:solidFill>
              </a:rPr>
              <a:t>$2,500 + $3.5K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901184" y="31546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1,000+ users · Admin + Ops Tools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45352" y="2103120"/>
            <a:ext cx="13716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5352" y="2103120"/>
            <a:ext cx="1371600" cy="38404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36792" y="214884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STEP 5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336792" y="23042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Agentic Add-on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36792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47"/>
                </a:solidFill>
              </a:rPr>
              <a:t>$5,000 / yr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36792" y="31546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 agents + 35 mini-agents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680960" y="2103120"/>
            <a:ext cx="13716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80960" y="2103120"/>
            <a:ext cx="1371600" cy="384048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0" y="214884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STEP 6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772400" y="23042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Big Ai Brain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772400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47"/>
                </a:solidFill>
              </a:rPr>
              <a:t>$5,000 / yr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772400" y="31546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Boss · 5 factories · 1 chat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TARGET CUSTOMERS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Customers.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937"/>
                </a:solidFill>
              </a:rPr>
              <a:t>Hong-Kong / Cambodian factory owners running 1–5 garment sites — already burned $2M+ on legacy ERPs that don't talk to each other.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331720"/>
            <a:ext cx="73152" cy="137160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240487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ANCHOR MARKET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67512" y="26060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Cambodia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67512" y="33375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300+ addressable factories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2331720"/>
            <a:ext cx="26974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3280" y="2331720"/>
            <a:ext cx="73152" cy="13716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7872" y="240487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BUYER PROFILE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547872" y="26060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1–5 sites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47872" y="33375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$2M+ legacy spend, frustrated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63640" y="2331720"/>
            <a:ext cx="2377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3640" y="2331720"/>
            <a:ext cx="73152" cy="1371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24048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WORKER REACH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28232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100K+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428232" y="33375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Garment workers per platform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384048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Big-tech segments: Anthropic CPN · Google Cloud APAC · JICA · ADB / IFC · ABA + Wing.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 factory cohort: 50–500-machine sewing lines, ready for digital lift-off.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Workers: pay-rate awareness, Khmer-first interface, no-HR-queue self-service.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TECHNOLOGY STACK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— Laravel + MongoDB (Ai-native data shape). Solid for write-heavy factory telemetry.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240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— native Android + iOS apps for workers, supervisors, owners. Built for low-end devices.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788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AIoT — MQTT + TUYA · SMART Gate · SMART Camera · 5G bonding for rural factories · 5G WiFi for workers.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 — LLM APIs (Claude · GPT · Gemini); agentic chat in mobile app; own Ai Server option.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886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— solar-powered mini-PC Ai Server (Step 4); 5G internal WiFi mesh for workers on the floor.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TEAM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— 5 Clusters · 20 Engineers.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</a:rPr>
              <a:t>Cambodia-based. Each cluster owns its slice of the platform end-to-end.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057400"/>
            <a:ext cx="1627632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057400"/>
            <a:ext cx="1627632" cy="50292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13055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GROUP 1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22860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Texlink Admin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2651760"/>
            <a:ext cx="1444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HR · Sales · Training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402336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4DAA"/>
                </a:solidFill>
              </a:rPr>
              <a:t>60/20/20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94360" y="4343400"/>
            <a:ext cx="1444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</a:rPr>
              <a:t>skill / xp mix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203704" y="2057400"/>
            <a:ext cx="1627632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03704" y="2057400"/>
            <a:ext cx="1627632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95144" y="213055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GROUP 2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295144" y="22860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Architecture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95144" y="2651760"/>
            <a:ext cx="1444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HR sys · Pay sys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95144" y="402336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37021"/>
                </a:solidFill>
              </a:rPr>
              <a:t>70/30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295144" y="4343400"/>
            <a:ext cx="1444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</a:rPr>
              <a:t>skill / xp mix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904488" y="2057400"/>
            <a:ext cx="1627632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904488" y="2057400"/>
            <a:ext cx="1627632" cy="502920"/>
          </a:xfrm>
          <a:prstGeom prst="rect">
            <a:avLst/>
          </a:prstGeom>
          <a:solidFill>
            <a:srgbClr val="0A3327"/>
          </a:solidFill>
          <a:ln w="12700">
            <a:solidFill>
              <a:srgbClr val="0A33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95928" y="213055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GROUP 3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995928" y="22860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Neural Net + Finance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95928" y="2651760"/>
            <a:ext cx="1444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Financial · Admin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95928" y="402336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327"/>
                </a:solidFill>
              </a:rPr>
              <a:t>70/30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3995928" y="4343400"/>
            <a:ext cx="1444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</a:rPr>
              <a:t>skill / xp mix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605272" y="2057400"/>
            <a:ext cx="1627632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05272" y="2057400"/>
            <a:ext cx="1627632" cy="502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96712" y="213055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GROUP 4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696712" y="22860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Mobile Apps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696712" y="2651760"/>
            <a:ext cx="1444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Android · iOS · Worker apps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96712" y="402336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B8A6"/>
                </a:solidFill>
              </a:rPr>
              <a:t>60/20/20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696712" y="4343400"/>
            <a:ext cx="1444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</a:rPr>
              <a:t>skill / xp mix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7306056" y="2057400"/>
            <a:ext cx="1627632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06056" y="2057400"/>
            <a:ext cx="1627632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97496" y="213055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FFFFFF"/>
                </a:solidFill>
              </a:rPr>
              <a:t>GROUP 5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7397496" y="22860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Operations Systems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397496" y="2651760"/>
            <a:ext cx="1444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Production · QA · MRP · YPI · YTM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397496" y="402336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8A"/>
                </a:solidFill>
              </a:rPr>
              <a:t>80/20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7397496" y="4343400"/>
            <a:ext cx="1444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</a:rPr>
              <a:t>skill / xp mix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02920" y="46634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19 engineers in 5 clusters + Sophy + Bonus pool · Cambodia-anchored, ASEAN expansion from Year 2.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CAPITAL EFFICIENCY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Capital Efficiency Story.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937"/>
                </a:solidFill>
              </a:rPr>
              <a:t>$205K of Cambodia engineering built what Singapore would price at $5M and the US at $10M.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6974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331720"/>
            <a:ext cx="91440" cy="2194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4688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CAMBODIA · 🇰🇭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85800" y="269748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1F47"/>
                </a:solidFill>
              </a:rPr>
              <a:t>$205K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85800" y="35661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Through Q2 2026 (today). Engineering + early hardware. 5-year live pilots.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1840" y="2331720"/>
            <a:ext cx="26974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91840" y="2331720"/>
            <a:ext cx="91440" cy="21945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0" y="24688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37021"/>
                </a:solidFill>
              </a:rPr>
              <a:t>SINGAPORE · 3×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474720" y="269748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1F47"/>
                </a:solidFill>
              </a:rPr>
              <a:t>$5M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474720" y="35661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Equivalent build cost at SEA-tier salaries.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80760" y="2331720"/>
            <a:ext cx="26974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2331720"/>
            <a:ext cx="91440" cy="219456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24688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E4DAA"/>
                </a:solidFill>
              </a:rPr>
              <a:t>UNITED STATES · 8×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263640" y="269748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1F47"/>
                </a:solidFill>
              </a:rPr>
              <a:t>$10M+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6263640" y="35661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Equivalent build cost at US engineering rates.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Projected through Q2 2027: ~$349K cumulative spend (salaries + capex + buffer).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GO-TO-MARKET MILESTONES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Milestones.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8229600" cy="71323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947672"/>
            <a:ext cx="384048" cy="384048"/>
          </a:xfrm>
          <a:prstGeom prst="ellipse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1892808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4DAA"/>
                </a:solidFill>
              </a:rPr>
              <a:t>Q1 ·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21305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3–5 paid contracts. Anthropic CPN application + initial review cleared.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606040"/>
            <a:ext cx="8229600" cy="71323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70632"/>
            <a:ext cx="384048" cy="384048"/>
          </a:xfrm>
          <a:prstGeom prst="ellipse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43000" y="2715768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4DAA"/>
                </a:solidFill>
              </a:rPr>
              <a:t>Q2 · VALIDATION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3000" y="29535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10+ customers. Ministry of Environment digital-compliance pilot signed.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429000"/>
            <a:ext cx="8229600" cy="71323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93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43000" y="3538728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4DAA"/>
                </a:solidFill>
              </a:rPr>
              <a:t>Q3 · EXPANSION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43000" y="377647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20+ customers. Regional ASEAN pilot (Vietnam or Bangladesh).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4251960"/>
            <a:ext cx="8229600" cy="71323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416552"/>
            <a:ext cx="384048" cy="384048"/>
          </a:xfrm>
          <a:prstGeom prst="ellipse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416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43000" y="4361688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4DAA"/>
                </a:solidFill>
              </a:rPr>
              <a:t>Q4 · SCALE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459943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30+ customers. Stage 3 funding round scoped. CCAF certification achieved.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TRACTION &amp; PILOTS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Pilots.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937"/>
                </a:solidFill>
              </a:rPr>
              <a:t>5 years inside live garment-factory production. Real workers. Real shifts. Real defects. Real data.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37744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377440"/>
            <a:ext cx="73152" cy="141732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PILOT SITES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67512" y="2651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67512" y="34290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Anonymised live factories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237744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3280" y="2377440"/>
            <a:ext cx="73152" cy="1417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7872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YEARS RUNNING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547872" y="2651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5 yrs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47872" y="34290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Continuous in-production use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63640" y="2377440"/>
            <a:ext cx="23774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3640" y="2377440"/>
            <a:ext cx="73152" cy="14173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24505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AGENTIC MODULES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28232" y="2651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2 ★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428232" y="3429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Car Booking · YPM/CE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18 module families exercised on the floor — not a sandbox build.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run live for owners + managers; tablets in supervisors' hands; mobile apps in workers' pockets.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evidence available for buyer / investor reference calls.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OC &amp; LIVE BUDGET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 &amp; Live Budget Update.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</a:rPr>
              <a:t>Live P&amp;L roll-up · sourced from admin (Sales · Salaries · Capex). Income → Expenses → Capex → Net.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103120"/>
            <a:ext cx="201168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103120"/>
            <a:ext cx="73152" cy="2286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21762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01 · INCOME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67512" y="2377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11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67512" y="4023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Streams · 8 SaaS + 3 e-com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697480" y="2103120"/>
            <a:ext cx="201168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97480" y="2103120"/>
            <a:ext cx="73152" cy="228600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62072" y="21762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02 · EXPENSES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862072" y="2377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20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2862072" y="4023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Active engineers · salary base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2103120"/>
            <a:ext cx="201168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2103120"/>
            <a:ext cx="73152" cy="22860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56632" y="21762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03 · CAPEX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056632" y="2377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7 cats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056632" y="4023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Computers · Villa · Ai fees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086600" y="2103120"/>
            <a:ext cx="155448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86600" y="2103120"/>
            <a:ext cx="73152" cy="2286000"/>
          </a:xfrm>
          <a:prstGeom prst="rect">
            <a:avLst/>
          </a:prstGeom>
          <a:solidFill>
            <a:srgbClr val="0A1F47"/>
          </a:solidFill>
          <a:ln w="12700">
            <a:solidFill>
              <a:srgbClr val="0A1F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51192" y="21762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04 · NET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251192" y="23774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Today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251192" y="40233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Income − (Salaries + Capex)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Section 13 is live — investors can drill into Income / Expenses / Capex / Net at any time on the portal.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COMPETITIVE LANDSCAPE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691640"/>
            <a:ext cx="26974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691640"/>
            <a:ext cx="2697480" cy="384048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7393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</a:rPr>
              <a:t>INCUMBENT ERPs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7"/>
                </a:solidFill>
              </a:rPr>
              <a:t>SAP · Oracle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67512" y="2834640"/>
            <a:ext cx="23682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English-only · $millions to deploy · 18+ months · no factory floor.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1691640"/>
            <a:ext cx="26974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91840" y="1691640"/>
            <a:ext cx="2697480" cy="384048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177393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</a:rPr>
              <a:t>DEFAULT TOOL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29000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7"/>
                </a:solidFill>
              </a:rPr>
              <a:t>Excel + Chat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456432" y="2834640"/>
            <a:ext cx="23682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Zero cost, zero integration. The chaos Yai is built to replace.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1691640"/>
            <a:ext cx="26974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80760" y="1691640"/>
            <a:ext cx="269748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77393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</a:rPr>
              <a:t>YAI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17920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7"/>
                </a:solidFill>
              </a:rPr>
              <a:t>Ai-Native MIP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245352" y="2834640"/>
            <a:ext cx="23682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Khmer-first · Cambodia-anchored · factory-native · Ai from day one · solar-powered Ai Server.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RISKS &amp; MITIGATIONS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691640"/>
            <a:ext cx="822960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691640"/>
            <a:ext cx="73152" cy="5943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76479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Slow adoption / change resistance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34840" y="176479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Anchor on government compliance mandate + buyer audits — paper isn't optional anymore.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331720"/>
            <a:ext cx="822960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331720"/>
            <a:ext cx="73152" cy="5943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4048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Technical complexity overwhelms team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34840" y="240487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5 years of live pilot validation. Architecture proven before commercial open.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971800"/>
            <a:ext cx="822960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2971800"/>
            <a:ext cx="73152" cy="5943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04495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Capital intensity in Year 1–2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34840" y="304495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$205K capital efficiency proves we can scale on modest funding. Path to $5M revenue with under $1M raised.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11880"/>
            <a:ext cx="822960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3611880"/>
            <a:ext cx="73152" cy="5943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68503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Geographic concentration in Cambodia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34840" y="36850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Cambodia is anchor not ceiling. ASEAN expansion Year 2; global Year 4–5.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251960"/>
            <a:ext cx="8229600" cy="5943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4251960"/>
            <a:ext cx="73152" cy="5943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32511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LLM cost / dependency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434840" y="432511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Step 4 own-Ai-Server (solar-powered) cuts inference cost + sovereignty for factory data.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RESOURCE REQUIREMENTS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Requirements.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</a:rPr>
              <a:t>Modest funding ask — Year 1–2 path to commercial open and 30+ paying customers.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194560"/>
            <a:ext cx="269748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194560"/>
            <a:ext cx="73152" cy="2103120"/>
          </a:xfrm>
          <a:prstGeom prst="rect">
            <a:avLst/>
          </a:prstGeom>
          <a:solidFill>
            <a:srgbClr val="1E4DAA"/>
          </a:solidFill>
          <a:ln w="12700">
            <a:solidFill>
              <a:srgbClr val="1E4D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RAISE TARGET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67512" y="24688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$1M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67512" y="393192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Year 1 runway: team scale + first 10 customers.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2194560"/>
            <a:ext cx="269748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3280" y="2194560"/>
            <a:ext cx="73152" cy="21031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7872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HEADCOUNT GROWTH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547872" y="24688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20 → 60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47872" y="393192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Year 1 → Year 3. Cambodia-anchored.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63640" y="2194560"/>
            <a:ext cx="23774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3640" y="2194560"/>
            <a:ext cx="73152" cy="2103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22677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</a:rPr>
              <a:t>BURN PACE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28232" y="2468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47"/>
                </a:solidFill>
              </a:rPr>
              <a:t>$30–40K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428232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Per month from Jun 2026. Cambodia salary efficiency.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funds: 60% engineering + sales hires · 25% Ai-Server hardware build-out · 15% ASEAN sales travel + GTM.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74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300" kern="0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TEXLINK TECHNOLOGIES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494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DTV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APPENDIX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 · Investor Plan · June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</a:rPr>
              <a:t>Supporting material — demos, diagrams, references, and contact.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103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A1. Demo screenshots — admin dashboard + mobile agentic chat. Live demos in the portal.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606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A2. Architecture diagrams — three-layer stack + AIoT mesh.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108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A3. Pilot factory references — anonymised. Available on request under NDA.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611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A4. Founder bio — Gamini K, Director, Texlink Technologies Co., Ltd. (Cambodia).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4343400"/>
            <a:ext cx="82296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37083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7"/>
                </a:solidFill>
              </a:rPr>
              <a:t>Live portal · admin/sales/salaries/capex feeders + investor view · yai-plan-production.up.railway.app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Yai · Texlink Technologies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Yai · Ai-Native Manufacturing Intelligence Platform</dc:title>
  <dc:subject>PptxGenJS Presentation</dc:subject>
  <dc:creator>Texlink Technologies</dc:creator>
  <cp:lastModifiedBy>Texlink Technologies</cp:lastModifiedBy>
  <cp:revision>1</cp:revision>
  <dcterms:created xsi:type="dcterms:W3CDTF">2026-06-05T08:51:01Z</dcterms:created>
  <dcterms:modified xsi:type="dcterms:W3CDTF">2026-06-05T08:51:01Z</dcterms:modified>
</cp:coreProperties>
</file>