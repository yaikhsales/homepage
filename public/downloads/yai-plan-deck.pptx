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Antigravity\yai-plan\public\images\generated\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A1F47">
              <a:alpha val="50000"/>
            </a:srgbClr>
          </a:solidFill>
          <a:ln w="12700">
            <a:solidFill>
              <a:srgbClr val="0A1F47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1" descr="E:\Antigravity\yai-plan\public\images\yai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005840" cy="1005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594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</a:rPr>
              <a:t>TEXLINK TECHNOLOGIES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1828800" y="8869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37021"/>
                </a:solidFill>
              </a:rPr>
              <a:t>STRATEGIC DTV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40080" y="18288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Ai-Native</a:t>
            </a:r>
            <a:endParaRPr lang="en-US" sz="4000" dirty="0"/>
          </a:p>
        </p:txBody>
      </p:sp>
      <p:sp>
        <p:nvSpPr>
          <p:cNvPr id="9" name="Text 5"/>
          <p:cNvSpPr/>
          <p:nvPr/>
        </p:nvSpPr>
        <p:spPr>
          <a:xfrm>
            <a:off x="640080" y="23317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Manufacturing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640080" y="2834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Intelligence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640080" y="3337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37021"/>
                </a:solidFill>
              </a:rPr>
              <a:t>Platform.</a:t>
            </a:r>
            <a:endParaRPr lang="en-US" sz="4000" dirty="0"/>
          </a:p>
        </p:txBody>
      </p:sp>
      <p:sp>
        <p:nvSpPr>
          <p:cNvPr id="12" name="Shape 8"/>
          <p:cNvSpPr/>
          <p:nvPr/>
        </p:nvSpPr>
        <p:spPr>
          <a:xfrm>
            <a:off x="640080" y="406908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069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AI MIP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40080" y="4434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</a:rPr>
              <a:t>Factory-tested for 5 years inside live production — opening its gates June 2026.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0080" y="47320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0" kern="0" dirty="0">
                <a:solidFill>
                  <a:srgbClr val="FFFFFF"/>
                </a:solidFill>
              </a:rPr>
              <a:t>YAI · STRATEGIC DTV · JUNE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EXECUTIVE SUMMARY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F2937"/>
                </a:solidFill>
              </a:rPr>
              <a:t>Yai is Ai MIP — Agentic Manufacturing Intelligence. A three-layer platform that modernises production from whole-paper-based to executive Ai.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33172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331720"/>
            <a:ext cx="73152" cy="10972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40487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AI AGENTS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67512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10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67512" y="29718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Stand ready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834640" y="233172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34640" y="2331720"/>
            <a:ext cx="73152" cy="109728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999232" y="240487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ENGINEERS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999232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2999232" y="29718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From Cambodia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352044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520440"/>
            <a:ext cx="73152" cy="1097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5935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DEVELOPMENT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7512" y="37947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36 mo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67512" y="41605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Factory-tested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834640" y="352044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34640" y="3520440"/>
            <a:ext cx="73152" cy="10972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99232" y="35935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INDUSTRY XP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2999232" y="37947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40 yrs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2999232" y="41605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Tech + management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THE PROBLEM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Sandwich.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probl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Cambodia's garment industry is squeezed between Chinese ownership / management practices and Western buyer audits — paper, Excel and 4 chat apps in the middle.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42316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423160"/>
            <a:ext cx="73152" cy="109728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4963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FLOOR CHAOS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67512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Paper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67512" y="3063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Tally sheets, defect tags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834640" y="242316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34640" y="2423160"/>
            <a:ext cx="73152" cy="10972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999232" y="24963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LEGACY ATTEMPTS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999232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$2M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2999232" y="3063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~20 systems · none integrated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361188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611880"/>
            <a:ext cx="73152" cy="1097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6850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COMPLIANCE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7512" y="3886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Mandate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67512" y="42519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Ministry of Environment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834640" y="3611880"/>
            <a:ext cx="22860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34640" y="3611880"/>
            <a:ext cx="73152" cy="10972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99232" y="36850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TIME COST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2999232" y="3886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24 hr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2999232" y="42519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Audit-panic binder runs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THE SOLUTION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Saves Jobs.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s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One Ai-native platform consolidates legacy systems. Workers keep their jobs — the work gets smarter.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2011680"/>
            <a:ext cx="4572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— barcodes, QR, AIoT sensors, mobile apps. Single source of truth.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layer — Claude / GPT / Gemini agents speak Khmer + run workflows for workers.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Full-Ai layer — solar-powered Ai Server enables own-LLM inference + 5G bonding.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Worker-respecting — every screen + voice assistant in Khmer. No HR detour.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Compliance-ready — EMR, worker, tax, labour data filed digitally on time.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PRODUCT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Paper to Full Ai — Three Yai Layers.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26974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" name="Image 0" descr="E:\Antigravity\yai-plan\public\images\generated\layer-digitaliz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2606040" cy="1371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2920" y="2880360"/>
            <a:ext cx="2697480" cy="384048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2648" y="2898648"/>
            <a:ext cx="2478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LAYER 1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612648" y="3044952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Digitalisation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33832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Centralised data — Excel + paper records flow into ONE database. Barcode + QR, AIoT, mobile apps. One source of truth.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291840" y="1417320"/>
            <a:ext cx="26974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E:\Antigravity\yai-plan\public\images\generated\layer-agen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463040"/>
            <a:ext cx="2606040" cy="1371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291840" y="2880360"/>
            <a:ext cx="269748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401568" y="2898648"/>
            <a:ext cx="2478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LAYER 2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3401568" y="3044952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Agentic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429000" y="33832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LLM-powered agents. Voice-to-workflow, text interpretation, logistics optimisation, real-time Ai guidance.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080760" y="1417320"/>
            <a:ext cx="26974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2" name="Image 2" descr="E:\Antigravity\yai-plan\public\images\generated\layer-full-ai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463040"/>
            <a:ext cx="2606040" cy="13716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80760" y="2880360"/>
            <a:ext cx="269748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90488" y="2898648"/>
            <a:ext cx="2478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LAYER 3</a:t>
            </a:r>
            <a:endParaRPr lang="en-US" sz="700" dirty="0"/>
          </a:p>
        </p:txBody>
      </p:sp>
      <p:sp>
        <p:nvSpPr>
          <p:cNvPr id="25" name="Text 20"/>
          <p:cNvSpPr/>
          <p:nvPr/>
        </p:nvSpPr>
        <p:spPr>
          <a:xfrm>
            <a:off x="6190488" y="3044952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Full Ai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6217920" y="33832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Strategic management. Predictive growth, multi-factory orchestration, business expansion, global growth.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AGENTS &amp; SKILLS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&amp; Their Skills.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280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F2937"/>
                </a:solidFill>
              </a:rPr>
              <a:t>18 modules — each colour-coded by group, each with its own Ai agents + native tasks.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691640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783080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Admin Core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" y="2057400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PR · Shop · Approvals · APP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871472" y="1691640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71472" y="1691640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90344" y="1783080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HR · Pay · Org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90344" y="2057400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LMS · Ai CCTV · attendance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240024" y="1691640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0024" y="1691640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58896" y="1783080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Digital Audit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58896" y="2057400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8S · AIoT · waste tracking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608576" y="1691640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08576" y="1691640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27448" y="1783080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Gate Pass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27448" y="2057400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CTPAT · visitor log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977128" y="1691640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77128" y="1691640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98208" y="1746504"/>
            <a:ext cx="219456" cy="219456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98208" y="17465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96000" y="1783080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Car Booking ★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96000" y="2057400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Agentic · auto-allocate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345680" y="1691640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45680" y="1691640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64552" y="1783080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Accounting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64552" y="2057400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Full + GDT filing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2920" y="2633472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2633472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" y="2724912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Speak Up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1792" y="2999232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Worker voice · anon channel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871472" y="2633472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871472" y="2633472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90344" y="2724912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Corp Financials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990344" y="2999232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+ IEWS · owner view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240024" y="2633472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40024" y="2633472"/>
            <a:ext cx="54864" cy="86868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8896" y="2724912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AA"/>
                </a:solidFill>
              </a:rPr>
              <a:t>Cambodia E-Gov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358896" y="2999232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+ E-Invoice · ministry filings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608576" y="2633472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08576" y="2633472"/>
            <a:ext cx="54864" cy="868680"/>
          </a:xfrm>
          <a:prstGeom prst="rect">
            <a:avLst/>
          </a:prstGeom>
          <a:solidFill>
            <a:srgbClr val="0A1F47"/>
          </a:solidFill>
          <a:ln w="12700">
            <a:solidFill>
              <a:srgbClr val="0A1F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27448" y="2724912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7"/>
                </a:solidFill>
              </a:rPr>
              <a:t>Platform Core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727448" y="2999232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Laravel · Mongo · Mobile · AIoT · Ai Server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977128" y="2633472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77128" y="2633472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96000" y="2724912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YTM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096000" y="2999232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Machine maintenance · TPM shop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345680" y="2633472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45680" y="2633472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464552" y="2724912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YQMS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464552" y="2999232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QC 6 stages · Fini check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3575304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02920" y="3575304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1792" y="3666744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YPI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21792" y="3941064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Tech specs · 3-language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871472" y="3575304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871472" y="3575304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892552" y="3630168"/>
            <a:ext cx="219456" cy="219456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892552" y="3630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★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1990344" y="3666744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YPM / CE ★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990344" y="3941064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Motion · SMV · Agentic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40024" y="3575304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240024" y="3575304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58896" y="3666744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Product Dev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3358896" y="3941064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Sample room · pattern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4608576" y="3575304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08576" y="3575304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727448" y="3666744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4DP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727448" y="3941064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Planning brain · 4 dirs × 4 levels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5977128" y="3575304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977128" y="3575304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096000" y="3666744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MRP + Logistics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6096000" y="3941064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Inbound + outbound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7345680" y="3575304"/>
            <a:ext cx="1295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345680" y="3575304"/>
            <a:ext cx="54864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464552" y="3666744"/>
            <a:ext cx="92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YWIP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464552" y="3941064"/>
            <a:ext cx="1112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</a:rPr>
              <a:t>13-dept production flow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502920" y="4535424"/>
            <a:ext cx="164592" cy="128016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04088" y="44988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A1F47"/>
                </a:solidFill>
              </a:rPr>
              <a:t>ADMINISTRATION · 9 modules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2697480" y="4535424"/>
            <a:ext cx="164592" cy="128016"/>
          </a:xfrm>
          <a:prstGeom prst="rect">
            <a:avLst/>
          </a:prstGeom>
          <a:solidFill>
            <a:srgbClr val="0A1F47"/>
          </a:solidFill>
          <a:ln w="12700">
            <a:solidFill>
              <a:srgbClr val="0A1F4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898648" y="44988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A1F47"/>
                </a:solidFill>
              </a:rPr>
              <a:t>PLATFORM · 1 module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892040" y="4535424"/>
            <a:ext cx="164592" cy="12801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093208" y="44988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A1F47"/>
                </a:solidFill>
              </a:rPr>
              <a:t>OPERATIONS · 8 modules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7086600" y="4535424"/>
            <a:ext cx="164592" cy="12801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287768" y="44988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A1F47"/>
                </a:solidFill>
              </a:rPr>
              <a:t>★ AGENTIC LIVE · Car Booking + YPM/CE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PRICING &amp; PACKAGING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Packaging.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</a:rPr>
              <a:t>Six-step staircase — land at $120 / yr, expand step by step to $5K Big Ai Brain.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1371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783080"/>
            <a:ext cx="137160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19842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 Starter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2860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$120 / yr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880360"/>
            <a:ext cx="1188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key members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38528" y="2011680"/>
            <a:ext cx="1371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38528" y="2011680"/>
            <a:ext cx="137160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29968" y="20574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029968" y="22128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 Growth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029968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$750 / yr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188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→ 300 users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74136" y="1783080"/>
            <a:ext cx="1371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74136" y="1783080"/>
            <a:ext cx="137160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5576" y="18288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3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465576" y="19842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 Enterprise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65576" y="22860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$1,200 / yr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65576" y="2880360"/>
            <a:ext cx="1188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300 → 1,000 users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09744" y="2011680"/>
            <a:ext cx="1371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9744" y="2011680"/>
            <a:ext cx="137160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01184" y="20574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901184" y="22128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Ai Server + Tools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01184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$2.5K + $3.5K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01184" y="3108960"/>
            <a:ext cx="1188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1,000+ users · Admin + Ops Tools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45352" y="1783080"/>
            <a:ext cx="1371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5352" y="1783080"/>
            <a:ext cx="1371600" cy="3840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36792" y="18288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5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336792" y="19842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Agentic Add-on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36792" y="22860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$5,000 / yr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36792" y="2880360"/>
            <a:ext cx="1188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agents + 35 mini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80960" y="2011680"/>
            <a:ext cx="1371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2011680"/>
            <a:ext cx="1371600" cy="384048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0" y="20574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6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72400" y="22128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Big Ai Brain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7724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$5,000 / yr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72400" y="3108960"/>
            <a:ext cx="1188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Boss · 5 factories · 1 chat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TARGET CUSTOMERS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Customers.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boss-meets-y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HK / Cambodian factory owners running 1–5 garment sites — already burned $2M+ on legacy ERPs.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240280"/>
            <a:ext cx="73152" cy="100584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3134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ANCHOR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67512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Cambodia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67512" y="2788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300+ factories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834640" y="224028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34640" y="2240280"/>
            <a:ext cx="73152" cy="100584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999232" y="23134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PROFILE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999232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1–5 sites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2999232" y="2788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$2M+ legacy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333756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337560"/>
            <a:ext cx="73152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410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WORKERS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751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100K+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67512" y="3886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Garment workers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834640" y="333756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34640" y="3337560"/>
            <a:ext cx="73152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99232" y="3410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MARKETS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299923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ASEAN 3×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2999232" y="3886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Vietnam · BD · ID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TECHNOLOGY STACK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— Laravel + MongoDB (Ai-native shape). Write-heavy factory telemetry.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— native Android + iOS, built for low-end devices on the floor.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AIoT — MQTT + TUYA · SMART Gate · SMART Camera · 5G bonding for rural sites.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— LLM APIs (Claude · GPT · Gemini); agentic chat in mobile app.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— solar-powered mini-PC Ai Server (Step 4) for own-LLM inference.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— 5G internal WiFi mesh for workers on the floor.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TEAM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— 5 Clusters · 20 Engineers.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2194560" cy="45720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Texlink Admin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97480" y="1417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3 engineers</a:t>
            </a:r>
            <a:endParaRPr lang="en-US" sz="900" dirty="0"/>
          </a:p>
        </p:txBody>
      </p:sp>
      <p:pic>
        <p:nvPicPr>
          <p:cNvPr id="12" name="Image 0" descr="E:\Antigravity\yai-plan\public\images\team\portraits\da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03320" y="1371600"/>
            <a:ext cx="502920" cy="502920"/>
          </a:xfrm>
          <a:prstGeom prst="ellipse">
            <a:avLst/>
          </a:prstGeom>
        </p:spPr>
      </p:pic>
      <p:pic>
        <p:nvPicPr>
          <p:cNvPr id="13" name="Image 1" descr="E:\Antigravity\yai-plan\public\images\team\portraits\phann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371600"/>
            <a:ext cx="502920" cy="502920"/>
          </a:xfrm>
          <a:prstGeom prst="ellipse">
            <a:avLst/>
          </a:prstGeom>
        </p:spPr>
      </p:pic>
      <p:pic>
        <p:nvPicPr>
          <p:cNvPr id="14" name="Image 2" descr="E:\Antigravity\yai-plan\public\images\team\portraits\khu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92040" y="1371600"/>
            <a:ext cx="502920" cy="502920"/>
          </a:xfrm>
          <a:prstGeom prst="ellipse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2103120"/>
            <a:ext cx="219456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9436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2697480" y="2103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4 engineers</a:t>
            </a:r>
            <a:endParaRPr lang="en-US" sz="900" dirty="0"/>
          </a:p>
        </p:txBody>
      </p:sp>
      <p:pic>
        <p:nvPicPr>
          <p:cNvPr id="18" name="Image 3" descr="E:\Antigravity\yai-plan\public\images\team\portraits\rich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703320" y="2057400"/>
            <a:ext cx="502920" cy="502920"/>
          </a:xfrm>
          <a:prstGeom prst="ellipse">
            <a:avLst/>
          </a:prstGeom>
        </p:spPr>
      </p:pic>
      <p:pic>
        <p:nvPicPr>
          <p:cNvPr id="19" name="Image 4" descr="E:\Antigravity\yai-plan\public\images\team\portraits\thid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97680" y="2057400"/>
            <a:ext cx="502920" cy="502920"/>
          </a:xfrm>
          <a:prstGeom prst="ellipse">
            <a:avLst/>
          </a:prstGeom>
        </p:spPr>
      </p:pic>
      <p:pic>
        <p:nvPicPr>
          <p:cNvPr id="20" name="Image 5" descr="E:\Antigravity\yai-plan\public\images\team\portraits\michael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892040" y="2057400"/>
            <a:ext cx="502920" cy="502920"/>
          </a:xfrm>
          <a:prstGeom prst="ellipse">
            <a:avLst/>
          </a:prstGeom>
        </p:spPr>
      </p:pic>
      <p:pic>
        <p:nvPicPr>
          <p:cNvPr id="21" name="Image 6" descr="E:\Antigravity\yai-plan\public\images\team\portraits\sam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486400" y="2057400"/>
            <a:ext cx="502920" cy="502920"/>
          </a:xfrm>
          <a:prstGeom prst="ellipse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502920" y="2788920"/>
            <a:ext cx="2194560" cy="457200"/>
          </a:xfrm>
          <a:prstGeom prst="rect">
            <a:avLst/>
          </a:prstGeom>
          <a:solidFill>
            <a:srgbClr val="0A3327"/>
          </a:solidFill>
          <a:ln w="12700">
            <a:solidFill>
              <a:srgbClr val="0A3327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59436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Neural Net + Finance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2697480" y="2788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4 engineers</a:t>
            </a:r>
            <a:endParaRPr lang="en-US" sz="900" dirty="0"/>
          </a:p>
        </p:txBody>
      </p:sp>
      <p:pic>
        <p:nvPicPr>
          <p:cNvPr id="25" name="Image 7" descr="E:\Antigravity\yai-plan\public\images\team\portraits\virot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703320" y="2743200"/>
            <a:ext cx="502920" cy="502920"/>
          </a:xfrm>
          <a:prstGeom prst="ellipse">
            <a:avLst/>
          </a:prstGeom>
        </p:spPr>
      </p:pic>
      <p:pic>
        <p:nvPicPr>
          <p:cNvPr id="26" name="Image 8" descr="E:\Antigravity\yai-plan\public\images\team\portraits\menghorng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297680" y="2743200"/>
            <a:ext cx="502920" cy="502920"/>
          </a:xfrm>
          <a:prstGeom prst="ellipse">
            <a:avLst/>
          </a:prstGeom>
        </p:spPr>
      </p:pic>
      <p:pic>
        <p:nvPicPr>
          <p:cNvPr id="27" name="Image 9" descr="E:\Antigravity\yai-plan\public\images\team\portraits\seangleng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892040" y="2743200"/>
            <a:ext cx="502920" cy="502920"/>
          </a:xfrm>
          <a:prstGeom prst="ellipse">
            <a:avLst/>
          </a:prstGeom>
        </p:spPr>
      </p:pic>
      <p:pic>
        <p:nvPicPr>
          <p:cNvPr id="28" name="Image 10" descr="E:\Antigravity\yai-plan\public\images\team\portraits\noch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486400" y="2743200"/>
            <a:ext cx="502920" cy="502920"/>
          </a:xfrm>
          <a:prstGeom prst="ellipse">
            <a:avLst/>
          </a:prstGeom>
        </p:spPr>
      </p:pic>
      <p:sp>
        <p:nvSpPr>
          <p:cNvPr id="29" name="Shape 16"/>
          <p:cNvSpPr/>
          <p:nvPr/>
        </p:nvSpPr>
        <p:spPr>
          <a:xfrm>
            <a:off x="502920" y="3474720"/>
            <a:ext cx="2194560" cy="4572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17"/>
          <p:cNvSpPr/>
          <p:nvPr/>
        </p:nvSpPr>
        <p:spPr>
          <a:xfrm>
            <a:off x="594360" y="3474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Mobile Apps</a:t>
            </a:r>
            <a:endParaRPr lang="en-US" sz="1100" dirty="0"/>
          </a:p>
        </p:txBody>
      </p:sp>
      <p:sp>
        <p:nvSpPr>
          <p:cNvPr id="31" name="Text 18"/>
          <p:cNvSpPr/>
          <p:nvPr/>
        </p:nvSpPr>
        <p:spPr>
          <a:xfrm>
            <a:off x="2697480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3 engineers</a:t>
            </a:r>
            <a:endParaRPr lang="en-US" sz="900" dirty="0"/>
          </a:p>
        </p:txBody>
      </p:sp>
      <p:pic>
        <p:nvPicPr>
          <p:cNvPr id="32" name="Image 11" descr="E:\Antigravity\yai-plan\public\images\team\portraits\samnang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3703320" y="3429000"/>
            <a:ext cx="502920" cy="502920"/>
          </a:xfrm>
          <a:prstGeom prst="ellipse">
            <a:avLst/>
          </a:prstGeom>
        </p:spPr>
      </p:pic>
      <p:pic>
        <p:nvPicPr>
          <p:cNvPr id="33" name="Image 12" descr="E:\Antigravity\yai-plan\public\images\team\portraits\chhay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297680" y="3429000"/>
            <a:ext cx="502920" cy="502920"/>
          </a:xfrm>
          <a:prstGeom prst="ellipse">
            <a:avLst/>
          </a:prstGeom>
        </p:spPr>
      </p:pic>
      <p:pic>
        <p:nvPicPr>
          <p:cNvPr id="34" name="Image 13" descr="E:\Antigravity\yai-plan\public\images\team\portraits\chetra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4892040" y="3429000"/>
            <a:ext cx="502920" cy="502920"/>
          </a:xfrm>
          <a:prstGeom prst="ellipse">
            <a:avLst/>
          </a:prstGeom>
        </p:spPr>
      </p:pic>
      <p:sp>
        <p:nvSpPr>
          <p:cNvPr id="35" name="Shape 19"/>
          <p:cNvSpPr/>
          <p:nvPr/>
        </p:nvSpPr>
        <p:spPr>
          <a:xfrm>
            <a:off x="502920" y="4160520"/>
            <a:ext cx="2194560" cy="4572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6" name="Text 20"/>
          <p:cNvSpPr/>
          <p:nvPr/>
        </p:nvSpPr>
        <p:spPr>
          <a:xfrm>
            <a:off x="59436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Operations Systems</a:t>
            </a:r>
            <a:endParaRPr lang="en-US" sz="1100" dirty="0"/>
          </a:p>
        </p:txBody>
      </p:sp>
      <p:sp>
        <p:nvSpPr>
          <p:cNvPr id="37" name="Text 21"/>
          <p:cNvSpPr/>
          <p:nvPr/>
        </p:nvSpPr>
        <p:spPr>
          <a:xfrm>
            <a:off x="2697480" y="4160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5 engineers</a:t>
            </a:r>
            <a:endParaRPr lang="en-US" sz="900" dirty="0"/>
          </a:p>
        </p:txBody>
      </p:sp>
      <p:pic>
        <p:nvPicPr>
          <p:cNvPr id="38" name="Image 14" descr="E:\Antigravity\yai-plan\public\images\team\portraits\dilan.pn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3703320" y="4114800"/>
            <a:ext cx="502920" cy="502920"/>
          </a:xfrm>
          <a:prstGeom prst="ellipse">
            <a:avLst/>
          </a:prstGeom>
        </p:spPr>
      </p:pic>
      <p:pic>
        <p:nvPicPr>
          <p:cNvPr id="39" name="Image 15" descr="E:\Antigravity\yai-plan\public\images\team\portraits\yasomi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4297680" y="4114800"/>
            <a:ext cx="502920" cy="502920"/>
          </a:xfrm>
          <a:prstGeom prst="ellipse">
            <a:avLst/>
          </a:prstGeom>
        </p:spPr>
      </p:pic>
      <p:pic>
        <p:nvPicPr>
          <p:cNvPr id="40" name="Image 16" descr="E:\Antigravity\yai-plan\public\images\team\portraits\alen.p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4892040" y="4114800"/>
            <a:ext cx="502920" cy="502920"/>
          </a:xfrm>
          <a:prstGeom prst="ellipse">
            <a:avLst/>
          </a:prstGeom>
        </p:spPr>
      </p:pic>
      <p:pic>
        <p:nvPicPr>
          <p:cNvPr id="41" name="Image 17" descr="E:\Antigravity\yai-plan\public\images\team\portraits\heang.pn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486400" y="4114800"/>
            <a:ext cx="502920" cy="502920"/>
          </a:xfrm>
          <a:prstGeom prst="ellipse">
            <a:avLst/>
          </a:prstGeom>
        </p:spPr>
      </p:pic>
      <p:pic>
        <p:nvPicPr>
          <p:cNvPr id="42" name="Image 18" descr="E:\Antigravity\yai-plan\public\images\team\portraits\sokhim.pn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080760" y="4114800"/>
            <a:ext cx="502920" cy="502920"/>
          </a:xfrm>
          <a:prstGeom prst="ellipse">
            <a:avLst/>
          </a:prstGeom>
        </p:spPr>
      </p:pic>
      <p:sp>
        <p:nvSpPr>
          <p:cNvPr id="43" name="Text 22"/>
          <p:cNvSpPr/>
          <p:nvPr/>
        </p:nvSpPr>
        <p:spPr>
          <a:xfrm>
            <a:off x="502920" y="46634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Cambodia-anchored · 20 engineers + Sophy + Bonus pool · ASEAN expansion Year 2.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CAPITAL EFFICIENCY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Capital Efficiency Story.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capi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2461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$205K of Cambodia engineering built what Singapore prices at $5M and the US at $10M+.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24028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31343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CAMBODIA  🇰🇭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67512" y="2514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$205K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67512" y="25603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Through Q2 2026 — actual build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02920" y="310896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3108960"/>
            <a:ext cx="73152" cy="77724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" y="318211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SINGAPORE · 3×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67512" y="33832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$5M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67512" y="342900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Equivalent at SEA-tier rates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397764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977640"/>
            <a:ext cx="73152" cy="77724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40507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UNITED STATES · 8×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7512" y="4251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$10M+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67512" y="42976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Equivalent at US engineering rates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GO-TO-MARKET MILESTONES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Milestones.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gt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508760"/>
            <a:ext cx="45720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1673352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1673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43000" y="161848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AA"/>
                </a:solidFill>
              </a:rPr>
              <a:t>Q1 · FOUNDATION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43000" y="183794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3–5 paid contracts · Anthropic CPN review cleared.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2295144"/>
            <a:ext cx="45720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459736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43000" y="24048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AA"/>
                </a:solidFill>
              </a:rPr>
              <a:t>Q2 · VALIDATION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43000" y="2624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10+ customers · Ministry pilot signed.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02920" y="3081528"/>
            <a:ext cx="45720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143000" y="319125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AA"/>
                </a:solidFill>
              </a:rPr>
              <a:t>Q3 · EXPANSION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43000" y="3410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20+ customers · regional ASEAN pilot.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02920" y="3867912"/>
            <a:ext cx="45720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" y="4032504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143000" y="39776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AA"/>
                </a:solidFill>
              </a:rPr>
              <a:t>Q4 · SCALE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143000" y="419709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30+ customers · CCAF cert · Stage 3 scoped.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TRACTION &amp; PILOTS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Pilots.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workers-s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5 years inside live garment-factory production. Real workers. Real shifts. Real defects.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240280"/>
            <a:ext cx="73152" cy="100584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3134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PILOT SITES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67512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67512" y="2788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Anonymised live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834640" y="224028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34640" y="2240280"/>
            <a:ext cx="73152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999232" y="23134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YEARS RUNNING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999232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5 yrs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2999232" y="2788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Continuous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333756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337560"/>
            <a:ext cx="73152" cy="100584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410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AGENTIC ★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751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67512" y="3886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Car Booking · YPM/CE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834640" y="3337560"/>
            <a:ext cx="22860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34640" y="3337560"/>
            <a:ext cx="73152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99232" y="3410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MODULE FAMILIES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299923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18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2999232" y="3886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All exercised on floor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OC &amp; LIVE BUDGET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&amp; Live Budget Update.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</a:rPr>
              <a:t>Live P&amp;L roll-up · sourced from admin (Sales · Salaries · Capex).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691640"/>
            <a:ext cx="91440" cy="1508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182880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</a:rPr>
              <a:t>01 · INCOME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4088" y="21031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F47"/>
                </a:solidFill>
              </a:rPr>
              <a:t>11 streams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04088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8 SaaS + 3 e-com · Jun 2026 start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69164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691640"/>
            <a:ext cx="91440" cy="150876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182880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4DAA"/>
                </a:solidFill>
              </a:rPr>
              <a:t>02 · EXPENSES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64608" y="21031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F47"/>
                </a:solidFill>
              </a:rPr>
              <a:t>20 active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864608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Engineers · salary base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33756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337560"/>
            <a:ext cx="91440" cy="1508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347472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37021"/>
                </a:solidFill>
              </a:rPr>
              <a:t>03 · CAPEX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088" y="37490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F47"/>
                </a:solidFill>
              </a:rPr>
              <a:t>7 cats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04088" y="44348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Computers · Villa · Ai Fees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33756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337560"/>
            <a:ext cx="91440" cy="1508760"/>
          </a:xfrm>
          <a:prstGeom prst="rect">
            <a:avLst/>
          </a:prstGeom>
          <a:solidFill>
            <a:srgbClr val="0A1F47"/>
          </a:solidFill>
          <a:ln w="12700">
            <a:solidFill>
              <a:srgbClr val="0A1F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347472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A1F47"/>
                </a:solidFill>
              </a:rPr>
              <a:t>04 · NET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64608" y="37490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F47"/>
                </a:solidFill>
              </a:rPr>
              <a:t>Live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864608" y="44348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Income − (Salaries + Capex)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COMPETITIVE LANDSCAPE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417320"/>
            <a:ext cx="2697480" cy="384048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49961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</a:rPr>
              <a:t>INCUMBENT ERPs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202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7"/>
                </a:solidFill>
              </a:rPr>
              <a:t>SAP · Oracle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67512" y="2560320"/>
            <a:ext cx="23682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English-only · $millions · 18+ months deploy · no factory floor.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141732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1417320"/>
            <a:ext cx="269748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149961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</a:rPr>
              <a:t>DEFAULT TOOL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19202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7"/>
                </a:solidFill>
              </a:rPr>
              <a:t>Excel + Chat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456432" y="2560320"/>
            <a:ext cx="23682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Zero cost, zero integration. The chaos Yai replaces.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141732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1417320"/>
            <a:ext cx="269748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49961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</a:rPr>
              <a:t>YAI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7920" y="19202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7"/>
                </a:solidFill>
              </a:rPr>
              <a:t>Ai-Native MIP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45352" y="2560320"/>
            <a:ext cx="23682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Khmer-first · factory-native · Ai from day one · solar-powered Ai Server.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RISKS &amp; MITIGATIONS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41732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630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Adoption / change resistance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34840" y="1463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Government compliance mandate + buyer audits — paper isn't optional.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05740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05740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1031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Technical complexity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5 years of live pilot validation. Architecture proven before commercial open.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69748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269748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Capital intensity Year 1–2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27432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$205K capital efficiency proves scale on modest funding. &lt;$1M raise needed.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33756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33756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383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Geographic concentration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34840" y="33832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Cambodia is anchor not ceiling. ASEAN Year 2; global Year 4–5.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397764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397764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023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LLM cost / dependency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34840" y="40233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Step 4 own-Ai-Server (solar-powered) cuts inference cost + data sovereignty.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RESOURCE REQUIREMENTS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Requirements.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pic>
        <p:nvPicPr>
          <p:cNvPr id="9" name="Image 0" descr="E:\Antigravity\yai-plan\public\images\generated\mark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1325880"/>
            <a:ext cx="370332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325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Modest funding ask — Year 1–2 path to commercial open + 30+ paying customers.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240280"/>
            <a:ext cx="73152" cy="77724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31343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RAISE TARGET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67512" y="2514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$1M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67512" y="25603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Year 1 runway · team scale + first 10 customers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02920" y="310896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3108960"/>
            <a:ext cx="73152" cy="77724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" y="318211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HEADCOUNT GROWTH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67512" y="33832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20 → 60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67512" y="342900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Year 1 → 3 · Cambodia-anchored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397764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97764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40507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BURN PACE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7512" y="4251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$30–40K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67512" y="42976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Per month from Jun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28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0" y="4114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APPENDIX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02920" y="477774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234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Strategic DTV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</a:rPr>
              <a:t>Supporting material — demos, diagrams, references, and contact.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78308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A1. Demo screenshots — admin dashboard + mobile agentic chat (live demos in the portal).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A2. Architecture diagrams — three-layer stack + AIoT mesh.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A3. Pilot factory references — anonymised, available on request under NDA.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A4. Founder bio — Gamini K, Director, Texlink Technologies Co., Ltd. (Cambodia).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82296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315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Live portal · yai-plan-production.up.railway.app · admin feeders + investor view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Yai · Texlink Technologies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Yai · Ai-Native Manufacturing Intelligence Platform</dc:title>
  <dc:subject>PptxGenJS Presentation</dc:subject>
  <dc:creator>Texlink Technologies</dc:creator>
  <cp:lastModifiedBy>Texlink Technologies</cp:lastModifiedBy>
  <cp:revision>1</cp:revision>
  <dcterms:created xsi:type="dcterms:W3CDTF">2026-06-05T10:02:56Z</dcterms:created>
  <dcterms:modified xsi:type="dcterms:W3CDTF">2026-06-05T10:02:56Z</dcterms:modified>
</cp:coreProperties>
</file>